
<file path=[Content_Types].xml><?xml version="1.0" encoding="utf-8"?>
<Types xmlns="http://schemas.openxmlformats.org/package/2006/content-types">
  <Default Extension="png" ContentType="image/png"/>
  <Default Extension="tmp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3"/>
  </p:notesMasterIdLst>
  <p:sldIdLst>
    <p:sldId id="358" r:id="rId2"/>
    <p:sldId id="416" r:id="rId3"/>
    <p:sldId id="417" r:id="rId4"/>
    <p:sldId id="385" r:id="rId5"/>
    <p:sldId id="387" r:id="rId6"/>
    <p:sldId id="377" r:id="rId7"/>
    <p:sldId id="378" r:id="rId8"/>
    <p:sldId id="375" r:id="rId9"/>
    <p:sldId id="374" r:id="rId10"/>
    <p:sldId id="380" r:id="rId11"/>
    <p:sldId id="379" r:id="rId12"/>
    <p:sldId id="381" r:id="rId13"/>
    <p:sldId id="384" r:id="rId14"/>
    <p:sldId id="382" r:id="rId15"/>
    <p:sldId id="383" r:id="rId16"/>
    <p:sldId id="390" r:id="rId17"/>
    <p:sldId id="389" r:id="rId18"/>
    <p:sldId id="388" r:id="rId19"/>
    <p:sldId id="418" r:id="rId20"/>
    <p:sldId id="419" r:id="rId21"/>
    <p:sldId id="3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5721E-3295-4BE3-919C-FEAEC0C4D21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66F0D-EEB9-487A-9F1A-3B864C392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05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D66F0D-EEB9-487A-9F1A-3B864C3929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89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39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4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15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6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5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8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89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4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80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1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78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8529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jpe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jpeg"/><Relationship Id="rId12" Type="http://schemas.openxmlformats.org/officeDocument/2006/relationships/image" Target="../media/image33.png"/><Relationship Id="rId17" Type="http://schemas.openxmlformats.org/officeDocument/2006/relationships/image" Target="../media/image38.jpg"/><Relationship Id="rId25" Type="http://schemas.openxmlformats.org/officeDocument/2006/relationships/image" Target="../media/image46.png"/><Relationship Id="rId2" Type="http://schemas.openxmlformats.org/officeDocument/2006/relationships/image" Target="../media/image23.jpe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jpeg"/><Relationship Id="rId11" Type="http://schemas.openxmlformats.org/officeDocument/2006/relationships/image" Target="../media/image32.png"/><Relationship Id="rId24" Type="http://schemas.openxmlformats.org/officeDocument/2006/relationships/image" Target="../media/image45.jpeg"/><Relationship Id="rId5" Type="http://schemas.openxmlformats.org/officeDocument/2006/relationships/image" Target="../media/image26.jpg"/><Relationship Id="rId15" Type="http://schemas.openxmlformats.org/officeDocument/2006/relationships/image" Target="../media/image36.jp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jpg"/><Relationship Id="rId9" Type="http://schemas.openxmlformats.org/officeDocument/2006/relationships/image" Target="../media/image30.jpeg"/><Relationship Id="rId14" Type="http://schemas.openxmlformats.org/officeDocument/2006/relationships/image" Target="../media/image35.jpg"/><Relationship Id="rId22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jpeg"/><Relationship Id="rId3" Type="http://schemas.openxmlformats.org/officeDocument/2006/relationships/image" Target="../media/image49.png"/><Relationship Id="rId7" Type="http://schemas.openxmlformats.org/officeDocument/2006/relationships/image" Target="../media/image53.jpg"/><Relationship Id="rId12" Type="http://schemas.openxmlformats.org/officeDocument/2006/relationships/image" Target="../media/image58.png"/><Relationship Id="rId17" Type="http://schemas.openxmlformats.org/officeDocument/2006/relationships/image" Target="../media/image63.jpeg"/><Relationship Id="rId2" Type="http://schemas.openxmlformats.org/officeDocument/2006/relationships/image" Target="../media/image48.jpeg"/><Relationship Id="rId16" Type="http://schemas.openxmlformats.org/officeDocument/2006/relationships/image" Target="../media/image62.jf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jpe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jfif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jpeg"/><Relationship Id="rId1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smtClean="0">
                <a:solidFill>
                  <a:srgbClr val="FFFFFF"/>
                </a:solidFill>
                <a:latin typeface="+mn-lt"/>
              </a:rPr>
              <a:t>Accountant System </a:t>
            </a:r>
            <a:r>
              <a:rPr lang="en-US" sz="4800" dirty="0">
                <a:solidFill>
                  <a:srgbClr val="FFFFFF"/>
                </a:solidFill>
                <a:latin typeface="+mn-lt"/>
              </a:rPr>
              <a:t>Walkthrough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/>
              <a:t>4S</a:t>
            </a:r>
            <a:r>
              <a:rPr lang="en-US" dirty="0"/>
              <a:t> </a:t>
            </a:r>
            <a:r>
              <a:rPr lang="ar-EG" dirty="0" smtClean="0"/>
              <a:t>للحسابات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450114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r"/>
            <a:r>
              <a:rPr lang="ar-EG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خصائص برنامج الحسابات العامة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74460" y="1697938"/>
            <a:ext cx="9444250" cy="4571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العمل بنظام اليومية العادية او اليومية الامريكية مع امكانية تغير هذا النظام فى اى وقت.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امكانية ادخال شركات متعددة والعمل بنظام الشركات القابضة.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ادخال مواصفات اكواد الحسابات من حيث التقسيم والمستويات وعدد ارقام الكود داخل كل مستوى.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ادخال مواصفات اكواد مراكز التكلفة  من حيث التقسيم والمستويات وعدد ارقام الكود داخل كل مستوى.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ادخال كود الحساب الخاص بترحيل ارباح السنة السابقة.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اختيار طريقة ترقيم القيود المحاسبية ساوء ( شهرية – سنوية ).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تعريف شجرة الحسابات العامة او الدليل المحاسبى و تحديد طبيعة كل حساب ورصيده الافتتاحى وكود العملة الخاص به ومعدل التحويل له وقت افتتاح الحساب.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اختيار وتحديد لكل حساب فى الشجرة مكان الترحيل النهائى والتأثير فى الحساب الختامى سواء ( ميزانية – حساب متاجرة – حساب تشغيل – قائمة الدخل – او يؤثر فى اكثر من حساب ختامى ) 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امكانية ادراج شجرة محاسبية جاهزة ( صناعى – تجارى – خدمى ).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تعريف شجرة مراكز التكلفة والرصيد الافتتاحى لكل مركز تكلفة وكود العملة الخاص به ومعدل التحويل له وقت افتتاح مركز التكلفة.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يمكن ادخال الارصدة الافتتاحية عن طريق القيد الافتتاحى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تعريف العملات التى يتم التعامل بها وادخال معدل التحويل بالتواريخ.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تعريف الارقام التحليلية المستخدمة فى القيود.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تعريف انواع اليوميات المختلفة.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ربط مراكز التكلفة على الحسابات.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97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450114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pPr algn="r"/>
            <a:r>
              <a:rPr lang="ar-EG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خصائص برنامج الحسابات العامة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0541" y="1571217"/>
            <a:ext cx="10590662" cy="509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EG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امكانية </a:t>
            </a:r>
            <a:r>
              <a:rPr lang="ar-EG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استيراد القيود من اى ملفات خارجية.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EG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امكانية نسخ القيد الى قيد اخر مماثل ثم تغير اى بيانات به</a:t>
            </a:r>
            <a:r>
              <a:rPr lang="ar-EG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امكانية ادخال اى مرفقات خارجية للقيد مثل اى انواع من الملفات او الصور المرفقة بالقيد.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EG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من داخل شاشة القيد يمكن مراجعة  يومية الاستاذ العام لاى حساب بالقيد وايا يمكن مراجعة الارصده الشهرية.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EG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ترحيل القيود المحاسبية والتى يمكن اختيار مجموعة من القيود المراد ترحيلها دفعة واحده عن طريق ادخال فترة معينة او ادخال مدى من ارقام القيود المراد ترحيلها.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توزيع </a:t>
            </a: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ارصدة الحسابات العامة على مراكز التكلفة.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استخراج وطباعة تقارير مختلفة منها على سبيل المثال: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تقارير البيانات الاساسية ( شجرة الحسابات وشجرة مراكز التكلفة )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تقارير يومية القيود وطباعة القيود المحاسبية 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حساب الاستاذ العام وتحليل يومية الاستاذ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تقارير مختلفة عن موازين المراجعة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تقارير مختلفة عن مراكز التكلفة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تقارير التحليلات البيانية 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تقارير القوائم الختامية ( والتى يتم تصميمها طبقا للاحيتاجات المختلفة )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التقارير الختامية ( حساب ارباح وخسائر – حساب المتاجرة – حساب التشغيل – قائمة الدخل – الميزانية )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تقارير القيم التقديرية ( للحسابات – لمراكز التكلفة )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ar-SA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امكانية اعادة الترحيل سواء للقيد الافتتاحى او للحسابات او الارصدة </a:t>
            </a:r>
            <a:r>
              <a:rPr lang="ar-EG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EG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امكانية اغلاق السنة المحاسبية وبدء السنة الماليه الجديده واعادة الترصيد تلقائيا للحسابات ومراكز التكلفة 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09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0"/>
            <a:ext cx="66294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تعريف الاكواد اليومية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48716" y="1978924"/>
            <a:ext cx="25384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يقوم المسنخدم بتعريف الاكواد اليومية الخاصة بالشركة </a:t>
            </a:r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ar-EG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كود اليومية </a:t>
            </a:r>
          </a:p>
          <a:p>
            <a:pPr algn="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اسم الكود بالعربى</a:t>
            </a:r>
          </a:p>
          <a:p>
            <a:pPr algn="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اسم الكود بالانجليزى</a:t>
            </a:r>
          </a:p>
          <a:p>
            <a:pPr algn="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الاسم المختصر </a:t>
            </a:r>
          </a:p>
          <a:p>
            <a:pPr algn="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شكل وطول القيد </a:t>
            </a:r>
          </a:p>
          <a:p>
            <a:pPr algn="r"/>
            <a:r>
              <a:rPr lang="ar-EG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الترحيل اتوماتيك</a:t>
            </a:r>
          </a:p>
        </p:txBody>
      </p:sp>
      <p:sp>
        <p:nvSpPr>
          <p:cNvPr id="8" name="Rectangle 7"/>
          <p:cNvSpPr/>
          <p:nvPr/>
        </p:nvSpPr>
        <p:spPr>
          <a:xfrm>
            <a:off x="9793730" y="2874387"/>
            <a:ext cx="167995" cy="2100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9793731" y="3262443"/>
            <a:ext cx="167995" cy="210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804295" y="3575931"/>
            <a:ext cx="167995" cy="210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804294" y="3911445"/>
            <a:ext cx="167995" cy="210008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817307" y="4208588"/>
            <a:ext cx="167995" cy="21000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804294" y="4560447"/>
            <a:ext cx="167995" cy="21000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48" y="1978924"/>
            <a:ext cx="8579976" cy="4399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ounded Rectangle 5"/>
          <p:cNvSpPr/>
          <p:nvPr/>
        </p:nvSpPr>
        <p:spPr>
          <a:xfrm>
            <a:off x="327548" y="2483893"/>
            <a:ext cx="8579976" cy="5595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881047" y="3523312"/>
            <a:ext cx="1146412" cy="2333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513694" y="3867308"/>
            <a:ext cx="1425054" cy="3247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48033" y="3792162"/>
            <a:ext cx="1425054" cy="323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5513694" y="4261503"/>
            <a:ext cx="1425054" cy="31418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8033" y="4203341"/>
            <a:ext cx="1425054" cy="32474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514833" y="4660989"/>
            <a:ext cx="1425054" cy="32474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094089" y="4868534"/>
            <a:ext cx="1425054" cy="32474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 smtClean="0"/>
              <a:t>تعريف المستويات الابعاد  الحسابية</a:t>
            </a:r>
            <a:endParaRPr lang="en-US" sz="36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1" y="234136"/>
            <a:ext cx="7424384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94878" y="1903502"/>
            <a:ext cx="1678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 smtClean="0"/>
              <a:t>يقوم المستخدم بتعريف مراكز التكلفة التى ستقوم عليها المعاملات المحاسبية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653887" y="3380830"/>
            <a:ext cx="1569492" cy="2904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06" y="1830202"/>
            <a:ext cx="9034818" cy="485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37" y="3343263"/>
            <a:ext cx="9526" cy="17147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10974" y="1043272"/>
            <a:ext cx="283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rtl="1"/>
            <a:r>
              <a:rPr lang="ar-SA" dirty="0" smtClean="0"/>
              <a:t>..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469815" y="10894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ar-SA" dirty="0" smtClean="0"/>
              <a:t>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3593170" y="28660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149" y="105662"/>
            <a:ext cx="11273051" cy="200622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EG" sz="4000" b="1" dirty="0" smtClean="0">
                <a:solidFill>
                  <a:schemeClr val="bg1"/>
                </a:solidFill>
              </a:rPr>
              <a:t>البيانات الاساسية</a:t>
            </a:r>
            <a:r>
              <a:rPr lang="ar-EG" sz="4000" dirty="0" smtClean="0">
                <a:solidFill>
                  <a:schemeClr val="bg1"/>
                </a:solidFill>
              </a:rPr>
              <a:t>: 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9367" y="750884"/>
            <a:ext cx="7550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400" dirty="0" smtClean="0">
                <a:solidFill>
                  <a:schemeClr val="bg1"/>
                </a:solidFill>
              </a:rPr>
              <a:t>ادخال الاكواد الاساسية قبل البدء فى اجراء اى حركات على البرنامج,مثل اكواد الدليل ,اكواد مراكز التكلفة,اكواد العملات انواع اليومية </a:t>
            </a:r>
            <a:r>
              <a:rPr lang="ar-EG" sz="2000" dirty="0" smtClean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338" y="2450437"/>
            <a:ext cx="3419952" cy="39057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734" y="2450437"/>
            <a:ext cx="3515216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8996" y="0"/>
            <a:ext cx="3473003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                 </a:t>
            </a:r>
            <a:b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</a:b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914115" y="1994084"/>
            <a:ext cx="4082654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يتم الدخول على شجرة الحسابات من خلال </a:t>
            </a:r>
            <a:r>
              <a:rPr lang="ar-EG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كتابة الكود المحاسبى 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اسم الحساب بالعربى , والانجليزى 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الترحيل النهائى 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طبيعه الحساب دائن,او مدين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تاريخ فتح الحساب 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العملة </a:t>
            </a:r>
          </a:p>
          <a:p>
            <a:pPr marL="285750" indent="-285750" algn="r" rtl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ar-EG" dirty="0" smtClean="0">
                <a:latin typeface="Arial" panose="020B0604020202020204" pitchFamily="34" charset="0"/>
                <a:cs typeface="Arial" panose="020B0604020202020204" pitchFamily="34" charset="0"/>
              </a:rPr>
              <a:t>نسبه التحويل</a:t>
            </a:r>
            <a:endParaRPr lang="ar-E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36554" y="474727"/>
            <a:ext cx="2541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3200" b="1" cap="all" spc="100" dirty="0">
                <a:solidFill>
                  <a:prstClr val="white"/>
                </a:solidFill>
                <a:latin typeface="Calibri" panose="020F0502020204030204"/>
              </a:rPr>
              <a:t>شجرة </a:t>
            </a:r>
            <a:r>
              <a:rPr lang="ar-EG" sz="3200" b="1" cap="all" spc="100" dirty="0" smtClean="0">
                <a:solidFill>
                  <a:prstClr val="white"/>
                </a:solidFill>
                <a:latin typeface="Calibri" panose="020F0502020204030204"/>
              </a:rPr>
              <a:t>الحسابات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24334" y="545910"/>
            <a:ext cx="719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 smtClean="0">
                <a:solidFill>
                  <a:schemeClr val="bg1"/>
                </a:solidFill>
              </a:rPr>
              <a:t>: يقوم المستخدم بانشاء شجرة الحسابات الخاصة باعمال الشركة وعمل القوائم المالية الازمة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40082" y="2358944"/>
            <a:ext cx="217558" cy="22367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8861169" y="2720370"/>
            <a:ext cx="217558" cy="22367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876285" y="3136686"/>
            <a:ext cx="217558" cy="22367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8888465" y="3494983"/>
            <a:ext cx="217558" cy="22367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889933" y="3869169"/>
            <a:ext cx="217558" cy="22367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895610" y="4269596"/>
            <a:ext cx="217558" cy="22367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7" y="1576752"/>
            <a:ext cx="8287907" cy="52204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Rectangle 33"/>
          <p:cNvSpPr/>
          <p:nvPr/>
        </p:nvSpPr>
        <p:spPr>
          <a:xfrm>
            <a:off x="2501603" y="3505182"/>
            <a:ext cx="1233981" cy="223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507286" y="3863479"/>
            <a:ext cx="1228298" cy="37418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 flipV="1">
            <a:off x="2507286" y="4337330"/>
            <a:ext cx="1228298" cy="2480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376492" y="4994905"/>
            <a:ext cx="1359092" cy="26811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376492" y="5391868"/>
            <a:ext cx="1359092" cy="22367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439047" y="5744394"/>
            <a:ext cx="1359092" cy="275984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439047" y="6149225"/>
            <a:ext cx="1359092" cy="22367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8927378" y="4618473"/>
            <a:ext cx="199843" cy="19863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2801623" y="6501750"/>
            <a:ext cx="996516" cy="25150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95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215" y="0"/>
            <a:ext cx="344378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28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شجرة الابعاد الحسابية: </a:t>
            </a:r>
            <a:endParaRPr lang="en-US" sz="28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488909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 flipH="1">
            <a:off x="6080760" y="1885134"/>
            <a:ext cx="571777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1"/>
            <a:endParaRPr lang="ar-EG" sz="20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0852" y="549148"/>
            <a:ext cx="781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2400" dirty="0">
                <a:solidFill>
                  <a:schemeClr val="bg1"/>
                </a:solidFill>
              </a:rPr>
              <a:t>يتم الدخول على شجرة الابعاد </a:t>
            </a:r>
            <a:r>
              <a:rPr lang="ar-EG" sz="2400" dirty="0" smtClean="0">
                <a:solidFill>
                  <a:schemeClr val="bg1"/>
                </a:solidFill>
              </a:rPr>
              <a:t>الحسابية </a:t>
            </a:r>
            <a:r>
              <a:rPr lang="ar-EG" sz="2400" dirty="0">
                <a:solidFill>
                  <a:schemeClr val="bg1"/>
                </a:solidFill>
              </a:rPr>
              <a:t>من خلال قائمة البيانات الاساسية </a:t>
            </a:r>
            <a:r>
              <a:rPr lang="ar-EG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27" y="1741693"/>
            <a:ext cx="10385946" cy="4896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550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39988" y="779981"/>
            <a:ext cx="3816823" cy="170597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EG" sz="3200" dirty="0" smtClean="0">
                <a:solidFill>
                  <a:schemeClr val="tx1"/>
                </a:solidFill>
              </a:rPr>
              <a:t>           الحركات </a:t>
            </a:r>
          </a:p>
          <a:p>
            <a:pPr algn="r"/>
            <a:r>
              <a:rPr lang="ar-EG" sz="2400" dirty="0" smtClean="0">
                <a:solidFill>
                  <a:schemeClr val="tx1"/>
                </a:solidFill>
              </a:rPr>
              <a:t>قائمة لتنقيذ حركات البرنامج المختلفة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10399594" y="3020603"/>
            <a:ext cx="789782" cy="1314973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9961078" y="4933762"/>
            <a:ext cx="1337480" cy="163097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قيود الافتتاحية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202788" y="2985967"/>
            <a:ext cx="789782" cy="1314973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5801191" y="2985968"/>
            <a:ext cx="789782" cy="1314973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28939" y="4906627"/>
            <a:ext cx="1337480" cy="163097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ترحيل القيود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527342" y="4906628"/>
            <a:ext cx="1337480" cy="163097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tx1"/>
                </a:solidFill>
              </a:rPr>
              <a:t>قيود اليومية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0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القيود الافتتاحية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78424" y="418416"/>
            <a:ext cx="6750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ar-EG" sz="2400" dirty="0">
                <a:solidFill>
                  <a:schemeClr val="bg1"/>
                </a:solidFill>
                <a:latin typeface="Arial" panose="020B0604020202020204" pitchFamily="34" charset="0"/>
              </a:rPr>
              <a:t>من خلال هذه القائمة يقوم المستخدم بانشاء القيد الافتتاحى عن طريق هذه </a:t>
            </a:r>
            <a:r>
              <a:rPr lang="ar-EG" sz="2000" dirty="0">
                <a:solidFill>
                  <a:schemeClr val="bg1"/>
                </a:solidFill>
                <a:latin typeface="Arial" panose="020B0604020202020204" pitchFamily="34" charset="0"/>
              </a:rPr>
              <a:t>الشا</a:t>
            </a:r>
            <a:r>
              <a:rPr lang="ar-EG" dirty="0">
                <a:solidFill>
                  <a:schemeClr val="bg1"/>
                </a:solidFill>
                <a:latin typeface="Arial" panose="020B0604020202020204" pitchFamily="34" charset="0"/>
              </a:rPr>
              <a:t>شة </a:t>
            </a:r>
            <a:r>
              <a:rPr lang="ar-EG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05" y="1575954"/>
            <a:ext cx="10711007" cy="5043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435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3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قيد اليومية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4275" y="532263"/>
            <a:ext cx="72606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ar-EG" sz="2400" dirty="0" smtClean="0">
                <a:solidFill>
                  <a:schemeClr val="bg1"/>
                </a:solidFill>
                <a:latin typeface="Arial" panose="020B0604020202020204" pitchFamily="34" charset="0"/>
              </a:rPr>
              <a:t>يقوم </a:t>
            </a:r>
            <a:r>
              <a:rPr lang="ar-EG" sz="2400" dirty="0">
                <a:solidFill>
                  <a:schemeClr val="bg1"/>
                </a:solidFill>
                <a:latin typeface="Arial" panose="020B0604020202020204" pitchFamily="34" charset="0"/>
              </a:rPr>
              <a:t>المستخدم بانشاء قيد اليومية عن طريق هذه الشاشة ,ويوجد امكانية انشاء القيد اوتوماتيكيا.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70" y="1789141"/>
            <a:ext cx="9676264" cy="25658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70" y="4567686"/>
            <a:ext cx="9676264" cy="18290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6" name="Rounded Rectangle 15"/>
          <p:cNvSpPr/>
          <p:nvPr/>
        </p:nvSpPr>
        <p:spPr>
          <a:xfrm>
            <a:off x="1580451" y="2108218"/>
            <a:ext cx="8579976" cy="32108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4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922" y="0"/>
            <a:ext cx="2270078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ترحيل القيود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: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28857" y="3016154"/>
            <a:ext cx="1958431" cy="27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78174" y="532263"/>
            <a:ext cx="903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Bef>
                <a:spcPct val="50000"/>
              </a:spcBef>
              <a:buClrTx/>
              <a:buSzTx/>
            </a:pPr>
            <a:r>
              <a:rPr lang="ar-EG" sz="2400" b="1" dirty="0">
                <a:solidFill>
                  <a:schemeClr val="bg1"/>
                </a:solidFill>
                <a:latin typeface="Arial" panose="020B0604020202020204" pitchFamily="34" charset="0"/>
              </a:rPr>
              <a:t>يقوم المستخدم اختيار القيود المراد ترحيلها ثم تقوم مرحلة الترحيل يدويا ويوجد امكانية ترحيل حسب رغبة المستخدم</a:t>
            </a:r>
            <a:r>
              <a:rPr lang="ar-EG" sz="2000" b="1" dirty="0">
                <a:latin typeface="Arial" panose="020B0604020202020204" pitchFamily="34" charset="0"/>
              </a:rPr>
              <a:t>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63" y="1895523"/>
            <a:ext cx="10972800" cy="39915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95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     التقارير              </a:t>
            </a:r>
            <a:r>
              <a:rPr lang="ar-EG" sz="18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هى قائمة استعراض التقارير المختلفة وهى تشمل جميع البيانات التى يحتاجها المستخدم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9918566" y="1682009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حساب الاستاذ مدبن او دائن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8128388" y="1682008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ميزان المراجعة </a:t>
            </a:r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6412398" y="3468695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تقرير يومية القيود </a:t>
            </a:r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4148498" y="3485379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تقرير الشجرة المحاسبية </a:t>
            </a:r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2315160" y="3485380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تقرير شجرة الابعاد 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590293" y="1739549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تقرير اجماليات الابعاد المحاسبية </a:t>
            </a:r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2421654" y="1770880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حساب استاذ للابعاد المحاسبية </a:t>
            </a:r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4211832" y="1770879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قائمة الدخل </a:t>
            </a:r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6338210" y="1727160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الميزانية 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10030296" y="3491804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حساب استاذ رصيد </a:t>
            </a:r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8254359" y="5210230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ميزان مراجعة 2</a:t>
            </a: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8245736" y="3491803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تقرير اجمالى الحساب للابعاد المحاسبية </a:t>
            </a:r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10101504" y="5168549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قيود بلا مراكز تكلفة </a:t>
            </a:r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6457267" y="5210230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توزيع مراكز التكلفة على الحساب </a:t>
            </a:r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584256" y="3481915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ارصدة حسابات بالحركة على الطرف</a:t>
            </a:r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4244821" y="5210230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توزيع مراكز التكلفة على حساب شهرى</a:t>
            </a:r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2363321" y="5168678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الارصدة الشهرية للحسابات</a:t>
            </a:r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C1B50BAD-E08A-9244-6A68-99AE2F0ABE9B}"/>
              </a:ext>
            </a:extLst>
          </p:cNvPr>
          <p:cNvSpPr/>
          <p:nvPr/>
        </p:nvSpPr>
        <p:spPr>
          <a:xfrm>
            <a:off x="584255" y="5168549"/>
            <a:ext cx="1515623" cy="146270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 smtClean="0"/>
              <a:t>توزيع حساب على مراكز التكلفة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3188" y="59868"/>
            <a:ext cx="4752497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 حساب الاستاذ مدين ودائن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128857" y="1694425"/>
            <a:ext cx="370682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FFFFFF"/>
                </a:solidFill>
                <a:latin typeface="Trebuchet MS" panose="020B0603020202020204" pitchFamily="34" charset="0"/>
                <a:cs typeface="Tahoma" panose="020B0604030504040204" pitchFamily="34" charset="0"/>
              </a:defRPr>
            </a:lvl9pPr>
          </a:lstStyle>
          <a:p>
            <a:pPr marL="342900" indent="-342900" algn="r" rtl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ar-EG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من خلال القائمة الرئيسية الدخول على التقارير ومن هنا يظهر حساب الاستاذ</a:t>
            </a:r>
            <a:endParaRPr lang="ar-EG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85" y="4476466"/>
            <a:ext cx="7891199" cy="21972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85" y="1706753"/>
            <a:ext cx="7954485" cy="259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75955"/>
          </a:xfrm>
        </p:spPr>
        <p:txBody>
          <a:bodyPr>
            <a:normAutofit/>
          </a:bodyPr>
          <a:lstStyle/>
          <a:p>
            <a:pPr algn="r"/>
            <a:r>
              <a:rPr lang="ar-EG" sz="2800" dirty="0" smtClean="0">
                <a:solidFill>
                  <a:schemeClr val="bg1"/>
                </a:solidFill>
              </a:rPr>
              <a:t>       </a:t>
            </a:r>
            <a:r>
              <a:rPr lang="ar-EG" sz="3200" b="1" dirty="0" smtClean="0">
                <a:solidFill>
                  <a:schemeClr val="bg1"/>
                </a:solidFill>
              </a:rPr>
              <a:t>ميزان المراجعة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" y="0"/>
            <a:ext cx="8447965" cy="6857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085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         الميزانية  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58372" y="2115403"/>
            <a:ext cx="25605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000" dirty="0" smtClean="0"/>
              <a:t>من خلال قائمة </a:t>
            </a:r>
            <a:r>
              <a:rPr lang="ar-EG" sz="2400" dirty="0" smtClean="0"/>
              <a:t>التقارير</a:t>
            </a:r>
            <a:r>
              <a:rPr lang="ar-EG" sz="2000" dirty="0" smtClean="0"/>
              <a:t> تظهر قائمة الميزانية.</a:t>
            </a:r>
            <a:r>
              <a:rPr lang="ar-EG" dirty="0" smtClean="0"/>
              <a:t> </a:t>
            </a:r>
            <a:endParaRPr lang="en-US" dirty="0"/>
          </a:p>
        </p:txBody>
      </p:sp>
      <p:pic>
        <p:nvPicPr>
          <p:cNvPr id="1026" name="Picture 2" descr="ميزانية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00" y="3710802"/>
            <a:ext cx="8779353" cy="299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7" y="1741694"/>
            <a:ext cx="8903576" cy="255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قائمة الدخل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 smtClean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54" y="3387143"/>
            <a:ext cx="11575546" cy="3470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54" y="1765225"/>
            <a:ext cx="11575546" cy="160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2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585" y="0"/>
            <a:ext cx="5395415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توزيع مراكز التكلفة على الحساب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345512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59" y="1810091"/>
            <a:ext cx="10727140" cy="4248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17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4401580"/>
            <a:ext cx="1134586" cy="79458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7" y="5260556"/>
            <a:ext cx="1019206" cy="101920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2986772"/>
            <a:ext cx="1019207" cy="101920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1876322"/>
            <a:ext cx="1134588" cy="98033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6" y="1776012"/>
            <a:ext cx="1134586" cy="113458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52" y="5564580"/>
            <a:ext cx="1566074" cy="119836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333" y="1835375"/>
            <a:ext cx="1892855" cy="121075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6" y="4136090"/>
            <a:ext cx="983440" cy="9834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8347" y="5258575"/>
            <a:ext cx="1087794" cy="108570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0932" y="2924875"/>
            <a:ext cx="1143000" cy="11430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20854" y="3986969"/>
            <a:ext cx="1837385" cy="1050755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7975" y="2993936"/>
            <a:ext cx="1807553" cy="88260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136169" y="1587375"/>
            <a:ext cx="2796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Real State &amp; Constriction</a:t>
            </a:r>
            <a:endParaRPr lang="en-US" sz="2000" b="1" dirty="0"/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745999" y="1585227"/>
            <a:ext cx="1186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Industrial</a:t>
            </a:r>
            <a:endParaRPr lang="en-US" sz="1400" b="1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242" y="2181590"/>
            <a:ext cx="1275088" cy="1104478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24" y="3681931"/>
            <a:ext cx="1272689" cy="13400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153" y="5144862"/>
            <a:ext cx="1274476" cy="127447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22" y="2240101"/>
            <a:ext cx="1244290" cy="108110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9862" y="3841175"/>
            <a:ext cx="1273265" cy="93308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61" y="5217928"/>
            <a:ext cx="1309298" cy="130347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3946" y="5206026"/>
            <a:ext cx="1264746" cy="126474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88210" y="3664429"/>
            <a:ext cx="1698749" cy="102521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2685" y="2138301"/>
            <a:ext cx="1284701" cy="1284701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82076" y="2011509"/>
            <a:ext cx="1556648" cy="15566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727" y="4932926"/>
            <a:ext cx="1555575" cy="15555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275" y="3666581"/>
            <a:ext cx="1474781" cy="980801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124386" y="2006738"/>
            <a:ext cx="6833149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25677" y="2016677"/>
            <a:ext cx="4791470" cy="47861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A blue and white logo&#10;&#10;Description automatically generated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173" y="5950142"/>
            <a:ext cx="947826" cy="907858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21050" y="5040504"/>
            <a:ext cx="1309298" cy="13034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4735" y="4987658"/>
            <a:ext cx="1264746" cy="126474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16" y="4960222"/>
            <a:ext cx="1555575" cy="1555575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064" y="3666581"/>
            <a:ext cx="1474781" cy="98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4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93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4002870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79" y="4194698"/>
            <a:ext cx="1519978" cy="1073188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192" y="4942809"/>
            <a:ext cx="1780242" cy="900552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64" y="1886153"/>
            <a:ext cx="1520534" cy="1492024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920" y="2375401"/>
            <a:ext cx="1757212" cy="1431024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787851" y="1666849"/>
            <a:ext cx="1652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Food </a:t>
            </a:r>
            <a:r>
              <a:rPr lang="en-US" sz="2000" b="1" dirty="0"/>
              <a:t>industry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39" y="3318493"/>
            <a:ext cx="1453083" cy="895406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64" y="3317271"/>
            <a:ext cx="1520534" cy="1487567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550308" y="1651822"/>
            <a:ext cx="1231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Education</a:t>
            </a:r>
            <a:endParaRPr lang="en-US" b="1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841" y="5865587"/>
            <a:ext cx="1329043" cy="667660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5984642" y="1662553"/>
            <a:ext cx="1839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Service projects</a:t>
            </a:r>
            <a:endParaRPr lang="en-US" sz="2000" b="1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18" y="2031885"/>
            <a:ext cx="1576982" cy="1182736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89" y="3227793"/>
            <a:ext cx="1652159" cy="1652159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28" y="4739603"/>
            <a:ext cx="1143963" cy="1179712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2609" y="6130714"/>
            <a:ext cx="1591791" cy="380663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8490111" y="1660405"/>
            <a:ext cx="2185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Government sector</a:t>
            </a:r>
          </a:p>
        </p:txBody>
      </p:sp>
      <p:pic>
        <p:nvPicPr>
          <p:cNvPr id="75" name="Picture 74" descr="C:\Documents and Settings\mohamed\Desktop\New Folder\download (3)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160" y="3935802"/>
            <a:ext cx="1757121" cy="1274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49" descr="C:\Users\Mr.Rami\Downloads\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085386" y="2172674"/>
            <a:ext cx="772258" cy="1133353"/>
          </a:xfrm>
          <a:prstGeom prst="rect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5115439"/>
            <a:ext cx="1091821" cy="553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578" y="5374751"/>
            <a:ext cx="885413" cy="1105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2" y="5820166"/>
            <a:ext cx="1172190" cy="818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0555" y="2060515"/>
            <a:ext cx="1945170" cy="469652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216961" y="2060515"/>
            <a:ext cx="1945170" cy="467366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8616323" y="2051932"/>
            <a:ext cx="1945170" cy="470511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5874280" y="2051933"/>
            <a:ext cx="1945170" cy="470511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8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Wave 1"/>
          <p:cNvSpPr/>
          <p:nvPr/>
        </p:nvSpPr>
        <p:spPr>
          <a:xfrm>
            <a:off x="167425" y="6277706"/>
            <a:ext cx="1906073" cy="418088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Mohamed </a:t>
            </a:r>
            <a:r>
              <a:rPr lang="en-US" dirty="0" err="1" smtClean="0"/>
              <a:t>Younis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4640</TotalTime>
  <Words>570</Words>
  <Application>Microsoft Office PowerPoint</Application>
  <PresentationFormat>Widescreen</PresentationFormat>
  <Paragraphs>112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Corbel</vt:lpstr>
      <vt:lpstr>Times New Roman</vt:lpstr>
      <vt:lpstr>Tw Cen MT</vt:lpstr>
      <vt:lpstr>Tw Cen MT Condensed</vt:lpstr>
      <vt:lpstr>Wingdings 3</vt:lpstr>
      <vt:lpstr>Integral</vt:lpstr>
      <vt:lpstr>Accountant System Walkthrough </vt:lpstr>
      <vt:lpstr>خصائص برنامج الحسابات العامة</vt:lpstr>
      <vt:lpstr>خصائص برنامج الحسابات العامة</vt:lpstr>
      <vt:lpstr>تعريف الاكواد اليومية </vt:lpstr>
      <vt:lpstr>PowerPoint Presentation</vt:lpstr>
      <vt:lpstr>PowerPoint Presentation</vt:lpstr>
      <vt:lpstr>                      </vt:lpstr>
      <vt:lpstr>شجرة الابعاد الحسابية: </vt:lpstr>
      <vt:lpstr>PowerPoint Presentation</vt:lpstr>
      <vt:lpstr>القيود الافتتاحية</vt:lpstr>
      <vt:lpstr>قيد اليومية</vt:lpstr>
      <vt:lpstr>ترحيل القيود:</vt:lpstr>
      <vt:lpstr>         التقارير              هى قائمة استعراض التقارير المختلفة وهى تشمل جميع البيانات التى يحتاجها المستخدم</vt:lpstr>
      <vt:lpstr>     حساب الاستاذ مدين ودائن</vt:lpstr>
      <vt:lpstr>       ميزان المراجعة</vt:lpstr>
      <vt:lpstr>            الميزانية   </vt:lpstr>
      <vt:lpstr>قائمة الدخل </vt:lpstr>
      <vt:lpstr>توزيع مراكز التكلفة على الحساب</vt:lpstr>
      <vt:lpstr>عملائنا</vt:lpstr>
      <vt:lpstr>عملائنا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276</cp:revision>
  <dcterms:created xsi:type="dcterms:W3CDTF">2023-07-10T11:59:00Z</dcterms:created>
  <dcterms:modified xsi:type="dcterms:W3CDTF">2026-04-14T10:42:13Z</dcterms:modified>
</cp:coreProperties>
</file>