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73" r:id="rId3"/>
    <p:sldId id="374" r:id="rId4"/>
    <p:sldId id="375" r:id="rId5"/>
    <p:sldId id="344" r:id="rId6"/>
    <p:sldId id="377" r:id="rId7"/>
    <p:sldId id="378" r:id="rId8"/>
    <p:sldId id="379" r:id="rId9"/>
    <p:sldId id="380" r:id="rId10"/>
    <p:sldId id="381" r:id="rId11"/>
    <p:sldId id="382" r:id="rId12"/>
    <p:sldId id="385" r:id="rId13"/>
    <p:sldId id="384" r:id="rId14"/>
    <p:sldId id="383" r:id="rId15"/>
    <p:sldId id="390" r:id="rId16"/>
    <p:sldId id="389" r:id="rId17"/>
    <p:sldId id="388" r:id="rId18"/>
    <p:sldId id="387" r:id="rId19"/>
    <p:sldId id="386" r:id="rId20"/>
    <p:sldId id="391" r:id="rId21"/>
    <p:sldId id="395" r:id="rId22"/>
    <p:sldId id="394" r:id="rId23"/>
    <p:sldId id="393" r:id="rId24"/>
    <p:sldId id="392" r:id="rId25"/>
    <p:sldId id="404" r:id="rId26"/>
    <p:sldId id="403" r:id="rId27"/>
    <p:sldId id="402" r:id="rId28"/>
    <p:sldId id="405" r:id="rId29"/>
    <p:sldId id="409" r:id="rId30"/>
    <p:sldId id="408" r:id="rId31"/>
    <p:sldId id="407" r:id="rId32"/>
    <p:sldId id="406" r:id="rId33"/>
    <p:sldId id="412" r:id="rId34"/>
    <p:sldId id="411" r:id="rId35"/>
    <p:sldId id="410" r:id="rId36"/>
    <p:sldId id="413" r:id="rId37"/>
    <p:sldId id="414" r:id="rId38"/>
    <p:sldId id="415" r:id="rId39"/>
    <p:sldId id="416" r:id="rId40"/>
    <p:sldId id="37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ED44EC-1A01-ABB5-EFFB-DB27E484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534AEB1-8620-0ACC-257F-797DAE0A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68F41E-A921-5F51-E73E-F5664F0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9D1526-A853-BC3A-5A89-C35D474C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59CAF6-944B-D7B5-D951-EDAB090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026CA1-7721-428F-200E-94DA932B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45358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033821F-A462-B2FD-DC6B-D98F54F1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0A6907-A5F5-D930-5D41-5F623C0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255E8D-E2E6-83F2-2FF8-B9ED679A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E98712-BD0B-29F3-FEC3-6EFF90D4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38B249-BA77-A00C-5C06-BD28B68E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0B4BFC-9E5C-E585-6A72-33955E45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383919-24D7-2823-92E8-CD2BEA99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240178-215C-25DE-A12C-4389E9CA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C5EBDA-0D7E-2512-FFC4-44E42DE1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0A86D4-D600-FF8D-7190-2D9E5D58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863AD1-92AA-490D-54A1-EC5BEBA68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F583411-8210-917C-C7C4-46882981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E533D6D-0184-D4C2-AB9F-5E5E9C04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370299-A6D4-8D00-BDBC-DB322CA6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056FA-EDAF-B0BB-EF8C-CC663C5E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F7E13F-3858-05D3-DAED-DA588813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9A8DD13-5A92-32A8-5298-BF9234A6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496866D-1936-5DF3-927C-12D6C5A64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5619F5E-990E-407E-F0C3-067B6799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B8514DA-A2F0-F6C2-DCE3-302891516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E449795-2AF9-123B-2A1E-DD315B3A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6261F7B-0C88-664E-B398-F230FAC8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FEF4B68-8C9C-3232-C775-CA0A4B21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5819E6-7206-174B-F6FC-37448200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CDC2E8-62C5-DD06-459F-BABF6CB3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14DED7F-6122-AB14-9857-0F6141ED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AE75C9D-C418-4E6F-FBAF-FDDE9220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0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31D4F83-DAD7-FEC7-652E-2B817A53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AE02390-9766-F3B7-2B38-5BA8D32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D6B2E95-40A1-2509-9EE8-F3362EFF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9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2F654E-D48D-03EC-F174-EE05C553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B68A96-8D3F-CCBA-897A-70CE76A6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1BABF03-B1CF-BF75-A4FC-95C93BCD2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E7E1D1-85A7-2E3A-E206-E97B6170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6212C0-A41D-4186-0B06-9D4AB04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D301B8-71B7-215C-7465-267F4DBE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3869C0-A901-75F3-4FEE-43F017F3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32706BD-ED55-7767-C72C-5F2FF4065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4A71B3-61F7-6013-69E4-577E1E03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DBA3EB4-8415-CF73-79EB-3E8E6DF7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72BE67-9388-F50B-444B-7699816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0352D74-9A9B-0F53-CEBF-3FEAA80B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53B6E4-D076-D212-90F0-BE82462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4ED9DB8-AC0E-90C7-D96E-8FA65FC9B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BF4D24B-7204-DE68-06B1-5804A4DB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1FA536-C6CA-F2B0-DED6-84F01F17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0C4B2D-287B-1A9E-3320-7DC09EE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9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71FE684-BCCC-5900-57B6-D3D7C54FB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579590F-0EE4-8274-86D6-95A5F2936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7D94D6-AEE0-583A-CCAD-ADC1BB72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4DF07A-389E-D9FD-98E8-288ADA0E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9F6DC5-247B-93EC-0EFB-827C6FF0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4D32B03-5A5F-45C1-9DF4-603C23D2DE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>
                <a:latin typeface="Lato" panose="020F0502020204030203" pitchFamily="34" charset="0"/>
              </a:defRPr>
            </a:lvl1pPr>
          </a:lstStyle>
          <a:p>
            <a:endParaRPr lang="en-ID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E4D32B03-5A5F-45C1-9DF4-603C23D2DE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42837" y="1580297"/>
            <a:ext cx="2252888" cy="4000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800">
                <a:latin typeface="Lato" panose="020F0502020204030203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658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0750C7D-AB7B-D44F-E7E3-CF4A7245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97"/>
            <a:ext cx="10515600" cy="31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FA1CDF3-FAD1-B31E-2938-0728618FF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010"/>
            <a:ext cx="10515600" cy="4645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937F55-4AA0-29D8-2438-C2AFA8FDE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6A7A83-A7E1-40F3-CC93-736E011A1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87A676-C818-496C-D2FD-F2155129E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571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g"/><Relationship Id="rId4" Type="http://schemas.openxmlformats.org/officeDocument/2006/relationships/hyperlink" Target="https://4s-systems.com/MobileAppDevelopment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jpe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jpeg"/><Relationship Id="rId12" Type="http://schemas.openxmlformats.org/officeDocument/2006/relationships/image" Target="../media/image52.png"/><Relationship Id="rId17" Type="http://schemas.openxmlformats.org/officeDocument/2006/relationships/image" Target="../media/image57.jpg"/><Relationship Id="rId25" Type="http://schemas.openxmlformats.org/officeDocument/2006/relationships/image" Target="../media/image65.png"/><Relationship Id="rId2" Type="http://schemas.openxmlformats.org/officeDocument/2006/relationships/image" Target="../media/image42.jpe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jpeg"/><Relationship Id="rId11" Type="http://schemas.openxmlformats.org/officeDocument/2006/relationships/image" Target="../media/image51.png"/><Relationship Id="rId24" Type="http://schemas.openxmlformats.org/officeDocument/2006/relationships/image" Target="../media/image64.jpeg"/><Relationship Id="rId5" Type="http://schemas.openxmlformats.org/officeDocument/2006/relationships/image" Target="../media/image45.jpg"/><Relationship Id="rId15" Type="http://schemas.openxmlformats.org/officeDocument/2006/relationships/image" Target="../media/image55.jp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jpg"/><Relationship Id="rId9" Type="http://schemas.openxmlformats.org/officeDocument/2006/relationships/image" Target="../media/image49.jpeg"/><Relationship Id="rId14" Type="http://schemas.openxmlformats.org/officeDocument/2006/relationships/image" Target="../media/image54.jpg"/><Relationship Id="rId22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jpeg"/><Relationship Id="rId3" Type="http://schemas.openxmlformats.org/officeDocument/2006/relationships/image" Target="../media/image68.png"/><Relationship Id="rId7" Type="http://schemas.openxmlformats.org/officeDocument/2006/relationships/image" Target="../media/image72.jpg"/><Relationship Id="rId12" Type="http://schemas.openxmlformats.org/officeDocument/2006/relationships/image" Target="../media/image77.png"/><Relationship Id="rId17" Type="http://schemas.openxmlformats.org/officeDocument/2006/relationships/image" Target="../media/image82.jpeg"/><Relationship Id="rId2" Type="http://schemas.openxmlformats.org/officeDocument/2006/relationships/image" Target="../media/image67.jpeg"/><Relationship Id="rId16" Type="http://schemas.openxmlformats.org/officeDocument/2006/relationships/image" Target="../media/image81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jpe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jfif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jpeg"/><Relationship Id="rId1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HR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لشئون الموظفين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13856" y="176088"/>
            <a:ext cx="4793673" cy="1814946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EG" sz="3200" b="1" dirty="0" smtClean="0">
                <a:solidFill>
                  <a:schemeClr val="bg1"/>
                </a:solidFill>
                <a:latin typeface="Calibri Light" panose="020F0302020204030204"/>
              </a:rPr>
              <a:t>أنظمة إدارة الموارد البشرية</a:t>
            </a:r>
            <a:endParaRPr lang="ar-EG" sz="3200" b="1" dirty="0">
              <a:solidFill>
                <a:schemeClr val="bg1"/>
              </a:solidFill>
              <a:latin typeface="Calibri Light" panose="020F0302020204030204"/>
            </a:endParaRPr>
          </a:p>
        </p:txBody>
      </p:sp>
      <p:sp>
        <p:nvSpPr>
          <p:cNvPr id="5" name="Oval 4"/>
          <p:cNvSpPr/>
          <p:nvPr/>
        </p:nvSpPr>
        <p:spPr>
          <a:xfrm>
            <a:off x="8835735" y="2597571"/>
            <a:ext cx="2230582" cy="2036618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 smtClean="0"/>
              <a:t>برنامج</a:t>
            </a:r>
          </a:p>
          <a:p>
            <a:pPr algn="ctr"/>
            <a:r>
              <a:rPr lang="ar-EG" sz="2400" b="1" dirty="0" smtClean="0"/>
              <a:t>شئون الموظفين </a:t>
            </a:r>
            <a:endParaRPr 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5095402" y="2576934"/>
            <a:ext cx="2230582" cy="2036618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 smtClean="0"/>
              <a:t>برنامج</a:t>
            </a:r>
          </a:p>
          <a:p>
            <a:pPr algn="ctr"/>
            <a:r>
              <a:rPr lang="ar-EG" sz="2400" b="1" dirty="0" smtClean="0"/>
              <a:t>الحضور والإنصراف </a:t>
            </a:r>
            <a:endParaRPr 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1355070" y="2587253"/>
            <a:ext cx="2230582" cy="2036618"/>
          </a:xfrm>
          <a:prstGeom prst="ellips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 smtClean="0"/>
              <a:t>برنامج</a:t>
            </a:r>
          </a:p>
          <a:p>
            <a:pPr algn="ctr"/>
            <a:r>
              <a:rPr lang="ar-EG" sz="2400" b="1" dirty="0" smtClean="0"/>
              <a:t>الاجور</a:t>
            </a:r>
          </a:p>
          <a:p>
            <a:pPr algn="ctr"/>
            <a:r>
              <a:rPr lang="ar-EG" sz="2400" b="1" dirty="0" smtClean="0"/>
              <a:t>والمرتبات</a:t>
            </a:r>
            <a:endParaRPr lang="en-US" sz="24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5668116" y="5271985"/>
            <a:ext cx="1139539" cy="1445780"/>
          </a:xfrm>
          <a:prstGeom prst="round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 smtClean="0"/>
              <a:t>تطبيق المحمول</a:t>
            </a:r>
            <a:endParaRPr lang="en-US" sz="2400" b="1" dirty="0"/>
          </a:p>
        </p:txBody>
      </p:sp>
      <p:sp>
        <p:nvSpPr>
          <p:cNvPr id="16" name="Bent-Up Arrow 15"/>
          <p:cNvSpPr/>
          <p:nvPr/>
        </p:nvSpPr>
        <p:spPr>
          <a:xfrm flipV="1">
            <a:off x="8706119" y="1506827"/>
            <a:ext cx="1416675" cy="1038384"/>
          </a:xfrm>
          <a:prstGeom prst="bentUp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ent-Up Arrow 16"/>
          <p:cNvSpPr/>
          <p:nvPr/>
        </p:nvSpPr>
        <p:spPr>
          <a:xfrm flipH="1" flipV="1">
            <a:off x="2254971" y="1471842"/>
            <a:ext cx="1460295" cy="1038384"/>
          </a:xfrm>
          <a:prstGeom prst="bentUp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>
            <a:off x="6026203" y="2042550"/>
            <a:ext cx="368978" cy="519192"/>
          </a:xfrm>
          <a:prstGeom prst="down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6026203" y="4678859"/>
            <a:ext cx="368978" cy="519192"/>
          </a:xfrm>
          <a:prstGeom prst="down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flipH="1">
            <a:off x="3796539" y="3423715"/>
            <a:ext cx="1087976" cy="3843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5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6686" y="0"/>
            <a:ext cx="244531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b="1" dirty="0" smtClean="0">
                <a:solidFill>
                  <a:schemeClr val="bg1"/>
                </a:solidFill>
                <a:latin typeface="+mn-lt"/>
              </a:rPr>
              <a:t>برنامج</a:t>
            </a:r>
            <a:br>
              <a:rPr lang="ar-EG" b="1" dirty="0" smtClean="0">
                <a:solidFill>
                  <a:schemeClr val="bg1"/>
                </a:solidFill>
                <a:latin typeface="+mn-lt"/>
              </a:rPr>
            </a:br>
            <a:r>
              <a:rPr lang="ar-EG" b="1" dirty="0" smtClean="0">
                <a:solidFill>
                  <a:schemeClr val="bg1"/>
                </a:solidFill>
                <a:latin typeface="+mn-lt"/>
              </a:rPr>
              <a:t>شئون الموظفين 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9453095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>
                <a:solidFill>
                  <a:schemeClr val="bg1"/>
                </a:solidFill>
                <a:latin typeface="+mn-lt"/>
              </a:rPr>
              <a:t>يقوم الموظف المسئول  في إدخال البيانات الأساسية للموظفين والعاملين فى الشركة مثل (الأقسام – الجامعات – المدارس – الدورات التدريبية – التقديرات – المؤهلات – الحالات الصحية – الأجازات – العقوبات …).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9" y="1741693"/>
            <a:ext cx="4951646" cy="31136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86200" y="1844040"/>
            <a:ext cx="621030" cy="125349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6080760" y="1885134"/>
            <a:ext cx="5717770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ar-EG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يقوم مسئول شئون الموظفين بعمل الاتى:-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إدخال </a:t>
            </a: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بيانات الموظفين الأساسية من خلال شاشة سهلة وواضحة.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إدخال جميع الحركات الإدارية الخاصة بالموظف للحصول على سجل شامل له على مدى تاريخ عمله بالشركة، مثل :</a:t>
            </a:r>
            <a:b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– المؤهلات العلمية للموظف وتاريخ ومكان الحصول عليها.</a:t>
            </a:r>
            <a:b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– الخبرات السابقة للموظف.        </a:t>
            </a:r>
          </a:p>
          <a:p>
            <a:pPr algn="r" rtl="1"/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– الإنتداب الداخلي للموظف.</a:t>
            </a:r>
            <a:b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– الإجازات الدورية والإجازات الخاصة.</a:t>
            </a:r>
            <a:b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ar-EG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– الدورات التدريبية والترقيات</a:t>
            </a:r>
            <a:r>
              <a:rPr lang="ar-EG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 flipH="1">
            <a:off x="6781800" y="5125446"/>
            <a:ext cx="501673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lvl="0" indent="-342900" algn="r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يساعد أيضا برنامج شئون العاملين فى تحديد قواعد حساب الإجازات وفقاً لنظام العميل.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يساعد</a:t>
            </a:r>
            <a:r>
              <a:rPr lang="ar-EG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ايضا</a:t>
            </a:r>
            <a:r>
              <a:rPr lang="ar-EG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البرنامج فى استخراج تقارير بكل هذه البيانات</a:t>
            </a:r>
          </a:p>
        </p:txBody>
      </p:sp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6686" y="0"/>
            <a:ext cx="244531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4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برنامج</a:t>
            </a:r>
            <a:br>
              <a:rPr lang="ar-EG" sz="24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ar-EG" sz="24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الحضور والإنصراف </a:t>
            </a:r>
            <a:endParaRPr lang="en-US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9453095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>
                <a:solidFill>
                  <a:schemeClr val="bg1"/>
                </a:solidFill>
                <a:latin typeface="+mn-lt"/>
              </a:rPr>
              <a:t>يقوم الموظف المسئول </a:t>
            </a:r>
            <a:r>
              <a:rPr lang="ar-EG" sz="2000" dirty="0" smtClean="0">
                <a:solidFill>
                  <a:schemeClr val="bg1"/>
                </a:solidFill>
                <a:latin typeface="+mn-lt"/>
              </a:rPr>
              <a:t>بتحديد </a:t>
            </a:r>
            <a:r>
              <a:rPr lang="ar-EG" sz="2000" dirty="0">
                <a:solidFill>
                  <a:schemeClr val="bg1"/>
                </a:solidFill>
                <a:latin typeface="+mn-lt"/>
              </a:rPr>
              <a:t>اكثر من ورديه و تحديد موعد كل ورديه و ربط كل عامل </a:t>
            </a:r>
            <a:r>
              <a:rPr lang="ar-EG" sz="2000" dirty="0" smtClean="0">
                <a:solidFill>
                  <a:schemeClr val="bg1"/>
                </a:solidFill>
                <a:latin typeface="+mn-lt"/>
              </a:rPr>
              <a:t>بالوردية </a:t>
            </a:r>
            <a:r>
              <a:rPr lang="ar-EG" sz="2000" dirty="0">
                <a:solidFill>
                  <a:schemeClr val="bg1"/>
                </a:solidFill>
                <a:latin typeface="+mn-lt"/>
              </a:rPr>
              <a:t>الخاصة به</a:t>
            </a:r>
          </a:p>
          <a:p>
            <a:r>
              <a:rPr lang="ar-EG" sz="2000" dirty="0" smtClean="0">
                <a:solidFill>
                  <a:schemeClr val="bg1"/>
                </a:solidFill>
                <a:latin typeface="+mn-lt"/>
              </a:rPr>
              <a:t>ويقوم أيضا بالربط </a:t>
            </a:r>
            <a:r>
              <a:rPr lang="ar-EG" sz="2000" dirty="0">
                <a:solidFill>
                  <a:schemeClr val="bg1"/>
                </a:solidFill>
                <a:latin typeface="+mn-lt"/>
              </a:rPr>
              <a:t>مع ساعة الحضور و الأنصراف </a:t>
            </a:r>
            <a:r>
              <a:rPr lang="ar-EG" sz="2000" dirty="0" smtClean="0">
                <a:solidFill>
                  <a:schemeClr val="bg1"/>
                </a:solidFill>
                <a:latin typeface="+mn-lt"/>
              </a:rPr>
              <a:t>ويقوم بتحديد </a:t>
            </a:r>
            <a:r>
              <a:rPr lang="ar-EG" sz="2000" dirty="0">
                <a:solidFill>
                  <a:schemeClr val="bg1"/>
                </a:solidFill>
                <a:latin typeface="+mn-lt"/>
              </a:rPr>
              <a:t>المخالفات و العقوبه لكل مخالفة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6080760" y="1885134"/>
            <a:ext cx="5717770" cy="4970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ar-EG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خصائص برنامج الحضور والانصراف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>
                <a:latin typeface="Arial" panose="020B0604020202020204" pitchFamily="34" charset="0"/>
              </a:rPr>
              <a:t>تعريف الورديات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ربط العامل </a:t>
            </a: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بالوردية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ربط كل موظف برقم </a:t>
            </a: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الكارت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ربط </a:t>
            </a: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المخالفات بمدد </a:t>
            </a: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التأخير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قراءة </a:t>
            </a: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البيانات من </a:t>
            </a: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الساعة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تسوية التأخيرات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تقرير متابعة حضور </a:t>
            </a:r>
            <a:r>
              <a:rPr lang="ar-E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موظف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تحديد مواعيد الحضور والإنصراف الرسمية.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دعم كامل لشرائح حساب التأخير والإنصراف المبكر.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أكثر من شريحة لمعدلات حساب خصم الغياب.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دعم كامل لشرائح حساب الوقت الإضافي.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تأسيس قواعد حساب الأجازات بأنواعها المختلفة وحسابها آليا.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نظام يسمح بأكثر من وردية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تسجيل رصيد أجازات أول العام لكل موظف على حدة.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تسجيل وطباعة إقرار الأجازة السنوية.</a:t>
            </a:r>
          </a:p>
          <a:p>
            <a:pPr algn="r" rtl="1"/>
            <a:endParaRPr lang="ar-EG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4" name="Picture Placeholder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" b="16697"/>
          <a:stretch/>
        </p:blipFill>
        <p:spPr>
          <a:xfrm>
            <a:off x="110926" y="1722587"/>
            <a:ext cx="5096909" cy="29325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62000" y="3439614"/>
            <a:ext cx="1447800" cy="125349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410" y="3770343"/>
            <a:ext cx="2350770" cy="453581"/>
          </a:xfrm>
        </p:spPr>
        <p:txBody>
          <a:bodyPr/>
          <a:lstStyle/>
          <a:p>
            <a:r>
              <a:rPr lang="ar-EG" dirty="0" smtClean="0"/>
              <a:t>التسويات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9631680" y="960120"/>
            <a:ext cx="210312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sz="2000" b="1" dirty="0">
                <a:solidFill>
                  <a:prstClr val="white"/>
                </a:solidFill>
                <a:latin typeface="Arial" panose="020B0604020202020204" pitchFamily="34" charset="0"/>
              </a:rPr>
              <a:t>تعريف </a:t>
            </a:r>
            <a:r>
              <a:rPr lang="ar-EG" sz="2000" b="1" dirty="0" smtClean="0">
                <a:solidFill>
                  <a:prstClr val="white"/>
                </a:solidFill>
                <a:latin typeface="Arial" panose="020B0604020202020204" pitchFamily="34" charset="0"/>
              </a:rPr>
              <a:t>الورديات</a:t>
            </a:r>
            <a:endParaRPr lang="en-US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48000" y="3740181"/>
            <a:ext cx="6858000" cy="15108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</a:t>
            </a:r>
            <a:endParaRPr lang="en-US" dirty="0"/>
          </a:p>
        </p:txBody>
      </p:sp>
      <p:sp>
        <p:nvSpPr>
          <p:cNvPr id="43" name="Rounded Rectangle 42"/>
          <p:cNvSpPr/>
          <p:nvPr/>
        </p:nvSpPr>
        <p:spPr>
          <a:xfrm>
            <a:off x="6812280" y="960120"/>
            <a:ext cx="210312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b="1" dirty="0">
                <a:solidFill>
                  <a:prstClr val="white"/>
                </a:solidFill>
                <a:latin typeface="Arial" panose="020B0604020202020204" pitchFamily="34" charset="0"/>
              </a:rPr>
              <a:t>ربط العامل بالوردية</a:t>
            </a:r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120640" y="5549312"/>
            <a:ext cx="252984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b="1">
                <a:solidFill>
                  <a:prstClr val="white"/>
                </a:solidFill>
                <a:latin typeface="Arial" panose="020B0604020202020204" pitchFamily="34" charset="0"/>
              </a:rPr>
              <a:t>تقرير الحضور و الأنصراف</a:t>
            </a:r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20640" y="2471007"/>
            <a:ext cx="252984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b="1">
                <a:solidFill>
                  <a:prstClr val="white"/>
                </a:solidFill>
                <a:latin typeface="Arial" panose="020B0604020202020204" pitchFamily="34" charset="0"/>
              </a:rPr>
              <a:t>قراءة البيانات من الساعة</a:t>
            </a:r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992880" y="944880"/>
            <a:ext cx="210312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b="1" dirty="0">
                <a:solidFill>
                  <a:prstClr val="white"/>
                </a:solidFill>
                <a:latin typeface="Arial" panose="020B0604020202020204" pitchFamily="34" charset="0"/>
              </a:rPr>
              <a:t>ربط كل موظف برقم الكارت</a:t>
            </a:r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46760" y="960120"/>
            <a:ext cx="252984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 fontAlgn="base">
              <a:spcBef>
                <a:spcPct val="50000"/>
              </a:spcBef>
              <a:spcAft>
                <a:spcPct val="0"/>
              </a:spcAft>
            </a:pPr>
            <a:r>
              <a:rPr lang="ar-EG" b="1">
                <a:solidFill>
                  <a:prstClr val="white"/>
                </a:solidFill>
                <a:latin typeface="Arial" panose="020B0604020202020204" pitchFamily="34" charset="0"/>
              </a:rPr>
              <a:t>ربط المخالفات بمدد التأخير</a:t>
            </a:r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8620" y="4206064"/>
            <a:ext cx="1813560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/>
              <a:t>تسوية التأخيرات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5657850" y="4206064"/>
            <a:ext cx="1813560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/>
              <a:t>تسوية الاضافى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3307080" y="4206064"/>
            <a:ext cx="1813560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/>
              <a:t>تسوية الغياب</a:t>
            </a:r>
            <a:endParaRPr lang="en-US" sz="2000" b="1" dirty="0"/>
          </a:p>
        </p:txBody>
      </p:sp>
      <p:sp>
        <p:nvSpPr>
          <p:cNvPr id="6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 txBox="1">
            <a:spLocks/>
          </p:cNvSpPr>
          <p:nvPr/>
        </p:nvSpPr>
        <p:spPr>
          <a:xfrm>
            <a:off x="914400" y="288925"/>
            <a:ext cx="10515600" cy="453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dirty="0" smtClean="0"/>
              <a:t>آلية العمل</a:t>
            </a:r>
            <a:r>
              <a:rPr lang="en-US" dirty="0" smtClean="0"/>
              <a:t> </a:t>
            </a:r>
            <a:r>
              <a:rPr lang="ar-EG" dirty="0" smtClean="0"/>
              <a:t>الحضور والانصراف</a:t>
            </a:r>
            <a:r>
              <a:rPr lang="en-US" dirty="0" smtClean="0"/>
              <a:t> </a:t>
            </a:r>
            <a:r>
              <a:rPr lang="ar-EG" dirty="0" smtClean="0"/>
              <a:t> </a:t>
            </a:r>
            <a:endParaRPr lang="en-US" dirty="0"/>
          </a:p>
        </p:txBody>
      </p:sp>
      <p:cxnSp>
        <p:nvCxnSpPr>
          <p:cNvPr id="8" name="Straight Arrow Connector 7"/>
          <p:cNvCxnSpPr>
            <a:stCxn id="3" idx="1"/>
            <a:endCxn id="43" idx="3"/>
          </p:cNvCxnSpPr>
          <p:nvPr/>
        </p:nvCxnSpPr>
        <p:spPr>
          <a:xfrm flipH="1">
            <a:off x="8915400" y="1417320"/>
            <a:ext cx="71628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45" idx="1"/>
          </p:cNvCxnSpPr>
          <p:nvPr/>
        </p:nvCxnSpPr>
        <p:spPr>
          <a:xfrm>
            <a:off x="990600" y="1874520"/>
            <a:ext cx="4130040" cy="1053687"/>
          </a:xfrm>
          <a:prstGeom prst="bentConnector3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132320" y="1874520"/>
            <a:ext cx="0" cy="59648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657850" y="1874520"/>
            <a:ext cx="0" cy="59648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431280" y="3441937"/>
            <a:ext cx="0" cy="32840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6416040" y="5225017"/>
            <a:ext cx="0" cy="32840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34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تعريف </a:t>
            </a: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الورديات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1" name="Picture 7" descr="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2" y="1835468"/>
            <a:ext cx="6169794" cy="443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7772400" y="2113896"/>
            <a:ext cx="40233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يتم تحديد وقت بدء و انتهاء الورديه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يتم تحديد فترة السماح لكل و ردية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يتم تحديد الوردية الأفتراضية للعامل </a:t>
            </a:r>
            <a:br>
              <a:rPr lang="ar-EG" sz="2400" dirty="0">
                <a:latin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</a:rPr>
              <a:t>  الذي لم تحدد له وردية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6440" y="3048000"/>
            <a:ext cx="2331720" cy="381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8640" y="3718560"/>
            <a:ext cx="3825240" cy="74676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ربط العامل بالوردية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0" y="2113896"/>
            <a:ext cx="40233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 smtClean="0">
                <a:latin typeface="Arial" panose="020B0604020202020204" pitchFamily="34" charset="0"/>
              </a:rPr>
              <a:t>يقوم مسئول شئون العاملين بتحديد الوردية الخاصة بالعامل </a:t>
            </a:r>
            <a:r>
              <a:rPr lang="ar-EG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ومن ثم ربط العامل على الوردية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ar-EG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spcBef>
                <a:spcPct val="50000"/>
              </a:spcBef>
            </a:pPr>
            <a:r>
              <a:rPr lang="ar-EG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يمكن تغيير الورديات</a:t>
            </a:r>
            <a:endParaRPr lang="ar-EG" sz="2400" b="1" dirty="0" smtClean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9" descr="t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76"/>
          <a:stretch>
            <a:fillRect/>
          </a:stretch>
        </p:blipFill>
        <p:spPr bwMode="auto">
          <a:xfrm>
            <a:off x="391160" y="1918334"/>
            <a:ext cx="6985000" cy="434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07720" y="3093720"/>
            <a:ext cx="4206240" cy="117348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73480" y="2460722"/>
            <a:ext cx="2819400" cy="251982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75841" y="2751340"/>
            <a:ext cx="2819400" cy="22367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ربط كل موظف برقم الكارت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13320" y="2510562"/>
            <a:ext cx="426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ar-EG" sz="2400" dirty="0">
                <a:latin typeface="Arial" panose="020B0604020202020204" pitchFamily="34" charset="0"/>
              </a:rPr>
              <a:t> يتم ربط كل </a:t>
            </a:r>
            <a:r>
              <a:rPr lang="ar-EG" sz="2400" dirty="0" smtClean="0">
                <a:latin typeface="Arial" panose="020B0604020202020204" pitchFamily="34" charset="0"/>
              </a:rPr>
              <a:t>موظف </a:t>
            </a:r>
            <a:r>
              <a:rPr lang="ar-EG" sz="2400" dirty="0">
                <a:latin typeface="Arial" panose="020B0604020202020204" pitchFamily="34" charset="0"/>
              </a:rPr>
              <a:t>برقم كارت الساعة</a:t>
            </a:r>
          </a:p>
          <a:p>
            <a:pPr algn="r" rtl="1">
              <a:spcBef>
                <a:spcPct val="50000"/>
              </a:spcBef>
              <a:buFontTx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يمكن ترتيب الظهور برقم الكارت أو بكود العمل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8" descr="t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" y="1856086"/>
            <a:ext cx="6226175" cy="407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86000" y="2113896"/>
            <a:ext cx="1036320" cy="37338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90600" y="2113896"/>
            <a:ext cx="1036320" cy="37338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ربط المخالفات بمدد التأخير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71360" y="2510562"/>
            <a:ext cx="47091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يتم تعريف المخالفة </a:t>
            </a:r>
            <a:r>
              <a:rPr lang="ar-EG" sz="2400" dirty="0" smtClean="0">
                <a:latin typeface="Arial" panose="020B0604020202020204" pitchFamily="34" charset="0"/>
              </a:rPr>
              <a:t> </a:t>
            </a:r>
            <a:r>
              <a:rPr lang="ar-EG" sz="2400" dirty="0">
                <a:latin typeface="Arial" panose="020B0604020202020204" pitchFamily="34" charset="0"/>
              </a:rPr>
              <a:t>و ما يناظرها من </a:t>
            </a:r>
            <a:br>
              <a:rPr lang="ar-EG" sz="2400" dirty="0">
                <a:latin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</a:rPr>
              <a:t> تأخير بالدقائق </a:t>
            </a:r>
          </a:p>
          <a:p>
            <a:pPr marL="342900" indent="-34290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2400" dirty="0">
                <a:latin typeface="Arial" panose="020B0604020202020204" pitchFamily="34" charset="0"/>
              </a:rPr>
              <a:t>و يتم الربط تلقائي ببرنامج الأجور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5" y="2776671"/>
            <a:ext cx="8376630" cy="1304657"/>
          </a:xfrm>
          <a:prstGeom prst="rect">
            <a:avLst/>
          </a:prstGeom>
        </p:spPr>
      </p:pic>
      <p:pic>
        <p:nvPicPr>
          <p:cNvPr id="16" name="Picture 8" descr="t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087881"/>
            <a:ext cx="6228080" cy="4446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548640" y="2615676"/>
            <a:ext cx="5798820" cy="37338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قراءة البيانات من الساعة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7091680" y="2392362"/>
            <a:ext cx="435356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9pPr>
          </a:lstStyle>
          <a:p>
            <a:pPr marL="342900" indent="-342900" algn="r" rtl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يتم قراءة الملف الخاص بقراءة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الساعة الذي يحتوي الحضور و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الأنصراف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المسجله للموظفين</a:t>
            </a:r>
          </a:p>
          <a:p>
            <a:pPr marL="342900" indent="-342900" algn="r" rtl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يمكن قراءة أي نوع من قواعد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البيانات من خلال ربطها ب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ODBC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الخاصة بالنوافذ</a:t>
            </a: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8" descr="t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392362"/>
            <a:ext cx="5778182" cy="333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929640" y="3154679"/>
            <a:ext cx="3657600" cy="57184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29640" y="3855720"/>
            <a:ext cx="3657600" cy="32174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تسوية التأخيرات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7091680" y="2392362"/>
            <a:ext cx="435356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9pPr>
          </a:lstStyle>
          <a:p>
            <a:pPr marL="342900" indent="-342900" algn="r" rtl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يتم عرض كل المخالفات التي تمت </a:t>
            </a:r>
            <a:b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خلال فترة محددة و العقوبة </a:t>
            </a:r>
            <a:b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الموجبه عن هذه المخالفه مع </a:t>
            </a:r>
            <a:b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امكانية تسويتها </a:t>
            </a:r>
          </a:p>
        </p:txBody>
      </p:sp>
      <p:pic>
        <p:nvPicPr>
          <p:cNvPr id="10" name="Picture 9" descr="t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057400"/>
            <a:ext cx="6046454" cy="414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79387" y="3919204"/>
            <a:ext cx="5729081" cy="82043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متابعة حضور موظف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7091680" y="2392362"/>
            <a:ext cx="43535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9pPr>
          </a:lstStyle>
          <a:p>
            <a:pPr marL="342900" indent="-342900" algn="r" rtl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يتم عرض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تقرير الموظف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وقت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الحضور والأنصراف </a:t>
            </a: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 </a:t>
            </a: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الإضافي إن وجد والتأخير </a:t>
            </a:r>
            <a:b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EG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إن وجد </a:t>
            </a:r>
          </a:p>
        </p:txBody>
      </p:sp>
      <p:pic>
        <p:nvPicPr>
          <p:cNvPr id="10" name="Picture 8" descr="t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722120"/>
            <a:ext cx="6426679" cy="495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224590" y="2833946"/>
            <a:ext cx="6213475" cy="14492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برنامج الأجور والمرتبات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B3BCA7A-FDD0-FA65-0CA2-6AAFAB3CC190}"/>
              </a:ext>
            </a:extLst>
          </p:cNvPr>
          <p:cNvSpPr/>
          <p:nvPr/>
        </p:nvSpPr>
        <p:spPr>
          <a:xfrm>
            <a:off x="6552506" y="541158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انهاء الخدمه 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81EFD63F-F3A2-0AF2-0E6A-47524CB2B0AE}"/>
              </a:ext>
            </a:extLst>
          </p:cNvPr>
          <p:cNvSpPr/>
          <p:nvPr/>
        </p:nvSpPr>
        <p:spPr>
          <a:xfrm>
            <a:off x="6552506" y="387665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بيانات الإضافي الشهري 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52E72226-07E7-AA5E-5318-18A3CE93FD6B}"/>
              </a:ext>
            </a:extLst>
          </p:cNvPr>
          <p:cNvSpPr/>
          <p:nvPr/>
        </p:nvSpPr>
        <p:spPr>
          <a:xfrm>
            <a:off x="1717242" y="2546226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تسجيل أيام الغياب 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8970138" y="2546226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مفردات المرتب 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84311932-FC05-5073-6F4F-C8C3C7EF1E92}"/>
              </a:ext>
            </a:extLst>
          </p:cNvPr>
          <p:cNvSpPr/>
          <p:nvPr/>
        </p:nvSpPr>
        <p:spPr>
          <a:xfrm>
            <a:off x="6552506" y="2546226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المفردات الخاصة 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A95DFCED-736A-D623-1F33-1A1519B9F5BA}"/>
              </a:ext>
            </a:extLst>
          </p:cNvPr>
          <p:cNvSpPr/>
          <p:nvPr/>
        </p:nvSpPr>
        <p:spPr>
          <a:xfrm>
            <a:off x="4158087" y="387665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حساب التأمينات 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53B02EF3-DFFF-1E50-5719-86E89817601C}"/>
              </a:ext>
            </a:extLst>
          </p:cNvPr>
          <p:cNvSpPr/>
          <p:nvPr/>
        </p:nvSpPr>
        <p:spPr>
          <a:xfrm>
            <a:off x="4134874" y="541158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مخالصة نهاية الخدمه 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4A77A585-C15C-0660-599C-25F2D76C42C6}"/>
              </a:ext>
            </a:extLst>
          </p:cNvPr>
          <p:cNvSpPr/>
          <p:nvPr/>
        </p:nvSpPr>
        <p:spPr>
          <a:xfrm>
            <a:off x="1758047" y="387665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حساب المخالفات 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4DD6B82E-8EF5-9E5F-825D-F2AE0E66B775}"/>
              </a:ext>
            </a:extLst>
          </p:cNvPr>
          <p:cNvSpPr/>
          <p:nvPr/>
        </p:nvSpPr>
        <p:spPr>
          <a:xfrm>
            <a:off x="8970138" y="541158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تسجيل الاجازات 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75FE5D8C-D5C1-142E-E515-202C75211889}"/>
              </a:ext>
            </a:extLst>
          </p:cNvPr>
          <p:cNvSpPr/>
          <p:nvPr/>
        </p:nvSpPr>
        <p:spPr>
          <a:xfrm>
            <a:off x="8970138" y="3876657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حساب المرضى 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64385A2F-8374-D0D7-8D3B-63FB3EFDF48C}"/>
              </a:ext>
            </a:extLst>
          </p:cNvPr>
          <p:cNvSpPr/>
          <p:nvPr/>
        </p:nvSpPr>
        <p:spPr>
          <a:xfrm>
            <a:off x="4134874" y="2550259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الاستقطاعات ذات الأرصدة </a:t>
            </a:r>
            <a:endParaRPr lang="en-US" sz="1400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4A77A585-C15C-0660-599C-25F2D76C42C6}"/>
              </a:ext>
            </a:extLst>
          </p:cNvPr>
          <p:cNvSpPr/>
          <p:nvPr/>
        </p:nvSpPr>
        <p:spPr>
          <a:xfrm>
            <a:off x="1758407" y="5367328"/>
            <a:ext cx="1397000" cy="1130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مفردات المرتب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العاملين بتطبيق </a:t>
            </a:r>
            <a:r>
              <a:rPr lang="ar-EG" sz="2000" dirty="0">
                <a:solidFill>
                  <a:schemeClr val="bg1"/>
                </a:solidFill>
              </a:rPr>
              <a:t>المفردات المختلفة </a:t>
            </a:r>
            <a:r>
              <a:rPr lang="ar-EG" sz="2000" dirty="0" smtClean="0">
                <a:solidFill>
                  <a:schemeClr val="bg1"/>
                </a:solidFill>
              </a:rPr>
              <a:t>(استحقاقات – استقطاعات) التي </a:t>
            </a:r>
            <a:r>
              <a:rPr lang="ar-EG" sz="2000" dirty="0">
                <a:solidFill>
                  <a:schemeClr val="bg1"/>
                </a:solidFill>
              </a:rPr>
              <a:t>تم تعريفها </a:t>
            </a:r>
            <a:r>
              <a:rPr lang="ar-EG" sz="2000" dirty="0" smtClean="0">
                <a:solidFill>
                  <a:schemeClr val="bg1"/>
                </a:solidFill>
              </a:rPr>
              <a:t>مسبقا على الموظفين حسب تخصص كل موظف.</a:t>
            </a:r>
            <a:endParaRPr lang="ar-EG" sz="2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39" y="1741693"/>
            <a:ext cx="7688687" cy="500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712890" y="3892842"/>
            <a:ext cx="6802079" cy="20264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12889" y="3027811"/>
            <a:ext cx="6802079" cy="20264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522039" y="3062523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استقطاع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22039" y="2536957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استحقاق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المفردات الخاصة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العاملين بتطبيق </a:t>
            </a:r>
            <a:r>
              <a:rPr lang="ar-EG" sz="2000" dirty="0">
                <a:solidFill>
                  <a:schemeClr val="bg1"/>
                </a:solidFill>
              </a:rPr>
              <a:t>المفردات </a:t>
            </a:r>
            <a:r>
              <a:rPr lang="ar-EG" sz="20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الخاصة </a:t>
            </a:r>
            <a:r>
              <a:rPr lang="ar-EG" sz="2000" dirty="0" smtClean="0">
                <a:solidFill>
                  <a:schemeClr val="bg1"/>
                </a:solidFill>
              </a:rPr>
              <a:t>(استحقاقات – استقطاعات) التي </a:t>
            </a:r>
            <a:r>
              <a:rPr lang="ar-EG" sz="2000" dirty="0">
                <a:solidFill>
                  <a:schemeClr val="bg1"/>
                </a:solidFill>
              </a:rPr>
              <a:t>تم تعريفها </a:t>
            </a:r>
            <a:r>
              <a:rPr lang="ar-EG" sz="2000" dirty="0" smtClean="0">
                <a:solidFill>
                  <a:schemeClr val="bg1"/>
                </a:solidFill>
              </a:rPr>
              <a:t>مسبقا على الموظفين حسب تخصص كل موظف.</a:t>
            </a:r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522039" y="3062523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استقطاع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22039" y="2536957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استحقاق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35" y="1702875"/>
            <a:ext cx="8039467" cy="49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67" y="5203066"/>
            <a:ext cx="6991506" cy="2490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252" y="3055521"/>
            <a:ext cx="7043020" cy="25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الاستقطاعات ذات الأرصدة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بتحديد الموظفين الذين عليهم استقطاعات لجهات خارجية، مثل شراء السلع المعمرة التي يتم خصمها من الراتب على شكل أقساط </a:t>
            </a:r>
            <a:r>
              <a:rPr lang="ar-EG" sz="2000" dirty="0" smtClean="0">
                <a:solidFill>
                  <a:schemeClr val="bg1"/>
                </a:solidFill>
              </a:rPr>
              <a:t>متساوية </a:t>
            </a:r>
            <a:r>
              <a:rPr lang="ar-EG" sz="2000" dirty="0">
                <a:solidFill>
                  <a:schemeClr val="bg1"/>
                </a:solidFill>
              </a:rPr>
              <a:t>القيمة </a:t>
            </a:r>
            <a:r>
              <a:rPr lang="ar-EG" sz="2000" dirty="0" smtClean="0">
                <a:solidFill>
                  <a:schemeClr val="bg1"/>
                </a:solidFill>
              </a:rPr>
              <a:t>شهرياً عن </a:t>
            </a:r>
            <a:r>
              <a:rPr lang="ar-EG" sz="2000" dirty="0">
                <a:solidFill>
                  <a:schemeClr val="bg1"/>
                </a:solidFill>
              </a:rPr>
              <a:t>طريق </a:t>
            </a:r>
            <a:r>
              <a:rPr lang="ar-EG" sz="2000" dirty="0" smtClean="0">
                <a:solidFill>
                  <a:schemeClr val="bg1"/>
                </a:solidFill>
              </a:rPr>
              <a:t>الشركة أو سلفة نقدية من الشركة.</a:t>
            </a:r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522039" y="3062523"/>
            <a:ext cx="1484118" cy="350377"/>
          </a:xfrm>
          <a:prstGeom prst="rect">
            <a:avLst/>
          </a:prstGeom>
          <a:noFill/>
          <a:ln w="444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سلفة نقدية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22039" y="2536957"/>
            <a:ext cx="1484118" cy="350377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سلعة معمرة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30" y="1933761"/>
            <a:ext cx="8305590" cy="475037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798265" y="2704563"/>
            <a:ext cx="2718444" cy="182771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98264" y="3253811"/>
            <a:ext cx="2718445" cy="159089"/>
          </a:xfrm>
          <a:prstGeom prst="rect">
            <a:avLst/>
          </a:prstGeom>
          <a:noFill/>
          <a:ln w="444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5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تسجيل أيام الغياب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345512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بتسجيل عدد أيام الحضور لكل موظف، وذلك لكي يتم تحديد عدد أيام الغياب التي ستخصم منه من المرتب </a:t>
            </a:r>
            <a:r>
              <a:rPr lang="ar-EG" sz="2000" dirty="0" smtClean="0">
                <a:solidFill>
                  <a:schemeClr val="bg1"/>
                </a:solidFill>
              </a:rPr>
              <a:t>الشهري (هذا فى حالة استخدام العميل برنامج المرتبات منفصلا).</a:t>
            </a:r>
          </a:p>
          <a:p>
            <a:r>
              <a:rPr lang="ar-EG" sz="2000" dirty="0">
                <a:solidFill>
                  <a:schemeClr val="bg1"/>
                </a:solidFill>
              </a:rPr>
              <a:t>إما في حالة </a:t>
            </a:r>
            <a:r>
              <a:rPr lang="ar-EG" sz="2000" dirty="0" smtClean="0">
                <a:solidFill>
                  <a:schemeClr val="bg1"/>
                </a:solidFill>
              </a:rPr>
              <a:t>استخدام برنامج </a:t>
            </a:r>
            <a:r>
              <a:rPr lang="ar-EG" sz="2000" dirty="0">
                <a:solidFill>
                  <a:schemeClr val="bg1"/>
                </a:solidFill>
              </a:rPr>
              <a:t>الأجور بالإضافة إلى برنامج الحضور والانصراف فإن هذه الحركة </a:t>
            </a:r>
            <a:r>
              <a:rPr lang="ar-EG" sz="2000" dirty="0" smtClean="0">
                <a:solidFill>
                  <a:schemeClr val="bg1"/>
                </a:solidFill>
              </a:rPr>
              <a:t>تحتسب</a:t>
            </a:r>
            <a:endParaRPr lang="ar-EG" sz="2000" dirty="0">
              <a:solidFill>
                <a:schemeClr val="bg1"/>
              </a:solidFill>
            </a:endParaRPr>
          </a:p>
          <a:p>
            <a:r>
              <a:rPr lang="ar-EG" sz="2000" dirty="0">
                <a:solidFill>
                  <a:schemeClr val="bg1"/>
                </a:solidFill>
              </a:rPr>
              <a:t> تلقائياً من بيان الحضور والانصراف </a:t>
            </a:r>
            <a:r>
              <a:rPr lang="ar-EG" sz="2000" dirty="0" smtClean="0">
                <a:solidFill>
                  <a:schemeClr val="bg1"/>
                </a:solidFill>
              </a:rPr>
              <a:t>للموظفين.</a:t>
            </a:r>
            <a:endParaRPr lang="ar-EG" sz="2000" dirty="0">
              <a:solidFill>
                <a:schemeClr val="bg1"/>
              </a:solidFill>
            </a:endParaRPr>
          </a:p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522039" y="3062523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غياب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22039" y="2433926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حضور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942" y="1819724"/>
            <a:ext cx="5758181" cy="472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7438189" y="3657213"/>
            <a:ext cx="7207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05489" y="4219852"/>
            <a:ext cx="7207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4941" y="1882982"/>
            <a:ext cx="1837060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الشاشة تستخدام فى حلة شراء العميل </a:t>
            </a:r>
            <a:r>
              <a:rPr lang="ar-EG" b="1" dirty="0">
                <a:solidFill>
                  <a:schemeClr val="tx1"/>
                </a:solidFill>
              </a:rPr>
              <a:t>برنامج المرتبات منفصلا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5" name="Elbow Connector 4"/>
          <p:cNvCxnSpPr/>
          <p:nvPr/>
        </p:nvCxnSpPr>
        <p:spPr>
          <a:xfrm>
            <a:off x="1159099" y="3832401"/>
            <a:ext cx="1463040" cy="894145"/>
          </a:xfrm>
          <a:prstGeom prst="bentConnector3">
            <a:avLst>
              <a:gd name="adj1" fmla="val 4716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حساب المرضي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بتسجيل الإجازات المرضية للعاملين، ونسبة أجر العامل بناءً على حالته </a:t>
            </a:r>
            <a:r>
              <a:rPr lang="ar-EG" sz="2000" dirty="0" smtClean="0">
                <a:solidFill>
                  <a:schemeClr val="bg1"/>
                </a:solidFill>
              </a:rPr>
              <a:t>الصحية</a:t>
            </a:r>
            <a:r>
              <a:rPr lang="ar-EG" sz="2000" dirty="0">
                <a:solidFill>
                  <a:schemeClr val="bg1"/>
                </a:solidFill>
              </a:rPr>
              <a:t> (هذا فى حالة استخدام العميل برنامج المرتبات منفصلا</a:t>
            </a:r>
            <a:r>
              <a:rPr lang="ar-EG" sz="2000" dirty="0" smtClean="0">
                <a:solidFill>
                  <a:schemeClr val="bg1"/>
                </a:solidFill>
              </a:rPr>
              <a:t>).</a:t>
            </a:r>
          </a:p>
          <a:p>
            <a:r>
              <a:rPr lang="ar-EG" sz="2000" dirty="0" smtClean="0">
                <a:solidFill>
                  <a:schemeClr val="bg1"/>
                </a:solidFill>
              </a:rPr>
              <a:t> </a:t>
            </a:r>
            <a:r>
              <a:rPr lang="ar-EG" sz="2000" dirty="0">
                <a:solidFill>
                  <a:schemeClr val="bg1"/>
                </a:solidFill>
              </a:rPr>
              <a:t>إما في حالة استخدام برنامج الأجور بالإضافة إلى </a:t>
            </a:r>
            <a:r>
              <a:rPr lang="ar-EG" sz="2000" dirty="0" smtClean="0">
                <a:solidFill>
                  <a:schemeClr val="bg1"/>
                </a:solidFill>
              </a:rPr>
              <a:t>برنامج </a:t>
            </a:r>
            <a:r>
              <a:rPr lang="ar-EG" sz="2000" dirty="0">
                <a:solidFill>
                  <a:schemeClr val="bg1"/>
                </a:solidFill>
              </a:rPr>
              <a:t>شئون الأفراد فإن هذه الحركة تحسب تلقائياً من </a:t>
            </a:r>
            <a:r>
              <a:rPr lang="ar-EG" sz="2000" dirty="0" smtClean="0">
                <a:solidFill>
                  <a:schemeClr val="bg1"/>
                </a:solidFill>
              </a:rPr>
              <a:t>بيان إجازات </a:t>
            </a:r>
            <a:r>
              <a:rPr lang="ar-EG" sz="2000" dirty="0">
                <a:solidFill>
                  <a:schemeClr val="bg1"/>
                </a:solidFill>
              </a:rPr>
              <a:t>الموظفين.</a:t>
            </a:r>
          </a:p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354614" y="2444337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ايام المرضى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18" y="1845613"/>
            <a:ext cx="5266437" cy="468770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00289" y="3904631"/>
            <a:ext cx="553792" cy="3465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77185" y="1910912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15288" y="4189466"/>
            <a:ext cx="553792" cy="3465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4941" y="1882982"/>
            <a:ext cx="1837060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الشاشة تستخدام فى حلة شراء العميل </a:t>
            </a:r>
            <a:r>
              <a:rPr lang="ar-EG" b="1" dirty="0">
                <a:solidFill>
                  <a:schemeClr val="tx1"/>
                </a:solidFill>
              </a:rPr>
              <a:t>برنامج المرتبات منفصلا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5" name="Elbow Connector 24"/>
          <p:cNvCxnSpPr/>
          <p:nvPr/>
        </p:nvCxnSpPr>
        <p:spPr>
          <a:xfrm>
            <a:off x="1159099" y="3832401"/>
            <a:ext cx="1463040" cy="894145"/>
          </a:xfrm>
          <a:prstGeom prst="bentConnector3">
            <a:avLst>
              <a:gd name="adj1" fmla="val 4716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بيانات الإضافي الشهري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بتسجيل عدد ساعات الإضافي الخاص بالموظفين</a:t>
            </a:r>
            <a:r>
              <a:rPr lang="ar-EG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ar-EG" sz="2000" dirty="0">
                <a:solidFill>
                  <a:schemeClr val="bg1"/>
                </a:solidFill>
              </a:rPr>
              <a:t>إما في حالة استخدام برنامج الأجور بالإضافة إلى برنامج الحضور والانصراف فإن هذه الحركة </a:t>
            </a:r>
            <a:r>
              <a:rPr lang="ar-EG" sz="2000" dirty="0" smtClean="0">
                <a:solidFill>
                  <a:schemeClr val="bg1"/>
                </a:solidFill>
              </a:rPr>
              <a:t>تحتسب </a:t>
            </a:r>
            <a:r>
              <a:rPr lang="ar-EG" sz="2000" dirty="0">
                <a:solidFill>
                  <a:schemeClr val="bg1"/>
                </a:solidFill>
              </a:rPr>
              <a:t>تلقائياً من بيان الحضور والانصراف للموظفين.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79836" y="1678116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استحقاق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580" y="2131145"/>
            <a:ext cx="7922044" cy="445253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40154" y="2901075"/>
            <a:ext cx="3934264" cy="2908882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4941" y="1882982"/>
            <a:ext cx="1837060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الشاشة تستخدام فى حلة شراء العميل </a:t>
            </a:r>
            <a:r>
              <a:rPr lang="ar-EG" b="1" dirty="0">
                <a:solidFill>
                  <a:schemeClr val="tx1"/>
                </a:solidFill>
              </a:rPr>
              <a:t>برنامج المرتبات منفصلا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3" name="Elbow Connector 22"/>
          <p:cNvCxnSpPr/>
          <p:nvPr/>
        </p:nvCxnSpPr>
        <p:spPr>
          <a:xfrm>
            <a:off x="1159099" y="3832401"/>
            <a:ext cx="1463040" cy="894145"/>
          </a:xfrm>
          <a:prstGeom prst="bentConnector3">
            <a:avLst>
              <a:gd name="adj1" fmla="val 4716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59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حساب التأمينات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</a:t>
            </a:r>
            <a:r>
              <a:rPr lang="ar-EG" sz="2000" dirty="0" smtClean="0">
                <a:solidFill>
                  <a:schemeClr val="bg1"/>
                </a:solidFill>
              </a:rPr>
              <a:t>بادخال الاجرالاساسى </a:t>
            </a:r>
            <a:r>
              <a:rPr lang="ar-EG" sz="2000" dirty="0">
                <a:solidFill>
                  <a:schemeClr val="bg1"/>
                </a:solidFill>
              </a:rPr>
              <a:t>والمتغير </a:t>
            </a:r>
            <a:r>
              <a:rPr lang="ar-EG" sz="2000" dirty="0" smtClean="0">
                <a:solidFill>
                  <a:schemeClr val="bg1"/>
                </a:solidFill>
              </a:rPr>
              <a:t>لجميع العاملين بالشركة طبقا </a:t>
            </a:r>
            <a:r>
              <a:rPr lang="ar-EG" sz="2000" dirty="0">
                <a:solidFill>
                  <a:schemeClr val="bg1"/>
                </a:solidFill>
              </a:rPr>
              <a:t>لمصحلة التأمينات الاجتماعيه على البرنامج كى يقوم البرنامج بحساب التامينات طبقا لقواعد التأمينات المدخله سابقا </a:t>
            </a:r>
            <a:endParaRPr lang="ar-EG" sz="2000" dirty="0" smtClean="0">
              <a:solidFill>
                <a:schemeClr val="bg1"/>
              </a:solidFill>
            </a:endParaRPr>
          </a:p>
          <a:p>
            <a:r>
              <a:rPr lang="ar-EG" sz="2000" dirty="0" smtClean="0">
                <a:solidFill>
                  <a:schemeClr val="bg1"/>
                </a:solidFill>
              </a:rPr>
              <a:t>. </a:t>
            </a:r>
            <a:r>
              <a:rPr lang="ar-EG" sz="2000" dirty="0">
                <a:solidFill>
                  <a:schemeClr val="bg1"/>
                </a:solidFill>
              </a:rPr>
              <a:t>بعد أن ينتهي البرنامج من حساب التأمينات تظهر رسالة بأنه قد تم الانتهاء من حساب التأمينات لكي يمكننا الانتقال إلى خطوة جديدة.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96135" y="1966373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الأجر الأساسى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88" y="1596772"/>
            <a:ext cx="7882300" cy="526922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510797" y="2610092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الأجر المتغير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510797" y="3253811"/>
            <a:ext cx="1484118" cy="614804"/>
          </a:xfrm>
          <a:prstGeom prst="rect">
            <a:avLst/>
          </a:prstGeom>
          <a:noFill/>
          <a:ln w="444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حصة العامل من التأمينات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01060" y="4412893"/>
            <a:ext cx="524158" cy="1354861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56073" y="4412893"/>
            <a:ext cx="522815" cy="135486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651347" y="4412893"/>
            <a:ext cx="524249" cy="1354861"/>
          </a:xfrm>
          <a:prstGeom prst="rect">
            <a:avLst/>
          </a:prstGeom>
          <a:noFill/>
          <a:ln w="444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9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حساب المخالفات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بتسجيل </a:t>
            </a:r>
            <a:r>
              <a:rPr lang="ar-EG" sz="2000" dirty="0" smtClean="0">
                <a:solidFill>
                  <a:schemeClr val="bg1"/>
                </a:solidFill>
              </a:rPr>
              <a:t>مخالفات الموظفين هثل (غياب بدون رصيد – تأخير عن موعد الحضور - ........).</a:t>
            </a:r>
          </a:p>
          <a:p>
            <a:r>
              <a:rPr lang="ar-EG" sz="2000" dirty="0">
                <a:solidFill>
                  <a:schemeClr val="bg1"/>
                </a:solidFill>
              </a:rPr>
              <a:t>إما في حالة استخدام برنامج الأجور بالإضافة إلى برنامج الحضور والانصراف فإن هذه الحركة </a:t>
            </a:r>
            <a:r>
              <a:rPr lang="ar-EG" sz="2000" dirty="0" smtClean="0">
                <a:solidFill>
                  <a:schemeClr val="bg1"/>
                </a:solidFill>
              </a:rPr>
              <a:t>تحتسب </a:t>
            </a:r>
            <a:r>
              <a:rPr lang="ar-EG" sz="2000" dirty="0">
                <a:solidFill>
                  <a:schemeClr val="bg1"/>
                </a:solidFill>
              </a:rPr>
              <a:t>تلقائياً من بيان الحضور والانصراف للموظفين.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79836" y="2001680"/>
            <a:ext cx="1484118" cy="350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استقطاع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3" name="Elbow Connector 22"/>
          <p:cNvCxnSpPr/>
          <p:nvPr/>
        </p:nvCxnSpPr>
        <p:spPr>
          <a:xfrm>
            <a:off x="1159099" y="3832401"/>
            <a:ext cx="1463040" cy="894145"/>
          </a:xfrm>
          <a:prstGeom prst="bentConnector3">
            <a:avLst>
              <a:gd name="adj1" fmla="val 4716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267" y="1972024"/>
            <a:ext cx="7553751" cy="488597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488788" y="3267879"/>
            <a:ext cx="3154296" cy="57859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4941" y="1882982"/>
            <a:ext cx="1837060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الشاشة تستخدام فى حلة شراء العميل </a:t>
            </a:r>
            <a:r>
              <a:rPr lang="ar-EG" b="1" dirty="0">
                <a:solidFill>
                  <a:schemeClr val="tx1"/>
                </a:solidFill>
              </a:rPr>
              <a:t>برنامج المرتبات منفصلا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تسجيل الاجازات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بتسجيل </a:t>
            </a:r>
            <a:r>
              <a:rPr lang="ar-EG" sz="2000" dirty="0" smtClean="0">
                <a:solidFill>
                  <a:schemeClr val="bg1"/>
                </a:solidFill>
              </a:rPr>
              <a:t>أيام الأجازات للموظفين.</a:t>
            </a:r>
          </a:p>
          <a:p>
            <a:r>
              <a:rPr lang="ar-EG" sz="2000" dirty="0">
                <a:solidFill>
                  <a:schemeClr val="bg1"/>
                </a:solidFill>
              </a:rPr>
              <a:t>إما في حالة استخدام برنامج الأجور بالإضافة إلى برنامج الحضور والانصراف فإن هذه الحركة </a:t>
            </a:r>
            <a:r>
              <a:rPr lang="ar-EG" sz="2000" dirty="0" smtClean="0">
                <a:solidFill>
                  <a:schemeClr val="bg1"/>
                </a:solidFill>
              </a:rPr>
              <a:t>تحتسب </a:t>
            </a:r>
            <a:r>
              <a:rPr lang="ar-EG" sz="2000" dirty="0">
                <a:solidFill>
                  <a:schemeClr val="bg1"/>
                </a:solidFill>
              </a:rPr>
              <a:t>تلقائياً من بيان الحضور والانصراف للموظفين.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79836" y="1678116"/>
            <a:ext cx="1484118" cy="35037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استحقاق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4941" y="1882982"/>
            <a:ext cx="1837060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الشاشة تستخدام فى حلة شراء العميل </a:t>
            </a:r>
            <a:r>
              <a:rPr lang="ar-EG" b="1" dirty="0">
                <a:solidFill>
                  <a:schemeClr val="tx1"/>
                </a:solidFill>
              </a:rPr>
              <a:t>برنامج المرتبات منفصلا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3" name="Elbow Connector 22"/>
          <p:cNvCxnSpPr/>
          <p:nvPr/>
        </p:nvCxnSpPr>
        <p:spPr>
          <a:xfrm>
            <a:off x="1159099" y="3832401"/>
            <a:ext cx="1463040" cy="894145"/>
          </a:xfrm>
          <a:prstGeom prst="bentConnector3">
            <a:avLst>
              <a:gd name="adj1" fmla="val 4716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39" y="1779094"/>
            <a:ext cx="7629651" cy="49441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216726" y="2507314"/>
            <a:ext cx="1106660" cy="278089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7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انهاء الخدمه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</a:t>
            </a:r>
            <a:r>
              <a:rPr lang="ar-EG" sz="2000" dirty="0" smtClean="0">
                <a:solidFill>
                  <a:schemeClr val="bg1"/>
                </a:solidFill>
              </a:rPr>
              <a:t>بالدخول على هذه الشاشة وتسجيل البيانات الخاصة بانهاء الخدمة.</a:t>
            </a:r>
          </a:p>
          <a:p>
            <a:r>
              <a:rPr lang="ar-EG" sz="2000" dirty="0" smtClean="0">
                <a:solidFill>
                  <a:schemeClr val="bg1"/>
                </a:solidFill>
              </a:rPr>
              <a:t>.</a:t>
            </a:r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6606" y="3094631"/>
            <a:ext cx="2419643" cy="1949419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u="sng" dirty="0" smtClean="0">
                <a:solidFill>
                  <a:schemeClr val="tx1"/>
                </a:solidFill>
              </a:rPr>
              <a:t>ايام تخصم من مدة الخدمة</a:t>
            </a:r>
          </a:p>
          <a:p>
            <a:pPr algn="ctr"/>
            <a:r>
              <a:rPr lang="ar-EG" b="1" dirty="0" smtClean="0">
                <a:solidFill>
                  <a:schemeClr val="tx1"/>
                </a:solidFill>
              </a:rPr>
              <a:t>هذه الايام يسجلها موظف شئون العاملين بناءا على قرار المدير المباشر للموظف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031" y="1999519"/>
            <a:ext cx="7923801" cy="431603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149969" y="2760262"/>
            <a:ext cx="759655" cy="668738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" name="Curved Connector 5"/>
          <p:cNvCxnSpPr>
            <a:stCxn id="22" idx="3"/>
            <a:endCxn id="16" idx="2"/>
          </p:cNvCxnSpPr>
          <p:nvPr/>
        </p:nvCxnSpPr>
        <p:spPr>
          <a:xfrm flipV="1">
            <a:off x="2686249" y="3429000"/>
            <a:ext cx="1843548" cy="640341"/>
          </a:xfrm>
          <a:prstGeom prst="curvedConnector2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9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مخالصة نهاية الخدمه 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 smtClean="0">
                <a:solidFill>
                  <a:schemeClr val="bg1"/>
                </a:solidFill>
              </a:rPr>
              <a:t>يقوم مسئول شئون </a:t>
            </a:r>
            <a:r>
              <a:rPr lang="ar-EG" sz="2000" dirty="0">
                <a:solidFill>
                  <a:schemeClr val="bg1"/>
                </a:solidFill>
              </a:rPr>
              <a:t>العاملين </a:t>
            </a:r>
            <a:r>
              <a:rPr lang="ar-EG" sz="2000" dirty="0" smtClean="0">
                <a:solidFill>
                  <a:schemeClr val="bg1"/>
                </a:solidFill>
              </a:rPr>
              <a:t>بعمل تسوية لمستحقات الموظف فى نهاية الخدمة </a:t>
            </a:r>
            <a:endParaRPr lang="ar-EG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294" y="1709494"/>
            <a:ext cx="6655279" cy="468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4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xmlns="" id="{709BB2D9-F37B-431A-B3E2-50F2334E65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2" b="4682"/>
          <a:stretch>
            <a:fillRect/>
          </a:stretch>
        </p:blipFill>
        <p:spPr/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24EAF4D1-C6F5-4F3A-874E-E400B6923444}"/>
              </a:ext>
            </a:extLst>
          </p:cNvPr>
          <p:cNvSpPr/>
          <p:nvPr/>
        </p:nvSpPr>
        <p:spPr>
          <a:xfrm>
            <a:off x="0" y="19928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51"/>
          </a:p>
        </p:txBody>
      </p:sp>
      <p:pic>
        <p:nvPicPr>
          <p:cNvPr id="18" name="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13235" y="965952"/>
            <a:ext cx="2521588" cy="5229189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D9A36EB-A2E3-4E1F-A782-CD62FF59EAE7}"/>
              </a:ext>
            </a:extLst>
          </p:cNvPr>
          <p:cNvSpPr txBox="1"/>
          <p:nvPr/>
        </p:nvSpPr>
        <p:spPr>
          <a:xfrm>
            <a:off x="10353036" y="602475"/>
            <a:ext cx="1507144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EG" sz="1051" b="1" spc="300" dirty="0">
                <a:solidFill>
                  <a:schemeClr val="bg1"/>
                </a:solidFill>
              </a:rPr>
              <a:t>4</a:t>
            </a:r>
            <a:r>
              <a:rPr lang="en-US" sz="1051" b="1" spc="300" dirty="0">
                <a:solidFill>
                  <a:schemeClr val="bg1"/>
                </a:solidFill>
              </a:rPr>
              <a:t>S Mobile App</a:t>
            </a:r>
            <a:endParaRPr lang="en-ID" sz="1051" b="1" spc="3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E0F19999-B9F0-4A12-A9CE-C3145D7BDDE7}"/>
              </a:ext>
            </a:extLst>
          </p:cNvPr>
          <p:cNvSpPr txBox="1"/>
          <p:nvPr/>
        </p:nvSpPr>
        <p:spPr>
          <a:xfrm>
            <a:off x="5085010" y="2070571"/>
            <a:ext cx="44623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300" dirty="0">
                <a:solidFill>
                  <a:schemeClr val="bg1"/>
                </a:solidFill>
                <a:latin typeface="+mj-lt"/>
              </a:rPr>
              <a:t>Mobile Apps Development</a:t>
            </a:r>
            <a:endParaRPr lang="en-ID" sz="3200" b="1" spc="3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 flipH="1">
            <a:off x="5168716" y="3351433"/>
            <a:ext cx="5510051" cy="1600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cs typeface="+mj-cs"/>
              </a:rPr>
              <a:t>We have a very specialized team of native mobile application developers.</a:t>
            </a:r>
            <a:endParaRPr lang="ar-EG" sz="2400" b="1" dirty="0">
              <a:solidFill>
                <a:schemeClr val="bg1"/>
              </a:solidFill>
              <a:cs typeface="+mj-cs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bg1"/>
                </a:solidFill>
                <a:cs typeface="+mj-cs"/>
              </a:rPr>
              <a:t>Android Native Apps Development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bg1"/>
                </a:solidFill>
                <a:cs typeface="+mj-cs"/>
              </a:rPr>
              <a:t>IOS Native Apps Development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bg1"/>
                </a:solidFill>
                <a:cs typeface="+mj-cs"/>
              </a:rPr>
              <a:t>UI &amp; UX</a:t>
            </a:r>
          </a:p>
        </p:txBody>
      </p:sp>
      <p:sp>
        <p:nvSpPr>
          <p:cNvPr id="8" name="Rounded Rectangle 7">
            <a:hlinkClick r:id="rId4"/>
          </p:cNvPr>
          <p:cNvSpPr/>
          <p:nvPr/>
        </p:nvSpPr>
        <p:spPr>
          <a:xfrm>
            <a:off x="5168717" y="5140072"/>
            <a:ext cx="1056604" cy="33737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100" dirty="0"/>
              <a:t>Read </a:t>
            </a:r>
            <a:r>
              <a:rPr lang="en-US" sz="1100" dirty="0"/>
              <a:t>More</a:t>
            </a:r>
          </a:p>
        </p:txBody>
      </p:sp>
      <p:sp>
        <p:nvSpPr>
          <p:cNvPr id="25" name="Freeform 24"/>
          <p:cNvSpPr/>
          <p:nvPr/>
        </p:nvSpPr>
        <p:spPr>
          <a:xfrm>
            <a:off x="0" y="1"/>
            <a:ext cx="598941" cy="1546508"/>
          </a:xfrm>
          <a:custGeom>
            <a:avLst/>
            <a:gdLst>
              <a:gd name="connsiteX0" fmla="*/ 0 w 765718"/>
              <a:gd name="connsiteY0" fmla="*/ 0 h 1977137"/>
              <a:gd name="connsiteX1" fmla="*/ 47386 w 765718"/>
              <a:gd name="connsiteY1" fmla="*/ 12184 h 1977137"/>
              <a:gd name="connsiteX2" fmla="*/ 765718 w 765718"/>
              <a:gd name="connsiteY2" fmla="*/ 988568 h 1977137"/>
              <a:gd name="connsiteX3" fmla="*/ 47386 w 765718"/>
              <a:gd name="connsiteY3" fmla="*/ 1964952 h 1977137"/>
              <a:gd name="connsiteX4" fmla="*/ 0 w 765718"/>
              <a:gd name="connsiteY4" fmla="*/ 1977137 h 1977137"/>
              <a:gd name="connsiteX5" fmla="*/ 0 w 765718"/>
              <a:gd name="connsiteY5" fmla="*/ 1640332 h 1977137"/>
              <a:gd name="connsiteX6" fmla="*/ 16535 w 765718"/>
              <a:gd name="connsiteY6" fmla="*/ 1635199 h 1977137"/>
              <a:gd name="connsiteX7" fmla="*/ 445151 w 765718"/>
              <a:gd name="connsiteY7" fmla="*/ 988568 h 1977137"/>
              <a:gd name="connsiteX8" fmla="*/ 16535 w 765718"/>
              <a:gd name="connsiteY8" fmla="*/ 341938 h 1977137"/>
              <a:gd name="connsiteX9" fmla="*/ 0 w 765718"/>
              <a:gd name="connsiteY9" fmla="*/ 336805 h 197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5718" h="1977137">
                <a:moveTo>
                  <a:pt x="0" y="0"/>
                </a:moveTo>
                <a:lnTo>
                  <a:pt x="47386" y="12184"/>
                </a:lnTo>
                <a:cubicBezTo>
                  <a:pt x="463551" y="141625"/>
                  <a:pt x="765718" y="529809"/>
                  <a:pt x="765718" y="988568"/>
                </a:cubicBezTo>
                <a:cubicBezTo>
                  <a:pt x="765718" y="1447328"/>
                  <a:pt x="463551" y="1835512"/>
                  <a:pt x="47386" y="1964952"/>
                </a:cubicBezTo>
                <a:lnTo>
                  <a:pt x="0" y="1977137"/>
                </a:lnTo>
                <a:lnTo>
                  <a:pt x="0" y="1640332"/>
                </a:lnTo>
                <a:lnTo>
                  <a:pt x="16535" y="1635199"/>
                </a:lnTo>
                <a:cubicBezTo>
                  <a:pt x="268415" y="1528663"/>
                  <a:pt x="445151" y="1279255"/>
                  <a:pt x="445151" y="988568"/>
                </a:cubicBezTo>
                <a:cubicBezTo>
                  <a:pt x="445151" y="697882"/>
                  <a:pt x="268415" y="448474"/>
                  <a:pt x="16535" y="341938"/>
                </a:cubicBezTo>
                <a:lnTo>
                  <a:pt x="0" y="33680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2" name="Multiply 21"/>
          <p:cNvSpPr/>
          <p:nvPr/>
        </p:nvSpPr>
        <p:spPr>
          <a:xfrm>
            <a:off x="342193" y="3172252"/>
            <a:ext cx="513496" cy="513496"/>
          </a:xfrm>
          <a:prstGeom prst="mathMultiply">
            <a:avLst>
              <a:gd name="adj1" fmla="val 161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3" name="Isosceles Triangle 22"/>
          <p:cNvSpPr/>
          <p:nvPr/>
        </p:nvSpPr>
        <p:spPr>
          <a:xfrm rot="1420415">
            <a:off x="10978299" y="5533708"/>
            <a:ext cx="263660" cy="227293"/>
          </a:xfrm>
          <a:prstGeom prst="triangl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4" name="Donut 23"/>
          <p:cNvSpPr/>
          <p:nvPr/>
        </p:nvSpPr>
        <p:spPr>
          <a:xfrm>
            <a:off x="10437643" y="4974869"/>
            <a:ext cx="1344972" cy="1344972"/>
          </a:xfrm>
          <a:prstGeom prst="donut">
            <a:avLst>
              <a:gd name="adj" fmla="val 17021"/>
            </a:avLst>
          </a:prstGeom>
          <a:solidFill>
            <a:srgbClr val="2E3094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0F19999-B9F0-4A12-A9CE-C3145D7BDDE7}"/>
              </a:ext>
            </a:extLst>
          </p:cNvPr>
          <p:cNvSpPr txBox="1"/>
          <p:nvPr/>
        </p:nvSpPr>
        <p:spPr>
          <a:xfrm>
            <a:off x="10360256" y="753610"/>
            <a:ext cx="1492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200" dirty="0" smtClean="0">
                <a:solidFill>
                  <a:srgbClr val="2E3094"/>
                </a:solidFill>
                <a:latin typeface="+mj-lt"/>
              </a:rPr>
              <a:t>202</a:t>
            </a:r>
            <a:r>
              <a:rPr lang="ar-EG" sz="3200" b="1" spc="200" dirty="0" smtClean="0">
                <a:solidFill>
                  <a:srgbClr val="2E3094"/>
                </a:solidFill>
                <a:latin typeface="+mj-lt"/>
              </a:rPr>
              <a:t>4</a:t>
            </a:r>
            <a:endParaRPr lang="en-ID" sz="3200" b="1" spc="200" dirty="0">
              <a:solidFill>
                <a:srgbClr val="2E3094"/>
              </a:solidFill>
              <a:latin typeface="+mj-lt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7" r="31217"/>
          <a:stretch>
            <a:fillRect/>
          </a:stretch>
        </p:blipFill>
        <p:spPr/>
      </p:pic>
      <p:sp>
        <p:nvSpPr>
          <p:cNvPr id="26" name="Freeform 8">
            <a:extLst>
              <a:ext uri="{FF2B5EF4-FFF2-40B4-BE49-F238E27FC236}">
                <a16:creationId xmlns:a16="http://schemas.microsoft.com/office/drawing/2014/main" xmlns="" id="{D6F8385B-F3BB-4DAE-8B6D-221B21921378}"/>
              </a:ext>
            </a:extLst>
          </p:cNvPr>
          <p:cNvSpPr/>
          <p:nvPr/>
        </p:nvSpPr>
        <p:spPr>
          <a:xfrm>
            <a:off x="0" y="5257800"/>
            <a:ext cx="2400360" cy="1600200"/>
          </a:xfrm>
          <a:custGeom>
            <a:avLst/>
            <a:gdLst>
              <a:gd name="connsiteX0" fmla="*/ 769203 w 2400360"/>
              <a:gd name="connsiteY0" fmla="*/ 0 h 1600200"/>
              <a:gd name="connsiteX1" fmla="*/ 2393576 w 2400360"/>
              <a:gd name="connsiteY1" fmla="*/ 1465859 h 1600200"/>
              <a:gd name="connsiteX2" fmla="*/ 2400360 w 2400360"/>
              <a:gd name="connsiteY2" fmla="*/ 1600200 h 1600200"/>
              <a:gd name="connsiteX3" fmla="*/ 1864180 w 2400360"/>
              <a:gd name="connsiteY3" fmla="*/ 1600200 h 1600200"/>
              <a:gd name="connsiteX4" fmla="*/ 1860164 w 2400360"/>
              <a:gd name="connsiteY4" fmla="*/ 1520680 h 1600200"/>
              <a:gd name="connsiteX5" fmla="*/ 769203 w 2400360"/>
              <a:gd name="connsiteY5" fmla="*/ 536180 h 1600200"/>
              <a:gd name="connsiteX6" fmla="*/ 156071 w 2400360"/>
              <a:gd name="connsiteY6" fmla="*/ 723466 h 1600200"/>
              <a:gd name="connsiteX7" fmla="*/ 0 w 2400360"/>
              <a:gd name="connsiteY7" fmla="*/ 852236 h 1600200"/>
              <a:gd name="connsiteX8" fmla="*/ 0 w 2400360"/>
              <a:gd name="connsiteY8" fmla="*/ 192693 h 1600200"/>
              <a:gd name="connsiteX9" fmla="*/ 133643 w 2400360"/>
              <a:gd name="connsiteY9" fmla="*/ 128314 h 1600200"/>
              <a:gd name="connsiteX10" fmla="*/ 769203 w 2400360"/>
              <a:gd name="connsiteY10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00360" h="1600200">
                <a:moveTo>
                  <a:pt x="769203" y="0"/>
                </a:moveTo>
                <a:cubicBezTo>
                  <a:pt x="1614614" y="0"/>
                  <a:pt x="2309960" y="642508"/>
                  <a:pt x="2393576" y="1465859"/>
                </a:cubicBezTo>
                <a:lnTo>
                  <a:pt x="2400360" y="1600200"/>
                </a:lnTo>
                <a:lnTo>
                  <a:pt x="1864180" y="1600200"/>
                </a:lnTo>
                <a:lnTo>
                  <a:pt x="1860164" y="1520680"/>
                </a:lnTo>
                <a:cubicBezTo>
                  <a:pt x="1804006" y="967701"/>
                  <a:pt x="1336998" y="536180"/>
                  <a:pt x="769203" y="536180"/>
                </a:cubicBezTo>
                <a:cubicBezTo>
                  <a:pt x="542085" y="536180"/>
                  <a:pt x="331093" y="605224"/>
                  <a:pt x="156071" y="723466"/>
                </a:cubicBezTo>
                <a:lnTo>
                  <a:pt x="0" y="852236"/>
                </a:lnTo>
                <a:lnTo>
                  <a:pt x="0" y="192693"/>
                </a:lnTo>
                <a:lnTo>
                  <a:pt x="133643" y="128314"/>
                </a:lnTo>
                <a:cubicBezTo>
                  <a:pt x="328988" y="45690"/>
                  <a:pt x="543760" y="0"/>
                  <a:pt x="769203" y="0"/>
                </a:cubicBezTo>
                <a:close/>
              </a:path>
            </a:pathLst>
          </a:custGeom>
          <a:solidFill>
            <a:srgbClr val="2E3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F19999-B9F0-4A12-A9CE-C3145D7BDDE7}"/>
              </a:ext>
            </a:extLst>
          </p:cNvPr>
          <p:cNvSpPr txBox="1"/>
          <p:nvPr/>
        </p:nvSpPr>
        <p:spPr>
          <a:xfrm>
            <a:off x="4312212" y="441492"/>
            <a:ext cx="41665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3200" b="1" spc="300" dirty="0" smtClean="0">
                <a:solidFill>
                  <a:schemeClr val="bg1"/>
                </a:solidFill>
                <a:latin typeface="+mj-lt"/>
                <a:cs typeface="+mj-cs"/>
              </a:rPr>
              <a:t>تطبيق الهاتف المحمول</a:t>
            </a:r>
          </a:p>
          <a:p>
            <a:pPr algn="r"/>
            <a:endParaRPr lang="en-ID" sz="3200" b="1" spc="3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105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9" grpId="0"/>
      <p:bldP spid="20" grpId="0"/>
      <p:bldP spid="21" grpId="0"/>
      <p:bldP spid="8" grpId="0" animBg="1"/>
      <p:bldP spid="25" grpId="0" animBg="1"/>
      <p:bldP spid="22" grpId="0" animBg="1"/>
      <p:bldP spid="23" grpId="0" animBg="1"/>
      <p:bldP spid="24" grpId="0" animBg="1"/>
      <p:bldP spid="29" grpId="0"/>
      <p:bldP spid="26" grpId="0" animBg="1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</a:rPr>
              <a:t>مميزات التطبيق</a:t>
            </a: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flipH="1">
            <a:off x="5818909" y="1852174"/>
            <a:ext cx="605443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b="1" dirty="0" smtClean="0">
                <a:latin typeface="Source Sans Pro"/>
                <a:cs typeface="+mj-cs"/>
              </a:rPr>
              <a:t>التطبيق يعمل اونلاين على منصات الكلاود مما يتيح استخدامه فى اى وقت واى مكان.</a:t>
            </a:r>
            <a:endParaRPr lang="en-US" b="1" dirty="0">
              <a:latin typeface="Source Sans Pro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6281501" y="2413465"/>
            <a:ext cx="559184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r" defTabSz="457200" rtl="1">
              <a:buFont typeface="Arial" panose="020B0604020202020204" pitchFamily="34" charset="0"/>
              <a:buChar char="•"/>
            </a:pPr>
            <a:r>
              <a:rPr lang="ar-EG" b="1" dirty="0" smtClean="0">
                <a:latin typeface="Source Sans Pro"/>
                <a:cs typeface="+mj-cs"/>
              </a:rPr>
              <a:t>التطبيق متوافق مع برامج إدارة الموارد البشرية.</a:t>
            </a:r>
            <a:endParaRPr lang="en-US" b="1" dirty="0">
              <a:latin typeface="Source Sans Pro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5597236" y="2777719"/>
            <a:ext cx="627610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0" indent="-171450" algn="r" rtl="1">
              <a:buFont typeface="Arial" panose="020B0604020202020204" pitchFamily="34" charset="0"/>
              <a:buChar char="•"/>
            </a:pPr>
            <a:r>
              <a:rPr lang="ar-EG" b="1" dirty="0" smtClean="0">
                <a:cs typeface="+mj-cs"/>
              </a:rPr>
              <a:t>التطبيق يسمح بتسجيل الحضور والإنصراف لعدد لا نهائي من الموظفين والأفرع دون الحاجة إلى مصاريف إدارية.</a:t>
            </a:r>
            <a:endParaRPr lang="en-US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5818909" y="3437923"/>
            <a:ext cx="60544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0" indent="-171450" algn="r" rtl="1">
              <a:buFont typeface="Arial" panose="020B0604020202020204" pitchFamily="34" charset="0"/>
              <a:buChar char="•"/>
            </a:pPr>
            <a:r>
              <a:rPr lang="ar-EG" b="1" dirty="0" smtClean="0">
                <a:cs typeface="+mj-cs"/>
              </a:rPr>
              <a:t>يمكن استخراج تقارير الحضور والإنصراف على هيئة ملفات اكسيل للتكامل مع أي برامج محاسبية او اجراء العمليات الحسابية يدوياً.</a:t>
            </a:r>
            <a:endParaRPr lang="en-US" b="1" dirty="0"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5818909" y="4094970"/>
            <a:ext cx="605443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0" indent="-171450" algn="r" rtl="1">
              <a:buFont typeface="Arial" panose="020B0604020202020204" pitchFamily="34" charset="0"/>
              <a:buChar char="•"/>
            </a:pPr>
            <a:r>
              <a:rPr lang="ar-EG" b="1" dirty="0" smtClean="0">
                <a:cs typeface="+mj-cs"/>
              </a:rPr>
              <a:t>يقوم التطبيق بتسهيل حركة طلبات الموظفين عن طريق تحويل تقديمها من طلبات ورقية إلى طلبات الكترونية.</a:t>
            </a:r>
            <a:endParaRPr lang="en-US" b="1" dirty="0">
              <a:cs typeface="+mj-cs"/>
            </a:endParaRPr>
          </a:p>
        </p:txBody>
      </p:sp>
      <p:pic>
        <p:nvPicPr>
          <p:cNvPr id="18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2959" flipH="1">
            <a:off x="1472375" y="964414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7" r="31217"/>
          <a:stretch>
            <a:fillRect/>
          </a:stretch>
        </p:blipFill>
        <p:spPr>
          <a:xfrm rot="1212959">
            <a:off x="1610123" y="1594305"/>
            <a:ext cx="2309903" cy="41017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 flipH="1">
            <a:off x="5250872" y="4750091"/>
            <a:ext cx="6622467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EG" b="1" dirty="0" smtClean="0">
                <a:cs typeface="+mj-cs"/>
              </a:rPr>
              <a:t>يقوم الموظفين بإدخال طلباتهم الكترونيا بأنفسهم ومتابعتها من حيث الموافقة أو الرفض بتواجدهم فى العمل، سواء هذا العمل داخل الشركة أو خارجها مثل ( توقيع حضور وانصراف – إذن غياب – تصريح مأمورية – أجازة ).</a:t>
            </a:r>
            <a:endParaRPr lang="en-US" b="1" dirty="0">
              <a:cs typeface="+mj-cs"/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5756893" y="5714890"/>
            <a:ext cx="611644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EG" sz="1600" b="1" dirty="0" smtClean="0">
                <a:cs typeface="+mj-cs"/>
              </a:rPr>
              <a:t>إخطار المديرين بطلبات الموظفين تلقائياً </a:t>
            </a:r>
            <a:r>
              <a:rPr lang="ar-EG" sz="1600" b="1" dirty="0">
                <a:cs typeface="+mj-cs"/>
              </a:rPr>
              <a:t>أ</a:t>
            </a:r>
            <a:r>
              <a:rPr lang="ar-EG" sz="1600" b="1" dirty="0" smtClean="0">
                <a:cs typeface="+mj-cs"/>
              </a:rPr>
              <a:t>و الكترونياً عن طريق البريد الإلكتروني / الهاتف المحمول مع تمكن المديرين من متابعة طلبات الموظفين والتعامل معها من حيث القبول أو الرفض.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280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6" grpId="0"/>
      <p:bldP spid="21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6352">
            <a:off x="1591052" y="1625374"/>
            <a:ext cx="2321906" cy="40732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flipH="1">
            <a:off x="6830291" y="1897348"/>
            <a:ext cx="4794557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الشاشة الأولى</a:t>
            </a:r>
            <a:endParaRPr lang="en-US" sz="2400" b="1" u="sng" dirty="0" smtClean="0">
              <a:solidFill>
                <a:prstClr val="black">
                  <a:lumMod val="75000"/>
                  <a:lumOff val="2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endParaRPr lang="en-US" sz="2400" b="1" dirty="0" smtClean="0">
              <a:solidFill>
                <a:prstClr val="black">
                  <a:lumMod val="75000"/>
                  <a:lumOff val="2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r>
              <a:rPr lang="ar-EG" sz="2400" dirty="0">
                <a:latin typeface="Source Sans Pro"/>
                <a:cs typeface="+mj-cs"/>
              </a:rPr>
              <a:t>يتم فتح البرنامج هذه الشاشة لبدء تشغيل وضبط التطبيق</a:t>
            </a: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.</a:t>
            </a:r>
            <a:endParaRPr lang="ar-EG" sz="2400" b="1" dirty="0" smtClean="0">
              <a:solidFill>
                <a:prstClr val="black">
                  <a:lumMod val="75000"/>
                  <a:lumOff val="2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r>
              <a:rPr lang="ar-EG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 </a:t>
            </a:r>
            <a:r>
              <a:rPr lang="ar-EG" sz="2400" dirty="0" smtClean="0">
                <a:latin typeface="Source Sans Pro"/>
                <a:cs typeface="+mj-cs"/>
              </a:rPr>
              <a:t>تعرض اسم </a:t>
            </a:r>
            <a:r>
              <a:rPr lang="ar-EG" sz="2400" dirty="0">
                <a:latin typeface="Source Sans Pro"/>
                <a:cs typeface="+mj-cs"/>
              </a:rPr>
              <a:t>البرنامج </a:t>
            </a:r>
            <a:r>
              <a:rPr lang="ar-EG" sz="2400" dirty="0" smtClean="0">
                <a:latin typeface="Source Sans Pro"/>
                <a:cs typeface="+mj-cs"/>
              </a:rPr>
              <a:t>ويمكن من خلالها اختيار اللغة المراد استخدامها.</a:t>
            </a:r>
          </a:p>
        </p:txBody>
      </p:sp>
      <p:sp>
        <p:nvSpPr>
          <p:cNvPr id="16" name="Rectangle 15"/>
          <p:cNvSpPr/>
          <p:nvPr/>
        </p:nvSpPr>
        <p:spPr>
          <a:xfrm rot="1264185">
            <a:off x="2260865" y="5148371"/>
            <a:ext cx="1028379" cy="274062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rot="1253273">
            <a:off x="1158983" y="4739777"/>
            <a:ext cx="1028379" cy="27406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39339" y="5030706"/>
            <a:ext cx="1028379" cy="350173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English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639338" y="4525178"/>
            <a:ext cx="1028379" cy="35163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solidFill>
                  <a:schemeClr val="tx1"/>
                </a:solidFill>
              </a:rPr>
              <a:t>عربى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03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شاشات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/>
          <p:cNvSpPr txBox="1"/>
          <p:nvPr/>
        </p:nvSpPr>
        <p:spPr>
          <a:xfrm flipH="1">
            <a:off x="7248227" y="1939854"/>
            <a:ext cx="441949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الشاشة الثانية</a:t>
            </a:r>
            <a:endParaRPr lang="en-US" sz="2400" b="1" u="sng" dirty="0" smtClean="0">
              <a:solidFill>
                <a:prstClr val="black">
                  <a:lumMod val="75000"/>
                  <a:lumOff val="2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r>
              <a:rPr lang="ar-EG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 </a:t>
            </a:r>
            <a:r>
              <a:rPr lang="ar-EG" sz="2400" b="1" dirty="0" smtClean="0">
                <a:latin typeface="Source Sans Pro"/>
                <a:cs typeface="+mj-cs"/>
              </a:rPr>
              <a:t>يقوم المستخدم </a:t>
            </a:r>
            <a:r>
              <a:rPr lang="ar-EG" sz="2400" dirty="0" smtClean="0">
                <a:latin typeface="Source Sans Pro"/>
                <a:cs typeface="+mj-cs"/>
              </a:rPr>
              <a:t>بتسجيل اسم الشركة المستخدمة للتطبيق</a:t>
            </a:r>
          </a:p>
          <a:p>
            <a:pPr algn="r" defTabSz="457200" rtl="1"/>
            <a:r>
              <a:rPr lang="ar-EG" sz="2400" dirty="0" smtClean="0">
                <a:latin typeface="Source Sans Pro"/>
                <a:cs typeface="+mj-cs"/>
              </a:rPr>
              <a:t> ثم الضغط على </a:t>
            </a:r>
            <a:r>
              <a:rPr lang="en-US" sz="2400" dirty="0" smtClean="0">
                <a:latin typeface="Source Sans Pro"/>
                <a:cs typeface="+mj-cs"/>
              </a:rPr>
              <a:t>OK</a:t>
            </a:r>
            <a:endParaRPr lang="ar-EG" sz="2400" b="1" dirty="0" smtClean="0">
              <a:latin typeface="Montserrat Black"/>
              <a:cs typeface="+mj-cs"/>
            </a:endParaRPr>
          </a:p>
        </p:txBody>
      </p:sp>
      <p:pic>
        <p:nvPicPr>
          <p:cNvPr id="23" name="Picture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2" r="6992"/>
          <a:stretch>
            <a:fillRect/>
          </a:stretch>
        </p:blipFill>
        <p:spPr>
          <a:xfrm rot="1226800">
            <a:off x="1542896" y="1617604"/>
            <a:ext cx="2372635" cy="4076611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sp>
        <p:nvSpPr>
          <p:cNvPr id="24" name="Rectangle 23"/>
          <p:cNvSpPr/>
          <p:nvPr/>
        </p:nvSpPr>
        <p:spPr>
          <a:xfrm rot="1253273">
            <a:off x="1970635" y="3348812"/>
            <a:ext cx="1627043" cy="31835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 rot="1253273">
            <a:off x="1163676" y="5120423"/>
            <a:ext cx="1627043" cy="318358"/>
          </a:xfrm>
          <a:prstGeom prst="rect">
            <a:avLst/>
          </a:prstGeom>
          <a:noFill/>
          <a:ln w="444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8" name="Elbow Connector 27"/>
          <p:cNvCxnSpPr/>
          <p:nvPr/>
        </p:nvCxnSpPr>
        <p:spPr>
          <a:xfrm rot="10800000" flipV="1">
            <a:off x="3600968" y="2493851"/>
            <a:ext cx="4527888" cy="1014139"/>
          </a:xfrm>
          <a:prstGeom prst="bentConnector3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10800000" flipV="1">
            <a:off x="2923309" y="3255817"/>
            <a:ext cx="6705600" cy="2202873"/>
          </a:xfrm>
          <a:prstGeom prst="bentConnector3">
            <a:avLst/>
          </a:prstGeom>
          <a:ln w="444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92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/>
          <p:cNvSpPr txBox="1"/>
          <p:nvPr/>
        </p:nvSpPr>
        <p:spPr>
          <a:xfrm flipH="1">
            <a:off x="7079673" y="1899606"/>
            <a:ext cx="4648704" cy="21852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2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الشاشة الثالثة </a:t>
            </a:r>
          </a:p>
          <a:p>
            <a:pPr algn="r" defTabSz="457200" rtl="1"/>
            <a:r>
              <a:rPr lang="ar-EG" sz="2400" dirty="0" smtClean="0">
                <a:latin typeface="Montserrat Black"/>
                <a:cs typeface="+mj-cs"/>
              </a:rPr>
              <a:t>يقوم المستخدم من خلال هذه </a:t>
            </a:r>
            <a:r>
              <a:rPr lang="ar-EG" sz="2400" dirty="0">
                <a:latin typeface="Montserrat Black"/>
                <a:cs typeface="+mj-cs"/>
              </a:rPr>
              <a:t>الشاشة </a:t>
            </a:r>
            <a:r>
              <a:rPr lang="ar-EG" sz="2400" dirty="0" smtClean="0">
                <a:latin typeface="Montserrat Black"/>
                <a:cs typeface="+mj-cs"/>
              </a:rPr>
              <a:t>بتسجيل </a:t>
            </a:r>
            <a:r>
              <a:rPr lang="ar-EG" sz="2400" dirty="0">
                <a:latin typeface="Montserrat Black"/>
                <a:cs typeface="+mj-cs"/>
              </a:rPr>
              <a:t>الدخول </a:t>
            </a:r>
            <a:r>
              <a:rPr lang="ar-EG" sz="2400" dirty="0" smtClean="0">
                <a:latin typeface="Montserrat Black"/>
                <a:cs typeface="+mj-cs"/>
              </a:rPr>
              <a:t>عن طريق إدخال : 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b="1" dirty="0" smtClean="0">
                <a:latin typeface="Montserrat Black"/>
                <a:cs typeface="+mj-cs"/>
              </a:rPr>
              <a:t>الكود</a:t>
            </a:r>
            <a:r>
              <a:rPr lang="ar-EG" sz="2400" dirty="0">
                <a:latin typeface="Montserrat Black"/>
                <a:cs typeface="+mj-cs"/>
              </a:rPr>
              <a:t>: يتم ادخال الكود الخاص بالموظف . </a:t>
            </a:r>
            <a:endParaRPr lang="ar-EG" sz="2400" dirty="0" smtClean="0">
              <a:latin typeface="Montserrat Black"/>
              <a:cs typeface="+mj-cs"/>
            </a:endParaRP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b="1" dirty="0" smtClean="0">
                <a:latin typeface="Montserrat Black"/>
                <a:cs typeface="+mj-cs"/>
              </a:rPr>
              <a:t>كلمه </a:t>
            </a:r>
            <a:r>
              <a:rPr lang="ar-EG" sz="2400" b="1" dirty="0">
                <a:latin typeface="Montserrat Black"/>
                <a:cs typeface="+mj-cs"/>
              </a:rPr>
              <a:t>المرور</a:t>
            </a:r>
            <a:r>
              <a:rPr lang="ar-EG" sz="2400" dirty="0">
                <a:latin typeface="Montserrat Black"/>
                <a:cs typeface="+mj-cs"/>
              </a:rPr>
              <a:t>: يتم ادخال كلمة </a:t>
            </a:r>
            <a:r>
              <a:rPr lang="ar-EG" sz="2400" dirty="0" smtClean="0">
                <a:latin typeface="Montserrat Black"/>
                <a:cs typeface="+mj-cs"/>
              </a:rPr>
              <a:t>المرور.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dirty="0" smtClean="0">
                <a:latin typeface="Montserrat Black"/>
                <a:cs typeface="+mj-cs"/>
              </a:rPr>
              <a:t>الضغط </a:t>
            </a:r>
            <a:r>
              <a:rPr lang="ar-EG" sz="2400" dirty="0">
                <a:latin typeface="Montserrat Black"/>
                <a:cs typeface="+mj-cs"/>
              </a:rPr>
              <a:t>على تسجيل الدخول لفتح </a:t>
            </a:r>
            <a:r>
              <a:rPr lang="ar-EG" sz="2400" dirty="0" smtClean="0">
                <a:latin typeface="Montserrat Black"/>
                <a:cs typeface="+mj-cs"/>
              </a:rPr>
              <a:t>البرنامج</a:t>
            </a:r>
            <a:endParaRPr lang="ar-EG" sz="2400" b="1" dirty="0" smtClean="0">
              <a:latin typeface="Montserrat Black"/>
              <a:cs typeface="+mj-cs"/>
            </a:endParaRPr>
          </a:p>
        </p:txBody>
      </p:sp>
      <p:pic>
        <p:nvPicPr>
          <p:cNvPr id="23" name="Picture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3" b="8883"/>
          <a:stretch>
            <a:fillRect/>
          </a:stretch>
        </p:blipFill>
        <p:spPr>
          <a:xfrm rot="1214571">
            <a:off x="1567751" y="1586468"/>
            <a:ext cx="2332647" cy="4126924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792" y="2419528"/>
            <a:ext cx="1121761" cy="68890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1264185">
            <a:off x="1878548" y="2939674"/>
            <a:ext cx="1028379" cy="274062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" name="Curved Connector 5"/>
          <p:cNvCxnSpPr/>
          <p:nvPr/>
        </p:nvCxnSpPr>
        <p:spPr>
          <a:xfrm rot="10800000">
            <a:off x="3186546" y="2763982"/>
            <a:ext cx="4281055" cy="344454"/>
          </a:xfrm>
          <a:prstGeom prst="curvedConnector3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10800000">
            <a:off x="2989751" y="3254104"/>
            <a:ext cx="4859497" cy="341007"/>
          </a:xfrm>
          <a:prstGeom prst="curvedConnector3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/>
          <p:nvPr/>
        </p:nvCxnSpPr>
        <p:spPr>
          <a:xfrm rot="10800000" flipV="1">
            <a:off x="3559322" y="4030678"/>
            <a:ext cx="3807849" cy="293843"/>
          </a:xfrm>
          <a:prstGeom prst="curvedConnector3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18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/>
          <p:cNvSpPr txBox="1"/>
          <p:nvPr/>
        </p:nvSpPr>
        <p:spPr>
          <a:xfrm flipH="1">
            <a:off x="7943298" y="1918114"/>
            <a:ext cx="3705897" cy="19082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8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الشاشة الرابعة </a:t>
            </a:r>
          </a:p>
          <a:p>
            <a:pPr algn="r" defTabSz="457200" rtl="1"/>
            <a:r>
              <a:rPr lang="ar-EG" sz="2400" dirty="0" smtClean="0">
                <a:latin typeface="Montserrat Black"/>
                <a:cs typeface="+mj-cs"/>
              </a:rPr>
              <a:t>يقوم المستخدم بتفعيل الموقع</a:t>
            </a:r>
          </a:p>
          <a:p>
            <a:pPr algn="r" defTabSz="457200" rtl="1"/>
            <a:r>
              <a:rPr lang="ar-EG" sz="2400" dirty="0" smtClean="0">
                <a:latin typeface="Montserrat Black"/>
                <a:cs typeface="+mj-cs"/>
              </a:rPr>
              <a:t>حيث تظهر </a:t>
            </a:r>
            <a:r>
              <a:rPr lang="ar-EG" sz="2400" dirty="0">
                <a:latin typeface="Montserrat Black"/>
                <a:cs typeface="+mj-cs"/>
              </a:rPr>
              <a:t>هذه الشاشه لتفعيل </a:t>
            </a:r>
            <a:r>
              <a:rPr lang="ar-EG" sz="2400" dirty="0" smtClean="0">
                <a:latin typeface="Montserrat Black"/>
                <a:cs typeface="+mj-cs"/>
              </a:rPr>
              <a:t>الموقع على البرنامج </a:t>
            </a:r>
            <a:r>
              <a:rPr lang="ar-EG" sz="2400" dirty="0">
                <a:latin typeface="Montserrat Black"/>
                <a:cs typeface="+mj-cs"/>
              </a:rPr>
              <a:t>و </a:t>
            </a:r>
            <a:r>
              <a:rPr lang="ar-EG" sz="2400" dirty="0" smtClean="0">
                <a:latin typeface="Montserrat Black"/>
                <a:cs typeface="+mj-cs"/>
              </a:rPr>
              <a:t>نقوم هنا </a:t>
            </a:r>
            <a:r>
              <a:rPr lang="ar-EG" sz="2400" dirty="0">
                <a:latin typeface="Montserrat Black"/>
                <a:cs typeface="+mj-cs"/>
              </a:rPr>
              <a:t>بالضغط على </a:t>
            </a:r>
            <a:r>
              <a:rPr lang="ar-EG" sz="2400" dirty="0" smtClean="0">
                <a:latin typeface="Montserrat Black"/>
                <a:cs typeface="+mj-cs"/>
              </a:rPr>
              <a:t>تفعيل</a:t>
            </a:r>
            <a:endParaRPr lang="ar-EG" sz="2400" b="1" dirty="0" smtClean="0">
              <a:latin typeface="Montserrat Black"/>
              <a:cs typeface="+mj-cs"/>
            </a:endParaRPr>
          </a:p>
        </p:txBody>
      </p:sp>
      <p:pic>
        <p:nvPicPr>
          <p:cNvPr id="23" name="Picture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7" r="9787"/>
          <a:stretch>
            <a:fillRect/>
          </a:stretch>
        </p:blipFill>
        <p:spPr>
          <a:xfrm rot="1217943">
            <a:off x="1598234" y="1613096"/>
            <a:ext cx="2280884" cy="4094958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cxnSp>
        <p:nvCxnSpPr>
          <p:cNvPr id="5" name="Curved Connector 4"/>
          <p:cNvCxnSpPr/>
          <p:nvPr/>
        </p:nvCxnSpPr>
        <p:spPr>
          <a:xfrm rot="10800000" flipV="1">
            <a:off x="3726874" y="3325090"/>
            <a:ext cx="4216425" cy="886691"/>
          </a:xfrm>
          <a:prstGeom prst="curvedConnector3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6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/>
          <p:cNvSpPr txBox="1"/>
          <p:nvPr/>
        </p:nvSpPr>
        <p:spPr>
          <a:xfrm flipH="1">
            <a:off x="6747164" y="1837327"/>
            <a:ext cx="5058669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الشاشة الرئيسية </a:t>
            </a:r>
          </a:p>
          <a:p>
            <a:pPr algn="r" defTabSz="457200" rtl="1"/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يقوم المستخدم من خلال هذه الشاشة تظهر الاتى </a:t>
            </a:r>
            <a:r>
              <a:rPr lang="ar-EG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: </a:t>
            </a:r>
            <a:endParaRPr lang="ar-EG" sz="2400" dirty="0" smtClean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</a:t>
            </a: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جازة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مأمورية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تصريح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علامة البصمة لتسجيل </a:t>
            </a:r>
            <a:r>
              <a:rPr lang="ar-EG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الحضور </a:t>
            </a:r>
            <a:r>
              <a:rPr lang="ar-EG" sz="2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والإنصراف</a:t>
            </a:r>
            <a:endParaRPr lang="ar-EG" sz="2400" b="1" dirty="0" smtClean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  <p:pic>
        <p:nvPicPr>
          <p:cNvPr id="23" name="Picture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3" b="8883"/>
          <a:stretch>
            <a:fillRect/>
          </a:stretch>
        </p:blipFill>
        <p:spPr>
          <a:xfrm rot="1222079">
            <a:off x="1584112" y="1617920"/>
            <a:ext cx="2309312" cy="4081183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sp>
        <p:nvSpPr>
          <p:cNvPr id="24" name="Rectangle 23"/>
          <p:cNvSpPr/>
          <p:nvPr/>
        </p:nvSpPr>
        <p:spPr>
          <a:xfrm rot="1200000">
            <a:off x="2465497" y="1753393"/>
            <a:ext cx="428549" cy="39528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 rot="1200000">
            <a:off x="2988295" y="1954731"/>
            <a:ext cx="428549" cy="395285"/>
          </a:xfrm>
          <a:prstGeom prst="rect">
            <a:avLst/>
          </a:prstGeom>
          <a:noFill/>
          <a:ln w="444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rot="1200000">
            <a:off x="3542247" y="2176056"/>
            <a:ext cx="428549" cy="39528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153650" y="3048000"/>
            <a:ext cx="221052" cy="190937"/>
          </a:xfrm>
          <a:prstGeom prst="rect">
            <a:avLst/>
          </a:prstGeom>
          <a:noFill/>
          <a:ln w="444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153650" y="2675167"/>
            <a:ext cx="221052" cy="1909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153650" y="3390900"/>
            <a:ext cx="221052" cy="190937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0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Placeholder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" t="1400" r="-1253" b="34170"/>
          <a:stretch/>
        </p:blipFill>
        <p:spPr>
          <a:xfrm rot="1200000">
            <a:off x="1563694" y="1599515"/>
            <a:ext cx="2368976" cy="4138915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sp>
        <p:nvSpPr>
          <p:cNvPr id="23" name="TextBox 22"/>
          <p:cNvSpPr txBox="1"/>
          <p:nvPr/>
        </p:nvSpPr>
        <p:spPr>
          <a:xfrm flipH="1">
            <a:off x="7162800" y="1790069"/>
            <a:ext cx="4174246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u="sng" dirty="0">
                <a:latin typeface="Source Sans Pro"/>
                <a:cs typeface="+mj-cs"/>
              </a:rPr>
              <a:t>شاشة الحضور و </a:t>
            </a:r>
            <a:r>
              <a:rPr lang="ar-EG" sz="2400" b="1" u="sng" dirty="0" smtClean="0">
                <a:latin typeface="Source Sans Pro"/>
                <a:cs typeface="+mj-cs"/>
              </a:rPr>
              <a:t>الإنصراف : </a:t>
            </a:r>
          </a:p>
          <a:p>
            <a:pPr algn="r" defTabSz="457200" rtl="1"/>
            <a:endParaRPr lang="ar-EG" sz="2400" b="1" u="sng" dirty="0">
              <a:solidFill>
                <a:prstClr val="black">
                  <a:lumMod val="75000"/>
                  <a:lumOff val="2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r>
              <a:rPr lang="ar-EG" sz="2400" b="1" dirty="0" smtClean="0">
                <a:latin typeface="Source Sans Pro"/>
                <a:cs typeface="+mj-cs"/>
              </a:rPr>
              <a:t>يقوم المستخدم بتسجيل الحضور، ولا يمكن تسجيل انصراف إلا فى يوم تم فيه تسجيل الحضور مع استخدام البصمة للموبايل </a:t>
            </a:r>
            <a:r>
              <a:rPr lang="ar-EG" sz="2400" b="1" dirty="0">
                <a:latin typeface="Source Sans Pro"/>
                <a:cs typeface="+mj-cs"/>
              </a:rPr>
              <a:t>. </a:t>
            </a:r>
            <a:endParaRPr lang="ar-EG" sz="2400" b="1" dirty="0" smtClean="0">
              <a:latin typeface="Source Sans Pro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 rot="1253273">
            <a:off x="2140748" y="2900562"/>
            <a:ext cx="1214866" cy="89501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" name="Curved Connector 5"/>
          <p:cNvCxnSpPr/>
          <p:nvPr/>
        </p:nvCxnSpPr>
        <p:spPr>
          <a:xfrm rot="10800000" flipV="1">
            <a:off x="3429000" y="3582058"/>
            <a:ext cx="3924300" cy="79933"/>
          </a:xfrm>
          <a:prstGeom prst="curvedConnector3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57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 flipH="1">
            <a:off x="6306351" y="2289396"/>
            <a:ext cx="5124799" cy="2277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8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شاشة الحساب </a:t>
            </a:r>
            <a:r>
              <a:rPr lang="ar-EG" sz="28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الشخصي </a:t>
            </a:r>
          </a:p>
          <a:p>
            <a:pPr algn="r" defTabSz="457200" rtl="1"/>
            <a:r>
              <a:rPr lang="ar-EG" sz="2400" b="1" dirty="0" smtClean="0">
                <a:latin typeface="Montserrat Black"/>
                <a:cs typeface="+mj-cs"/>
              </a:rPr>
              <a:t>يظهر فى هذه الشاشة الحساب الشخصي </a:t>
            </a:r>
            <a:r>
              <a:rPr lang="ar-EG" sz="2400" b="1" dirty="0">
                <a:latin typeface="Montserrat Black"/>
                <a:cs typeface="+mj-cs"/>
              </a:rPr>
              <a:t>الخاص </a:t>
            </a:r>
            <a:r>
              <a:rPr lang="ar-EG" sz="2400" b="1" dirty="0" smtClean="0">
                <a:latin typeface="Montserrat Black"/>
                <a:cs typeface="+mj-cs"/>
              </a:rPr>
              <a:t>بالموظف (مستخدم التطبيق)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b="1" dirty="0" smtClean="0">
                <a:latin typeface="Montserrat Black"/>
                <a:cs typeface="+mj-cs"/>
              </a:rPr>
              <a:t>اظهار </a:t>
            </a:r>
            <a:r>
              <a:rPr lang="ar-EG" sz="2400" b="1" dirty="0">
                <a:latin typeface="Montserrat Black"/>
                <a:cs typeface="+mj-cs"/>
              </a:rPr>
              <a:t>الكود الخاص </a:t>
            </a:r>
            <a:r>
              <a:rPr lang="ar-EG" sz="2400" b="1" dirty="0" smtClean="0">
                <a:latin typeface="Montserrat Black"/>
                <a:cs typeface="+mj-cs"/>
              </a:rPr>
              <a:t>به.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b="1" dirty="0" smtClean="0">
                <a:latin typeface="Montserrat Black"/>
                <a:cs typeface="+mj-cs"/>
              </a:rPr>
              <a:t>اظهار الوظيفة.</a:t>
            </a:r>
          </a:p>
          <a:p>
            <a:pPr marL="342900" indent="-342900" algn="r" defTabSz="457200" rtl="1">
              <a:buFont typeface="Arial" panose="020B0604020202020204" pitchFamily="34" charset="0"/>
              <a:buChar char="•"/>
            </a:pPr>
            <a:r>
              <a:rPr lang="ar-EG" sz="2400" b="1" dirty="0" smtClean="0">
                <a:latin typeface="Montserrat Black"/>
                <a:cs typeface="+mj-cs"/>
              </a:rPr>
              <a:t>البريد الالكترونى للموظف.</a:t>
            </a:r>
          </a:p>
        </p:txBody>
      </p:sp>
      <p:pic>
        <p:nvPicPr>
          <p:cNvPr id="16" name="Picture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9" r="18339"/>
          <a:stretch>
            <a:fillRect/>
          </a:stretch>
        </p:blipFill>
        <p:spPr>
          <a:xfrm rot="1237044">
            <a:off x="1563421" y="1580398"/>
            <a:ext cx="2307930" cy="4115374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</p:spTree>
    <p:extLst>
      <p:ext uri="{BB962C8B-B14F-4D97-AF65-F5344CB8AC3E}">
        <p14:creationId xmlns:p14="http://schemas.microsoft.com/office/powerpoint/2010/main" val="40993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 flipH="1">
            <a:off x="6877050" y="1999998"/>
            <a:ext cx="4517988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32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شاشة </a:t>
            </a:r>
            <a:r>
              <a:rPr lang="ar-EG" sz="32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ontserrat Black"/>
                <a:cs typeface="+mj-cs"/>
              </a:rPr>
              <a:t>طلباتى</a:t>
            </a:r>
          </a:p>
          <a:p>
            <a:pPr algn="r" defTabSz="457200" rtl="1"/>
            <a:r>
              <a:rPr lang="ar-EG" sz="2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يقوم المستخدم من هذه الشاشة مراجعة الطلبات </a:t>
            </a:r>
            <a:r>
              <a:rPr lang="ar-EG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الخاصه </a:t>
            </a:r>
            <a:r>
              <a:rPr lang="ar-EG" sz="2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به من( حضور-انصراف – مأمورية – اجازة – تصريح)</a:t>
            </a:r>
          </a:p>
          <a:p>
            <a:pPr algn="r" defTabSz="457200" rtl="1"/>
            <a:r>
              <a:rPr lang="ar-EG" sz="2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ويكون </a:t>
            </a:r>
            <a:r>
              <a:rPr lang="ar-EG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مرفق بكل طلب البيانات </a:t>
            </a:r>
            <a:r>
              <a:rPr lang="ar-EG" sz="2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الخاصه </a:t>
            </a:r>
            <a:r>
              <a:rPr lang="ar-EG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به من تاريخ و </a:t>
            </a:r>
            <a:r>
              <a:rPr lang="ar-EG" sz="2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Montserrat Black"/>
                <a:cs typeface="+mj-cs"/>
              </a:rPr>
              <a:t>وقت</a:t>
            </a:r>
          </a:p>
        </p:txBody>
      </p:sp>
      <p:pic>
        <p:nvPicPr>
          <p:cNvPr id="16" name="Picture Placeholder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6" b="32070"/>
          <a:stretch/>
        </p:blipFill>
        <p:spPr>
          <a:xfrm rot="1227285">
            <a:off x="1598050" y="1616983"/>
            <a:ext cx="2285830" cy="4124445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</p:spTree>
    <p:extLst>
      <p:ext uri="{BB962C8B-B14F-4D97-AF65-F5344CB8AC3E}">
        <p14:creationId xmlns:p14="http://schemas.microsoft.com/office/powerpoint/2010/main" val="393966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 flipH="1">
            <a:off x="5695950" y="2246962"/>
            <a:ext cx="5963460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شاشة البحث </a:t>
            </a:r>
          </a:p>
          <a:p>
            <a:pPr algn="r" defTabSz="457200" rtl="1"/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يقوم المستخدم بعمل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طلب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بحث جديد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و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البحث عن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طلب معين بالضغط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على بحث لتظهر هذه الشاشه.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للبحث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عن طلب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معين وادخال البيانات المطلوبة 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التاريخ: تحديد التاريخ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من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فترة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إ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لى فتره.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نوع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الطلب: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يتم اختيار نوع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الطلب إ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ن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كان حضور و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انصراف، 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أجازة خاصة،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جازة اعتيادية، تصريح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رقم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الطلب: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يتم إدخال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رقم الطلب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إذا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كان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الموظف على علم به.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الحالة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: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يتم اختيار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تم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الموافقة عليها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/ بانتظار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الموافقة عليه.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الترتيب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: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يتم اختيار الترتيب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من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الأحدث/من الاقدم.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تصنيف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: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يتم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الضغط على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تصنيف اظهارالطلب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الذى تم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إدخال بياناته.</a:t>
            </a:r>
          </a:p>
          <a:p>
            <a:pPr marL="285750" indent="-285750" algn="r" defTabSz="457200" rtl="1"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إعادة الملئ: يتم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الضغط على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إعادة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ملئ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الإستمارة لإعادة </a:t>
            </a:r>
            <a:r>
              <a:rPr lang="ar-EG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البحث </a:t>
            </a:r>
            <a:r>
              <a:rPr lang="ar-EG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مرة أخرى.</a:t>
            </a:r>
            <a:endParaRPr lang="en-US" sz="2000" b="1" dirty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  <p:pic>
        <p:nvPicPr>
          <p:cNvPr id="16" name="Picture Placeholder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" t="-460" r="-1194" b="13511"/>
          <a:stretch/>
        </p:blipFill>
        <p:spPr>
          <a:xfrm rot="1200000">
            <a:off x="1615290" y="1604948"/>
            <a:ext cx="2276152" cy="4090081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</p:spTree>
    <p:extLst>
      <p:ext uri="{BB962C8B-B14F-4D97-AF65-F5344CB8AC3E}">
        <p14:creationId xmlns:p14="http://schemas.microsoft.com/office/powerpoint/2010/main" val="120855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 flipH="1">
            <a:off x="8915400" y="1865452"/>
            <a:ext cx="28194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شاشة الأجازات</a:t>
            </a:r>
          </a:p>
          <a:p>
            <a:pPr algn="r" defTabSz="457200" rtl="1"/>
            <a:r>
              <a:rPr lang="ar-E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يقوم المستخدم بعمل طلب الاجازة من خلال هذه الشاشة</a:t>
            </a:r>
            <a:endParaRPr lang="en-US" dirty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  <p:sp>
        <p:nvSpPr>
          <p:cNvPr id="21" name="TextBox 20"/>
          <p:cNvSpPr txBox="1"/>
          <p:nvPr/>
        </p:nvSpPr>
        <p:spPr>
          <a:xfrm flipH="1">
            <a:off x="4836141" y="1865452"/>
            <a:ext cx="28194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 defTabSz="457200" rtl="1"/>
            <a:r>
              <a:rPr lang="ar-EG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شاشة المأمورية</a:t>
            </a:r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  <a:p>
            <a:pPr algn="r" defTabSz="457200" rtl="1"/>
            <a:r>
              <a:rPr lang="ar-E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يقوم المستخدم بعمل طلب المأمورية من خلال هذه الشاشة</a:t>
            </a:r>
            <a:endParaRPr lang="en-US" dirty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545908" y="1732102"/>
            <a:ext cx="28194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شاشة التصاريح</a:t>
            </a:r>
          </a:p>
          <a:p>
            <a:pPr algn="r" defTabSz="457200" rtl="1"/>
            <a:r>
              <a:rPr lang="ar-E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يقوم المستخدم بعمل طلب التصريح من خلال هذه الشاشة</a:t>
            </a:r>
            <a:endParaRPr lang="en-US" dirty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24" y="2958635"/>
            <a:ext cx="2280884" cy="3726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657" y="2958635"/>
            <a:ext cx="2280884" cy="3726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15" y="2960237"/>
            <a:ext cx="2280885" cy="3726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34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شاشات التطبيق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655" flipH="1">
            <a:off x="1459306" y="981229"/>
            <a:ext cx="2585403" cy="5361527"/>
          </a:xfrm>
          <a:prstGeom prst="rect">
            <a:avLst/>
          </a:prstGeom>
          <a:effectLst>
            <a:outerShdw blurRad="635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Placeholder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6" b="32070"/>
          <a:stretch/>
        </p:blipFill>
        <p:spPr>
          <a:xfrm rot="1227285">
            <a:off x="1598050" y="1616983"/>
            <a:ext cx="2285830" cy="4124445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</p:pic>
      <p:sp>
        <p:nvSpPr>
          <p:cNvPr id="10" name="TextBox 9"/>
          <p:cNvSpPr txBox="1"/>
          <p:nvPr/>
        </p:nvSpPr>
        <p:spPr>
          <a:xfrm flipH="1">
            <a:off x="6915150" y="2184664"/>
            <a:ext cx="4607517" cy="2277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457200" rtl="1"/>
            <a:r>
              <a:rPr lang="ar-EG" sz="2800" b="1" u="sng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Sans Pro"/>
                <a:cs typeface="+mj-cs"/>
              </a:rPr>
              <a:t>شاشة الموافقات</a:t>
            </a:r>
          </a:p>
          <a:p>
            <a:pPr algn="r" defTabSz="457200" rtl="1"/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يقوم مدير الادارة التابع لها الموظف من خلال شاشة بالموافقةعلى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كل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أنواع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الطلبات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التي قام بها ىالمستخدم </a:t>
            </a:r>
          </a:p>
          <a:p>
            <a:pPr algn="r" defTabSz="457200" rtl="1"/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و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يسمح هنا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للمدير المسئول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على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أن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يقوم بفتح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أي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طلب و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الموافقة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عليه </a:t>
            </a:r>
            <a:r>
              <a:rPr lang="ar-EG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أو </a:t>
            </a:r>
            <a:r>
              <a:rPr lang="ar-EG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ource Sans Pro"/>
                <a:cs typeface="+mj-cs"/>
              </a:rPr>
              <a:t>الرفض </a:t>
            </a:r>
            <a:endParaRPr lang="ar-EG" sz="2400" b="1" dirty="0" smtClean="0">
              <a:solidFill>
                <a:prstClr val="black">
                  <a:lumMod val="65000"/>
                  <a:lumOff val="35000"/>
                </a:prstClr>
              </a:solidFill>
              <a:latin typeface="Source Sans Pro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633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4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9" y="4332239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68" y="5120233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427677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45375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025" y="6015715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377921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903379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376378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8367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915702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4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1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2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1518</Words>
  <Application>Microsoft Office PowerPoint</Application>
  <PresentationFormat>Widescreen</PresentationFormat>
  <Paragraphs>227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Calibri Light</vt:lpstr>
      <vt:lpstr>Corbel</vt:lpstr>
      <vt:lpstr>Lato</vt:lpstr>
      <vt:lpstr>Montserrat Black</vt:lpstr>
      <vt:lpstr>Source Sans Pro</vt:lpstr>
      <vt:lpstr>Times New Roman</vt:lpstr>
      <vt:lpstr>Office Theme</vt:lpstr>
      <vt:lpstr>HR System Walkthrough </vt:lpstr>
      <vt:lpstr>PowerPoint Presentation</vt:lpstr>
      <vt:lpstr>برنامج شئون الموظفين </vt:lpstr>
      <vt:lpstr>برنامج الحضور والإنصراف </vt:lpstr>
      <vt:lpstr>التسويات</vt:lpstr>
      <vt:lpstr>   تعريف الورديات</vt:lpstr>
      <vt:lpstr>   ربط العامل بالوردية</vt:lpstr>
      <vt:lpstr>ربط كل موظف برقم الكارت</vt:lpstr>
      <vt:lpstr>ربط المخالفات بمدد التأخير</vt:lpstr>
      <vt:lpstr>قراءة البيانات من الساعة</vt:lpstr>
      <vt:lpstr>تسوية التأخيرات</vt:lpstr>
      <vt:lpstr>تقرير متابعة حضور موظف</vt:lpstr>
      <vt:lpstr>برنامج الأجور والمرتبات</vt:lpstr>
      <vt:lpstr>مفردات المرتب </vt:lpstr>
      <vt:lpstr>المفردات الخاصة </vt:lpstr>
      <vt:lpstr>الاستقطاعات ذات الأرصدة </vt:lpstr>
      <vt:lpstr>تسجيل أيام الغياب</vt:lpstr>
      <vt:lpstr>حساب المرضي</vt:lpstr>
      <vt:lpstr>بيانات الإضافي الشهري </vt:lpstr>
      <vt:lpstr>حساب التأمينات </vt:lpstr>
      <vt:lpstr>حساب المخالفات </vt:lpstr>
      <vt:lpstr>تسجيل الاجازات </vt:lpstr>
      <vt:lpstr>انهاء الخدمه </vt:lpstr>
      <vt:lpstr>مخالصة نهاية الخدمه </vt:lpstr>
      <vt:lpstr>PowerPoint Presentation</vt:lpstr>
      <vt:lpstr>مميزات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شاشات التطبيق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159</cp:revision>
  <dcterms:created xsi:type="dcterms:W3CDTF">2023-07-10T11:59:00Z</dcterms:created>
  <dcterms:modified xsi:type="dcterms:W3CDTF">2026-04-14T10:44:38Z</dcterms:modified>
</cp:coreProperties>
</file>