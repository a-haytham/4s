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358" r:id="rId2"/>
    <p:sldId id="374" r:id="rId3"/>
    <p:sldId id="375" r:id="rId4"/>
    <p:sldId id="377" r:id="rId5"/>
    <p:sldId id="378" r:id="rId6"/>
    <p:sldId id="379" r:id="rId7"/>
    <p:sldId id="380" r:id="rId8"/>
    <p:sldId id="390" r:id="rId9"/>
    <p:sldId id="388" r:id="rId10"/>
    <p:sldId id="381" r:id="rId11"/>
    <p:sldId id="386" r:id="rId12"/>
    <p:sldId id="391" r:id="rId13"/>
    <p:sldId id="403" r:id="rId14"/>
    <p:sldId id="395" r:id="rId15"/>
    <p:sldId id="404" r:id="rId16"/>
    <p:sldId id="394" r:id="rId17"/>
    <p:sldId id="393" r:id="rId18"/>
    <p:sldId id="392" r:id="rId19"/>
    <p:sldId id="402" r:id="rId20"/>
    <p:sldId id="405" r:id="rId21"/>
    <p:sldId id="406" r:id="rId22"/>
    <p:sldId id="3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37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06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4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3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19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7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4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2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9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25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91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77EA58C-83D3-9F62-C79D-9FAF20DEC68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855" y="6026820"/>
            <a:ext cx="821090" cy="8311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87961BB-6029-E984-CD15-B58BF624CBFB}"/>
              </a:ext>
            </a:extLst>
          </p:cNvPr>
          <p:cNvSpPr/>
          <p:nvPr userDrawn="1"/>
        </p:nvSpPr>
        <p:spPr>
          <a:xfrm>
            <a:off x="11373293" y="68977"/>
            <a:ext cx="87214" cy="429182"/>
          </a:xfrm>
          <a:prstGeom prst="rect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37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jpe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jpeg"/><Relationship Id="rId12" Type="http://schemas.openxmlformats.org/officeDocument/2006/relationships/image" Target="../media/image33.png"/><Relationship Id="rId17" Type="http://schemas.openxmlformats.org/officeDocument/2006/relationships/image" Target="../media/image38.jpg"/><Relationship Id="rId25" Type="http://schemas.openxmlformats.org/officeDocument/2006/relationships/image" Target="../media/image46.png"/><Relationship Id="rId2" Type="http://schemas.openxmlformats.org/officeDocument/2006/relationships/image" Target="../media/image23.jpe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jpeg"/><Relationship Id="rId11" Type="http://schemas.openxmlformats.org/officeDocument/2006/relationships/image" Target="../media/image32.png"/><Relationship Id="rId24" Type="http://schemas.openxmlformats.org/officeDocument/2006/relationships/image" Target="../media/image45.jpeg"/><Relationship Id="rId5" Type="http://schemas.openxmlformats.org/officeDocument/2006/relationships/image" Target="../media/image26.jpg"/><Relationship Id="rId15" Type="http://schemas.openxmlformats.org/officeDocument/2006/relationships/image" Target="../media/image36.jpg"/><Relationship Id="rId23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jpg"/><Relationship Id="rId9" Type="http://schemas.openxmlformats.org/officeDocument/2006/relationships/image" Target="../media/image30.jpeg"/><Relationship Id="rId14" Type="http://schemas.openxmlformats.org/officeDocument/2006/relationships/image" Target="../media/image35.jpg"/><Relationship Id="rId22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jpeg"/><Relationship Id="rId3" Type="http://schemas.openxmlformats.org/officeDocument/2006/relationships/image" Target="../media/image49.png"/><Relationship Id="rId7" Type="http://schemas.openxmlformats.org/officeDocument/2006/relationships/image" Target="../media/image53.jpg"/><Relationship Id="rId12" Type="http://schemas.openxmlformats.org/officeDocument/2006/relationships/image" Target="../media/image58.png"/><Relationship Id="rId17" Type="http://schemas.openxmlformats.org/officeDocument/2006/relationships/image" Target="../media/image63.jpeg"/><Relationship Id="rId2" Type="http://schemas.openxmlformats.org/officeDocument/2006/relationships/image" Target="../media/image48.jpeg"/><Relationship Id="rId16" Type="http://schemas.openxmlformats.org/officeDocument/2006/relationships/image" Target="../media/image62.jf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jpe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jfif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jpeg"/><Relationship Id="rId1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6F5A5072-7B47-4D32-B52A-4EBBF590B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9715DAF0-AE1B-46C9-8A6B-DB2AA05AB9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016219D-510E-4184-9090-6D5578A87B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AFF4A713-7B75-4B21-90D7-5AB19547C7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C631C0B-6DA6-4E57-8231-CE32B3434A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C29501E6-A978-4A61-9689-9085AF97A5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348B17-CDF0-F2AA-6CF5-25F6DC98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 smtClean="0">
                <a:solidFill>
                  <a:srgbClr val="FFFFFF"/>
                </a:solidFill>
                <a:latin typeface="+mn-lt"/>
              </a:rPr>
              <a:t>Sales System </a:t>
            </a:r>
            <a:r>
              <a:rPr lang="en-US" sz="4800" dirty="0">
                <a:solidFill>
                  <a:srgbClr val="FFFFFF"/>
                </a:solidFill>
                <a:latin typeface="+mn-lt"/>
              </a:rPr>
              <a:t>Walkthrough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8671DC8-05D9-0158-F96D-62C2B2F0A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 rtl="1"/>
            <a:r>
              <a:rPr lang="ar-EG" dirty="0"/>
              <a:t>برنامج</a:t>
            </a:r>
            <a:r>
              <a:rPr lang="en-US" dirty="0"/>
              <a:t> </a:t>
            </a:r>
            <a:r>
              <a:rPr lang="en-US" b="1" dirty="0"/>
              <a:t>4S</a:t>
            </a:r>
            <a:r>
              <a:rPr lang="en-US" dirty="0"/>
              <a:t> </a:t>
            </a:r>
            <a:r>
              <a:rPr lang="ar-EG" dirty="0" smtClean="0"/>
              <a:t>للمبيعات</a:t>
            </a:r>
            <a:endParaRPr lang="en-US" dirty="0"/>
          </a:p>
          <a:p>
            <a:pPr algn="l" rtl="1"/>
            <a:endParaRPr lang="en-US" dirty="0"/>
          </a:p>
          <a:p>
            <a:pPr algn="l" rtl="1"/>
            <a:r>
              <a:rPr lang="en-US" sz="1800" dirty="0"/>
              <a:t>July 17</a:t>
            </a:r>
            <a:r>
              <a:rPr lang="en-US" sz="1800" baseline="30000" dirty="0"/>
              <a:t>th</a:t>
            </a:r>
            <a:r>
              <a:rPr lang="en-US" sz="1800" dirty="0"/>
              <a:t>, </a:t>
            </a:r>
            <a:r>
              <a:rPr lang="en-US" sz="1800" dirty="0" smtClean="0"/>
              <a:t>2025</a:t>
            </a:r>
            <a:endParaRPr lang="en-US" sz="1800" dirty="0"/>
          </a:p>
        </p:txBody>
      </p:sp>
      <p:pic>
        <p:nvPicPr>
          <p:cNvPr id="10" name="Picture 9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en-US" smtClean="0"/>
              <a:t>-</a:t>
            </a:r>
            <a:r>
              <a:rPr lang="ar-EG" smtClean="0"/>
              <a:t> توصيف الشكل الشجرى للأكواد (اصناف – جهة تشغيل – مراحل انتاج – مخازن - ...)</a:t>
            </a:r>
            <a:endParaRPr lang="en-US" smtClean="0"/>
          </a:p>
          <a:p>
            <a:pPr rtl="1"/>
            <a:r>
              <a:rPr lang="ar-EG" smtClean="0"/>
              <a:t>- توصيف الدورة المستندية  وترتيب المستندات و طريقة إعتماد كل مستند على المستندات الأخرى </a:t>
            </a:r>
            <a:endParaRPr lang="en-US" smtClean="0"/>
          </a:p>
          <a:p>
            <a:pPr rtl="1"/>
            <a:r>
              <a:rPr lang="ar-EG" smtClean="0"/>
              <a:t>- إستخدام قوائم الأسعار</a:t>
            </a:r>
            <a:endParaRPr lang="en-US" smtClean="0"/>
          </a:p>
          <a:p>
            <a:pPr rtl="1"/>
            <a:r>
              <a:rPr lang="ar-EG" smtClean="0"/>
              <a:t>- إستخدام  قوائم الخصومات</a:t>
            </a:r>
            <a:endParaRPr lang="en-US" smtClean="0"/>
          </a:p>
          <a:p>
            <a:pPr rtl="1"/>
            <a:r>
              <a:rPr lang="ar-EG" smtClean="0"/>
              <a:t>- إستخدام كروت الإئتمان</a:t>
            </a:r>
            <a:endParaRPr lang="en-US" smtClean="0"/>
          </a:p>
          <a:p>
            <a:pPr rtl="1"/>
            <a:r>
              <a:rPr lang="ar-EG" smtClean="0"/>
              <a:t>- إمكانية تعريف شرائح عمولات أو نقاط بيع للمندوبين او العملاء</a:t>
            </a:r>
            <a:endParaRPr lang="en-US" smtClean="0"/>
          </a:p>
          <a:p>
            <a:pPr rtl="1"/>
            <a:r>
              <a:rPr lang="ar-EG" smtClean="0"/>
              <a:t>- ربط العملاء بالمندوبين </a:t>
            </a:r>
            <a:endParaRPr lang="en-US" smtClean="0"/>
          </a:p>
          <a:p>
            <a:pPr rtl="1"/>
            <a:r>
              <a:rPr lang="ar-EG" smtClean="0"/>
              <a:t>- امكانية تعريف عميل مورد </a:t>
            </a:r>
            <a:endParaRPr lang="en-US" smtClean="0"/>
          </a:p>
          <a:p>
            <a:pPr rtl="1"/>
            <a:r>
              <a:rPr lang="ar-EG" smtClean="0"/>
              <a:t>- بالإضافة لكل المميزات المذكورة فى برنامج المخازن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ar-EG" sz="3200" b="1" dirty="0" smtClean="0">
                <a:solidFill>
                  <a:schemeClr val="bg1"/>
                </a:solidFill>
                <a:latin typeface="+mn-lt"/>
              </a:rPr>
              <a:t>خصائص برنامج المبيعات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223" y="1803043"/>
            <a:ext cx="7785095" cy="475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schemeClr val="bg1"/>
                </a:solidFill>
              </a:rPr>
              <a:t>خصائص برنامج المبيعات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355" y="1777285"/>
            <a:ext cx="8293994" cy="458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0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البيانات الاساسية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64406" y="280145"/>
            <a:ext cx="63644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هى قائمة يتم فيها ادخال الاكواد الاساسية قبل البدء فى اجراء اى حركات على البرنامج مثل (اكواد العملاء – اكواد الخزنة – اكواد البنوك – اكواد العملات )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Snip Same Side Corner Rectangle 6"/>
          <p:cNvSpPr/>
          <p:nvPr/>
        </p:nvSpPr>
        <p:spPr>
          <a:xfrm>
            <a:off x="3226404" y="1856100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العملات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Snip Same Side Corner Rectangle 20"/>
          <p:cNvSpPr/>
          <p:nvPr/>
        </p:nvSpPr>
        <p:spPr>
          <a:xfrm>
            <a:off x="9400594" y="1874601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الوحدات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nip Same Side Corner Rectangle 21"/>
          <p:cNvSpPr/>
          <p:nvPr/>
        </p:nvSpPr>
        <p:spPr>
          <a:xfrm>
            <a:off x="5331094" y="1856100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الصنف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Snip Same Side Corner Rectangle 22"/>
          <p:cNvSpPr/>
          <p:nvPr/>
        </p:nvSpPr>
        <p:spPr>
          <a:xfrm>
            <a:off x="1121714" y="1856100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المصروفات المتعددة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Snip Same Side Corner Rectangle 23"/>
          <p:cNvSpPr/>
          <p:nvPr/>
        </p:nvSpPr>
        <p:spPr>
          <a:xfrm>
            <a:off x="8948849" y="3544546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ربط المندوب بالمستخدم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Snip Same Side Corner Rectangle 24"/>
          <p:cNvSpPr/>
          <p:nvPr/>
        </p:nvSpPr>
        <p:spPr>
          <a:xfrm>
            <a:off x="9529187" y="5239192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اكواد سياسات التقسيط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Snip Same Side Corner Rectangle 25"/>
          <p:cNvSpPr/>
          <p:nvPr/>
        </p:nvSpPr>
        <p:spPr>
          <a:xfrm>
            <a:off x="7435190" y="5239192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اجزاء الاقساط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Snip Same Side Corner Rectangle 26"/>
          <p:cNvSpPr/>
          <p:nvPr/>
        </p:nvSpPr>
        <p:spPr>
          <a:xfrm>
            <a:off x="7435784" y="1874601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التعريفات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Snip Same Side Corner Rectangle 27"/>
          <p:cNvSpPr/>
          <p:nvPr/>
        </p:nvSpPr>
        <p:spPr>
          <a:xfrm>
            <a:off x="2007724" y="3544546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سبب الخصم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Snip Same Side Corner Rectangle 29"/>
          <p:cNvSpPr/>
          <p:nvPr/>
        </p:nvSpPr>
        <p:spPr>
          <a:xfrm>
            <a:off x="1121713" y="5239192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الفاتورة الالكترونية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Snip Same Side Corner Rectangle 30"/>
          <p:cNvSpPr/>
          <p:nvPr/>
        </p:nvSpPr>
        <p:spPr>
          <a:xfrm>
            <a:off x="3231453" y="5239192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قوائم الخصومات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Snip Same Side Corner Rectangle 31"/>
          <p:cNvSpPr/>
          <p:nvPr/>
        </p:nvSpPr>
        <p:spPr>
          <a:xfrm>
            <a:off x="4352562" y="3531855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قوائم الاسعار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Snip Same Side Corner Rectangle 35"/>
          <p:cNvSpPr/>
          <p:nvPr/>
        </p:nvSpPr>
        <p:spPr>
          <a:xfrm>
            <a:off x="6697400" y="3547646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تعريف اجزاء الاكواد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Snip Same Side Corner Rectangle 36"/>
          <p:cNvSpPr/>
          <p:nvPr/>
        </p:nvSpPr>
        <p:spPr>
          <a:xfrm>
            <a:off x="5341193" y="5239192"/>
            <a:ext cx="1715177" cy="1442434"/>
          </a:xfrm>
          <a:prstGeom prst="snip2Same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>
                <a:solidFill>
                  <a:schemeClr val="tx1"/>
                </a:solidFill>
              </a:rPr>
              <a:t>ربط العملاء بمخازن الامانة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79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تعريف العميل 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40933" y="595315"/>
            <a:ext cx="6387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يقوم المستخدم بتحديد البيانات الخاصة بالعميل من حيث كتابة الكود والاسم باللغه العربية والانجليزية . 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40" y="1665326"/>
            <a:ext cx="10975110" cy="28165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40" y="4375038"/>
            <a:ext cx="10975110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5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تعريف المندوب    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89408" y="595315"/>
            <a:ext cx="5939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dirty="0" smtClean="0">
                <a:solidFill>
                  <a:schemeClr val="bg1"/>
                </a:solidFill>
              </a:rPr>
              <a:t>يقوم المستخدم بادخال بيانات المندوب من حيث الكود واللغة العربية والانجليزية وحالة المندوب اذا كان متوقف ام لا.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0" y="5859887"/>
            <a:ext cx="682580" cy="25757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85" y="1716070"/>
            <a:ext cx="10534918" cy="5001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984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الفاتورة الالكترونية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685" y="2776671"/>
            <a:ext cx="8376630" cy="1304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6372" y="595315"/>
            <a:ext cx="68924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يقوم المستخدم باختيار الفواتير المراد ارسالها الى مصلحة الضرائب ويتم الارسال اتوماتيكيا </a:t>
            </a:r>
            <a:r>
              <a:rPr lang="ar-EG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0" y="1747377"/>
            <a:ext cx="10573554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5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تعريف قوائم الاسعار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434034"/>
            <a:ext cx="8128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من خلال الشاشة يتم تعريف قوائم الاسعار المختلفة من حيث(اسعار تجزئة - اسعارجملة – اسعار شركات,افراد,.....) 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44" y="1768161"/>
            <a:ext cx="10698053" cy="26621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73" y="3964451"/>
            <a:ext cx="10698054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9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تعريف قوائم الخصومات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4851" y="498135"/>
            <a:ext cx="7794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من خلال هذة الشاشة يتم تعريف قوائم الخصومات المختلفة سواء على الصنف او عدة اصناف او شريحة من العملاء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1741693"/>
            <a:ext cx="10328856" cy="4850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179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       الحركات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Snip Same Side Corner Rectangle 1"/>
          <p:cNvSpPr/>
          <p:nvPr/>
        </p:nvSpPr>
        <p:spPr>
          <a:xfrm>
            <a:off x="8783392" y="2846231"/>
            <a:ext cx="2228045" cy="2215166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>
                <a:solidFill>
                  <a:schemeClr val="tx1"/>
                </a:solidFill>
              </a:rPr>
              <a:t>اختبار الحركة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Snip Same Side Corner Rectangle 11"/>
          <p:cNvSpPr/>
          <p:nvPr/>
        </p:nvSpPr>
        <p:spPr>
          <a:xfrm>
            <a:off x="796344" y="2846231"/>
            <a:ext cx="2228045" cy="2215166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>
                <a:solidFill>
                  <a:schemeClr val="tx1"/>
                </a:solidFill>
              </a:rPr>
              <a:t>مصروفات الحركات المخزنية 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Snip Same Side Corner Rectangle 13"/>
          <p:cNvSpPr/>
          <p:nvPr/>
        </p:nvSpPr>
        <p:spPr>
          <a:xfrm>
            <a:off x="4789868" y="2846231"/>
            <a:ext cx="2228045" cy="2215166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>
                <a:solidFill>
                  <a:schemeClr val="tx1"/>
                </a:solidFill>
              </a:rPr>
              <a:t>موافقات الحركات المخزنية 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56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اختيار حركة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34118" y="464811"/>
            <a:ext cx="6194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dirty="0" smtClean="0">
                <a:solidFill>
                  <a:schemeClr val="bg1"/>
                </a:solidFill>
              </a:rPr>
              <a:t>من خلال هذة القائمة يقوم المستخدم باختيار الحركات الموضحة من خلال هذة الشاشة 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412" y="2098765"/>
            <a:ext cx="10478962" cy="31481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754140" y="4353059"/>
            <a:ext cx="899234" cy="327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59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تقرير سداد فواتير العملاء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42" y="4129902"/>
            <a:ext cx="10496281" cy="24329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" y="1730346"/>
            <a:ext cx="10457645" cy="239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9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تقرير ارصدة العملاء 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39" y="4439991"/>
            <a:ext cx="9903853" cy="22055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38" y="1575955"/>
            <a:ext cx="9903853" cy="286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0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تقارير كشف الحساب 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6" name="Snip Same Side Corner Rectangle 5"/>
          <p:cNvSpPr/>
          <p:nvPr/>
        </p:nvSpPr>
        <p:spPr>
          <a:xfrm>
            <a:off x="9775065" y="2354686"/>
            <a:ext cx="1880315" cy="1687133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كشف حساب عميل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0" name="Snip Same Side Corner Rectangle 19"/>
          <p:cNvSpPr/>
          <p:nvPr/>
        </p:nvSpPr>
        <p:spPr>
          <a:xfrm>
            <a:off x="3097369" y="4640221"/>
            <a:ext cx="1880315" cy="1687133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ضريبة القيمة المضافة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2" name="Snip Same Side Corner Rectangle 21"/>
          <p:cNvSpPr/>
          <p:nvPr/>
        </p:nvSpPr>
        <p:spPr>
          <a:xfrm>
            <a:off x="7428964" y="4640221"/>
            <a:ext cx="1880315" cy="1687133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ارصدة وحدود سماح العملاء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4" name="Snip Same Side Corner Rectangle 23"/>
          <p:cNvSpPr/>
          <p:nvPr/>
        </p:nvSpPr>
        <p:spPr>
          <a:xfrm>
            <a:off x="920839" y="2354686"/>
            <a:ext cx="1880315" cy="1687133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كشف حساب مندوب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Snip Same Side Corner Rectangle 24"/>
          <p:cNvSpPr/>
          <p:nvPr/>
        </p:nvSpPr>
        <p:spPr>
          <a:xfrm>
            <a:off x="5155842" y="2354686"/>
            <a:ext cx="1880315" cy="1687133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كشف حساب جهة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12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ضريبة القيمة المضافة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67" y="4251648"/>
            <a:ext cx="10735384" cy="23938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67" y="1575955"/>
            <a:ext cx="10735384" cy="265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1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تحليل مبيعات العملاء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2" name="Snip Same Side Corner Rectangle 1"/>
          <p:cNvSpPr/>
          <p:nvPr/>
        </p:nvSpPr>
        <p:spPr>
          <a:xfrm>
            <a:off x="9344767" y="2213015"/>
            <a:ext cx="2034862" cy="1931831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 </a:t>
            </a:r>
            <a:r>
              <a:rPr lang="ar-EG" sz="2000" dirty="0" smtClean="0">
                <a:solidFill>
                  <a:schemeClr val="tx1"/>
                </a:solidFill>
              </a:rPr>
              <a:t>تقرير فواتير العملاء </a:t>
            </a:r>
            <a:endParaRPr lang="en-US" sz="2000" dirty="0"/>
          </a:p>
        </p:txBody>
      </p:sp>
      <p:sp>
        <p:nvSpPr>
          <p:cNvPr id="14" name="Snip Same Side Corner Rectangle 13"/>
          <p:cNvSpPr/>
          <p:nvPr/>
        </p:nvSpPr>
        <p:spPr>
          <a:xfrm>
            <a:off x="2851597" y="4380959"/>
            <a:ext cx="2034862" cy="1931831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تقرير الاصناف الاكثر مبيعا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8" name="Snip Same Side Corner Rectangle 17"/>
          <p:cNvSpPr/>
          <p:nvPr/>
        </p:nvSpPr>
        <p:spPr>
          <a:xfrm>
            <a:off x="7214455" y="4380958"/>
            <a:ext cx="2034862" cy="1931831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مستوى الاصناف الاجمالى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0" name="Snip Same Side Corner Rectangle 19"/>
          <p:cNvSpPr/>
          <p:nvPr/>
        </p:nvSpPr>
        <p:spPr>
          <a:xfrm>
            <a:off x="662189" y="2213016"/>
            <a:ext cx="2034862" cy="1931831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مستوى الاصناف التفصيلى بالوحدات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4" name="Snip Same Side Corner Rectangle 23"/>
          <p:cNvSpPr/>
          <p:nvPr/>
        </p:nvSpPr>
        <p:spPr>
          <a:xfrm>
            <a:off x="5003478" y="2213017"/>
            <a:ext cx="2034862" cy="1931831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مستوى الاصناف التفصيلى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47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تقرير فواتير العملاء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40" y="3953814"/>
            <a:ext cx="9758122" cy="281468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40" y="1723787"/>
            <a:ext cx="9758121" cy="223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5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تحليل مبيعات الاصناف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2" name="Snip Same Side Corner Rectangle 1"/>
          <p:cNvSpPr/>
          <p:nvPr/>
        </p:nvSpPr>
        <p:spPr>
          <a:xfrm>
            <a:off x="9517487" y="2542478"/>
            <a:ext cx="2099256" cy="1674254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تقرير مبيعات العملاء الشهرى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Snip Same Side Corner Rectangle 9"/>
          <p:cNvSpPr/>
          <p:nvPr/>
        </p:nvSpPr>
        <p:spPr>
          <a:xfrm>
            <a:off x="3638282" y="2542478"/>
            <a:ext cx="2099256" cy="1674254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على مستوى العملاء تفصيلى بالوحدات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Snip Same Side Corner Rectangle 10"/>
          <p:cNvSpPr/>
          <p:nvPr/>
        </p:nvSpPr>
        <p:spPr>
          <a:xfrm>
            <a:off x="6707746" y="4354615"/>
            <a:ext cx="2099256" cy="1674254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على مستوى العملاء اجمالى </a:t>
            </a:r>
          </a:p>
        </p:txBody>
      </p:sp>
      <p:sp>
        <p:nvSpPr>
          <p:cNvPr id="12" name="Snip Same Side Corner Rectangle 11"/>
          <p:cNvSpPr/>
          <p:nvPr/>
        </p:nvSpPr>
        <p:spPr>
          <a:xfrm>
            <a:off x="914400" y="4354615"/>
            <a:ext cx="2099256" cy="1674254"/>
          </a:xfrm>
          <a:prstGeom prst="snip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على مستوى العملاء تفصيلى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34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r" defTabSz="457200" rtl="1"/>
            <a:endParaRPr lang="en-US" sz="2400" dirty="0">
              <a:solidFill>
                <a:prstClr val="black">
                  <a:lumMod val="65000"/>
                  <a:lumOff val="35000"/>
                </a:prstClr>
              </a:solidFill>
              <a:latin typeface="Montserrat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تقرير مبيعات العملاء شهرى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42" y="1735562"/>
            <a:ext cx="9581882" cy="4926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303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4401580"/>
            <a:ext cx="1134586" cy="79458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7" y="5260556"/>
            <a:ext cx="1019206" cy="101920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2986772"/>
            <a:ext cx="1019207" cy="101920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1876322"/>
            <a:ext cx="1134588" cy="98033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6" y="1776012"/>
            <a:ext cx="1134586" cy="113458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52" y="5564580"/>
            <a:ext cx="1566074" cy="119836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333" y="1835375"/>
            <a:ext cx="1892855" cy="121075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4136090"/>
            <a:ext cx="983440" cy="9834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8347" y="5258575"/>
            <a:ext cx="1087794" cy="108570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0932" y="2924875"/>
            <a:ext cx="1143000" cy="11430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0854" y="3986969"/>
            <a:ext cx="1837385" cy="105075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07975" y="2993936"/>
            <a:ext cx="1807553" cy="88260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136169" y="1587375"/>
            <a:ext cx="27966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Real State &amp; Constriction</a:t>
            </a:r>
            <a:endParaRPr lang="en-US" sz="2000" b="1" dirty="0"/>
          </a:p>
        </p:txBody>
      </p:sp>
      <p:sp>
        <p:nvSpPr>
          <p:cNvPr id="43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45999" y="1585227"/>
            <a:ext cx="1186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Industrial</a:t>
            </a:r>
            <a:endParaRPr lang="en-US" sz="140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242" y="2181590"/>
            <a:ext cx="1275088" cy="110447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24" y="3681931"/>
            <a:ext cx="1272689" cy="134002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4153" y="5144862"/>
            <a:ext cx="1274476" cy="127447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422" y="2240101"/>
            <a:ext cx="1244290" cy="108110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9862" y="3841175"/>
            <a:ext cx="1273265" cy="93308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261" y="5217928"/>
            <a:ext cx="1309298" cy="1303479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3946" y="5206026"/>
            <a:ext cx="1264746" cy="1264746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88210" y="3664429"/>
            <a:ext cx="1698749" cy="102521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52685" y="2138301"/>
            <a:ext cx="1284701" cy="1284701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82076" y="2011509"/>
            <a:ext cx="1556648" cy="155664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727" y="4932926"/>
            <a:ext cx="1555575" cy="15555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275" y="3666581"/>
            <a:ext cx="1474781" cy="980801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5124386" y="2006738"/>
            <a:ext cx="6833149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5677" y="2016677"/>
            <a:ext cx="4791470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A blue and white logo&#10;&#10;Description automatically generated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173" y="5950142"/>
            <a:ext cx="947826" cy="907858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1050" y="5040504"/>
            <a:ext cx="1309298" cy="1303479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4735" y="4987658"/>
            <a:ext cx="1264746" cy="126474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516" y="4960222"/>
            <a:ext cx="1555575" cy="1555575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064" y="3666581"/>
            <a:ext cx="1474781" cy="98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8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59" y="4332239"/>
            <a:ext cx="1519978" cy="1073188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968" y="5120233"/>
            <a:ext cx="1780242" cy="900552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464" y="1886153"/>
            <a:ext cx="1520534" cy="1492024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920" y="2375401"/>
            <a:ext cx="1757212" cy="1431024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787851" y="1666849"/>
            <a:ext cx="1652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Food </a:t>
            </a:r>
            <a:r>
              <a:rPr lang="en-US" sz="2000" b="1" dirty="0"/>
              <a:t>industry</a:t>
            </a: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39" y="3427677"/>
            <a:ext cx="1453083" cy="89540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464" y="3453751"/>
            <a:ext cx="1520534" cy="1487567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550308" y="1651822"/>
            <a:ext cx="1231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Education</a:t>
            </a:r>
            <a:endParaRPr lang="en-US" b="1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0025" y="6015715"/>
            <a:ext cx="1329043" cy="667660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5984642" y="1662553"/>
            <a:ext cx="1839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Service projects</a:t>
            </a:r>
            <a:endParaRPr lang="en-US" sz="2000" b="1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418" y="2031885"/>
            <a:ext cx="1576982" cy="1182736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0189" y="3377921"/>
            <a:ext cx="1652159" cy="1652159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28" y="4903379"/>
            <a:ext cx="1143963" cy="1179712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2609" y="6376378"/>
            <a:ext cx="1591791" cy="380663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8490111" y="1660405"/>
            <a:ext cx="21855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Government sector</a:t>
            </a:r>
          </a:p>
        </p:txBody>
      </p:sp>
      <p:pic>
        <p:nvPicPr>
          <p:cNvPr id="75" name="Picture 74" descr="C:\Documents and Settings\mohamed\Desktop\New Folder\download (3)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160" y="3935802"/>
            <a:ext cx="1757121" cy="1274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" name="Picture 49" descr="C:\Users\Mr.Rami\Downloads\logo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85386" y="2172674"/>
            <a:ext cx="772258" cy="1133353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1" y="5183679"/>
            <a:ext cx="1091821" cy="5531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578" y="5374751"/>
            <a:ext cx="885413" cy="11056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22" y="5915702"/>
            <a:ext cx="1172190" cy="818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0555" y="2060515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216961" y="2060514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8616323" y="2051931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874280" y="2051932"/>
            <a:ext cx="1945170" cy="47974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9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25776A7-704F-61F8-EF64-F87B34DE26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83" y="643467"/>
            <a:ext cx="550343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Wave 1"/>
          <p:cNvSpPr/>
          <p:nvPr/>
        </p:nvSpPr>
        <p:spPr>
          <a:xfrm>
            <a:off x="167425" y="6277706"/>
            <a:ext cx="1906073" cy="418088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Mohamed </a:t>
            </a:r>
            <a:r>
              <a:rPr lang="en-US" dirty="0" err="1" smtClean="0"/>
              <a:t>Younis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9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3722</TotalTime>
  <Words>365</Words>
  <Application>Microsoft Office PowerPoint</Application>
  <PresentationFormat>Widescreen</PresentationFormat>
  <Paragraphs>78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Corbel</vt:lpstr>
      <vt:lpstr>Montserrat Black</vt:lpstr>
      <vt:lpstr>Times New Roman</vt:lpstr>
      <vt:lpstr>Office Theme</vt:lpstr>
      <vt:lpstr>Sales System Walkthrough </vt:lpstr>
      <vt:lpstr>خصائص برنامج المبيعات</vt:lpstr>
      <vt:lpstr>خصائص برنامج المبيعات</vt:lpstr>
      <vt:lpstr>  البيانات الاساسية </vt:lpstr>
      <vt:lpstr>تعريف العميل  </vt:lpstr>
      <vt:lpstr>تعريف المندوب     </vt:lpstr>
      <vt:lpstr>الفاتورة الالكترونية </vt:lpstr>
      <vt:lpstr>تعريف قوائم الاسعار</vt:lpstr>
      <vt:lpstr>تعريف قوائم الخصومات </vt:lpstr>
      <vt:lpstr>       الحركات </vt:lpstr>
      <vt:lpstr>اختيار حركة</vt:lpstr>
      <vt:lpstr> تقرير سداد فواتير العملاء </vt:lpstr>
      <vt:lpstr>تقرير ارصدة العملاء </vt:lpstr>
      <vt:lpstr>تقارير كشف الحساب  </vt:lpstr>
      <vt:lpstr>ضريبة القيمة المضافة</vt:lpstr>
      <vt:lpstr>تحليل مبيعات العملاء </vt:lpstr>
      <vt:lpstr>تقرير فواتير العملاء </vt:lpstr>
      <vt:lpstr>تحليل مبيعات الاصناف</vt:lpstr>
      <vt:lpstr>تقرير مبيعات العملاء شهرى</vt:lpstr>
      <vt:lpstr>عملائنا</vt:lpstr>
      <vt:lpstr>عملائنا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Adham Bahgat</dc:creator>
  <cp:lastModifiedBy>lenovo</cp:lastModifiedBy>
  <cp:revision>204</cp:revision>
  <dcterms:created xsi:type="dcterms:W3CDTF">2023-07-10T11:59:00Z</dcterms:created>
  <dcterms:modified xsi:type="dcterms:W3CDTF">2026-04-14T10:42:50Z</dcterms:modified>
</cp:coreProperties>
</file>