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24" r:id="rId3"/>
    <p:sldId id="359" r:id="rId4"/>
    <p:sldId id="344" r:id="rId5"/>
    <p:sldId id="357" r:id="rId6"/>
    <p:sldId id="341" r:id="rId7"/>
    <p:sldId id="345" r:id="rId8"/>
    <p:sldId id="360" r:id="rId9"/>
    <p:sldId id="326" r:id="rId10"/>
    <p:sldId id="355" r:id="rId11"/>
    <p:sldId id="361" r:id="rId12"/>
    <p:sldId id="362" r:id="rId13"/>
    <p:sldId id="363" r:id="rId14"/>
    <p:sldId id="364" r:id="rId15"/>
    <p:sldId id="365" r:id="rId16"/>
    <p:sldId id="339" r:id="rId17"/>
    <p:sldId id="337" r:id="rId18"/>
    <p:sldId id="347" r:id="rId19"/>
    <p:sldId id="348" r:id="rId20"/>
    <p:sldId id="346" r:id="rId21"/>
    <p:sldId id="331" r:id="rId22"/>
    <p:sldId id="366" r:id="rId23"/>
    <p:sldId id="367" r:id="rId24"/>
    <p:sldId id="368" r:id="rId25"/>
    <p:sldId id="369" r:id="rId26"/>
    <p:sldId id="372" r:id="rId27"/>
    <p:sldId id="334" r:id="rId28"/>
    <p:sldId id="356" r:id="rId29"/>
    <p:sldId id="352" r:id="rId30"/>
    <p:sldId id="353" r:id="rId31"/>
    <p:sldId id="370" r:id="rId32"/>
    <p:sldId id="373" r:id="rId33"/>
    <p:sldId id="37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ED44EC-1A01-ABB5-EFFB-DB27E484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534AEB1-8620-0ACC-257F-797DAE0A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68F41E-A921-5F51-E73E-F5664F0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9D1526-A853-BC3A-5A89-C35D474C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59CAF6-944B-D7B5-D951-EDAB090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026CA1-7721-428F-200E-94DA932B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45358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033821F-A462-B2FD-DC6B-D98F54F1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0A6907-A5F5-D930-5D41-5F623C0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255E8D-E2E6-83F2-2FF8-B9ED679A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E98712-BD0B-29F3-FEC3-6EFF90D4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38B249-BA77-A00C-5C06-BD28B68E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0B4BFC-9E5C-E585-6A72-33955E45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383919-24D7-2823-92E8-CD2BEA99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240178-215C-25DE-A12C-4389E9CA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C5EBDA-0D7E-2512-FFC4-44E42DE1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0A86D4-D600-FF8D-7190-2D9E5D58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863AD1-92AA-490D-54A1-EC5BEBA68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F583411-8210-917C-C7C4-46882981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E533D6D-0184-D4C2-AB9F-5E5E9C04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370299-A6D4-8D00-BDBC-DB322CA6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056FA-EDAF-B0BB-EF8C-CC663C5E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F7E13F-3858-05D3-DAED-DA588813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9A8DD13-5A92-32A8-5298-BF9234A6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496866D-1936-5DF3-927C-12D6C5A64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5619F5E-990E-407E-F0C3-067B6799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B8514DA-A2F0-F6C2-DCE3-302891516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E449795-2AF9-123B-2A1E-DD315B3A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6261F7B-0C88-664E-B398-F230FAC8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FEF4B68-8C9C-3232-C775-CA0A4B21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5819E6-7206-174B-F6FC-37448200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CDC2E8-62C5-DD06-459F-BABF6CB3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14DED7F-6122-AB14-9857-0F6141ED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AE75C9D-C418-4E6F-FBAF-FDDE9220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0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31D4F83-DAD7-FEC7-652E-2B817A53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AE02390-9766-F3B7-2B38-5BA8D32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D6B2E95-40A1-2509-9EE8-F3362EFF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9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2F654E-D48D-03EC-F174-EE05C553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B68A96-8D3F-CCBA-897A-70CE76A6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1BABF03-B1CF-BF75-A4FC-95C93BCD2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E7E1D1-85A7-2E3A-E206-E97B6170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6212C0-A41D-4186-0B06-9D4AB04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D301B8-71B7-215C-7465-267F4DBE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3869C0-A901-75F3-4FEE-43F017F3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32706BD-ED55-7767-C72C-5F2FF4065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4A71B3-61F7-6013-69E4-577E1E03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DBA3EB4-8415-CF73-79EB-3E8E6DF7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72BE67-9388-F50B-444B-7699816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0352D74-9A9B-0F53-CEBF-3FEAA80B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53B6E4-D076-D212-90F0-BE82462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4ED9DB8-AC0E-90C7-D96E-8FA65FC9B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BF4D24B-7204-DE68-06B1-5804A4DB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1FA536-C6CA-F2B0-DED6-84F01F17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0C4B2D-287B-1A9E-3320-7DC09EE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9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71FE684-BCCC-5900-57B6-D3D7C54FB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579590F-0EE4-8274-86D6-95A5F2936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7D94D6-AEE0-583A-CCAD-ADC1BB72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4DF07A-389E-D9FD-98E8-288ADA0E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9F6DC5-247B-93EC-0EFB-827C6FF0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0750C7D-AB7B-D44F-E7E3-CF4A7245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97"/>
            <a:ext cx="10515600" cy="31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FA1CDF3-FAD1-B31E-2938-0728618FF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010"/>
            <a:ext cx="10515600" cy="4645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937F55-4AA0-29D8-2438-C2AFA8FDE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6A7A83-A7E1-40F3-CC93-736E011A1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87A676-C818-496C-D2FD-F2155129E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571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f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fif"/><Relationship Id="rId5" Type="http://schemas.openxmlformats.org/officeDocument/2006/relationships/image" Target="../media/image41.jfif"/><Relationship Id="rId4" Type="http://schemas.openxmlformats.org/officeDocument/2006/relationships/image" Target="../media/image40.web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Real Estate System 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/>
              <a:t>للإستثمار العقارى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r">
              <a:buNone/>
            </a:pPr>
            <a:r>
              <a:rPr lang="ar-EG" sz="2800" b="1" dirty="0">
                <a:cs typeface="+mj-cs"/>
              </a:rPr>
              <a:t>خصائص برنامج الاستثمار العقاري من </a:t>
            </a:r>
            <a:r>
              <a:rPr lang="en-US" sz="2800" b="1" dirty="0">
                <a:solidFill>
                  <a:srgbClr val="2E3093"/>
                </a:solidFill>
                <a:cs typeface="+mj-cs"/>
              </a:rPr>
              <a:t>4S</a:t>
            </a:r>
            <a:endParaRPr lang="ar-EG" sz="2800" b="1" dirty="0">
              <a:solidFill>
                <a:srgbClr val="2E3093"/>
              </a:solidFill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ar-EG" dirty="0">
                <a:cs typeface="+mj-cs"/>
              </a:rPr>
              <a:t>برنامج متكامل ويمكنه الربط مع برنامج</a:t>
            </a:r>
            <a:r>
              <a:rPr lang="en-US" dirty="0">
                <a:cs typeface="+mj-cs"/>
              </a:rPr>
              <a:t> </a:t>
            </a:r>
            <a:r>
              <a:rPr lang="ar-EG" dirty="0">
                <a:cs typeface="+mj-cs"/>
              </a:rPr>
              <a:t> ال</a:t>
            </a:r>
            <a:r>
              <a:rPr lang="en-US" dirty="0">
                <a:cs typeface="+mj-cs"/>
              </a:rPr>
              <a:t>CRM </a:t>
            </a:r>
            <a:r>
              <a:rPr lang="ar-EG" dirty="0">
                <a:cs typeface="+mj-cs"/>
              </a:rPr>
              <a:t> الخاص ب</a:t>
            </a:r>
            <a:r>
              <a:rPr lang="en-US" dirty="0">
                <a:cs typeface="+mj-cs"/>
              </a:rPr>
              <a:t>4S</a:t>
            </a:r>
          </a:p>
          <a:p>
            <a:pPr marL="457200" lvl="0" indent="-457200" algn="r" rtl="1">
              <a:lnSpc>
                <a:spcPct val="250000"/>
              </a:lnSpc>
              <a:buFont typeface="+mj-lt"/>
              <a:buAutoNum type="arabicPeriod"/>
            </a:pPr>
            <a:r>
              <a:rPr lang="ar-EG" dirty="0">
                <a:cs typeface="+mj-cs"/>
              </a:rPr>
              <a:t>يمكن تسجيل الوحدات والعملاء وإضافة شرح تفصيلي</a:t>
            </a:r>
            <a:endParaRPr lang="en-US" dirty="0">
              <a:cs typeface="+mj-cs"/>
            </a:endParaRPr>
          </a:p>
          <a:p>
            <a:pPr marL="457200" lvl="0" indent="-457200" algn="r" rtl="1">
              <a:lnSpc>
                <a:spcPct val="250000"/>
              </a:lnSpc>
              <a:buFont typeface="+mj-lt"/>
              <a:buAutoNum type="arabicPeriod"/>
            </a:pPr>
            <a:r>
              <a:rPr lang="ar-EG" dirty="0">
                <a:cs typeface="+mj-cs"/>
              </a:rPr>
              <a:t>يتم تسهيل تعريف طرق التقسيط  المختلفة والسداد الفورى</a:t>
            </a:r>
          </a:p>
          <a:p>
            <a:pPr marL="457200" lvl="0" indent="-457200" algn="r" rtl="1">
              <a:lnSpc>
                <a:spcPct val="250000"/>
              </a:lnSpc>
              <a:buFont typeface="+mj-lt"/>
              <a:buAutoNum type="arabicPeriod"/>
            </a:pPr>
            <a:r>
              <a:rPr lang="ar-EG" dirty="0">
                <a:cs typeface="+mj-cs"/>
              </a:rPr>
              <a:t>يتم عمل استمارات</a:t>
            </a:r>
            <a:r>
              <a:rPr lang="en-US" dirty="0">
                <a:cs typeface="+mj-cs"/>
              </a:rPr>
              <a:t>  </a:t>
            </a:r>
            <a:r>
              <a:rPr lang="ar-EG" dirty="0">
                <a:cs typeface="+mj-cs"/>
              </a:rPr>
              <a:t>الحجز والبيع مع إمكانية التنازل عنها أو نقلها</a:t>
            </a:r>
          </a:p>
          <a:p>
            <a:pPr marL="457200" indent="-457200" algn="r" rtl="1">
              <a:lnSpc>
                <a:spcPct val="250000"/>
              </a:lnSpc>
              <a:buFont typeface="+mj-lt"/>
              <a:buAutoNum type="arabicPeriod"/>
            </a:pPr>
            <a:r>
              <a:rPr lang="ar-EG" dirty="0">
                <a:cs typeface="+mj-cs"/>
              </a:rPr>
              <a:t>يتم تعريف وتحديد البنوك وتفاصيل شيكات الدفع</a:t>
            </a:r>
            <a:endParaRPr lang="en-US" dirty="0">
              <a:cs typeface="+mj-cs"/>
            </a:endParaRPr>
          </a:p>
          <a:p>
            <a:pPr marL="457200" indent="-457200" algn="r" rtl="1">
              <a:lnSpc>
                <a:spcPct val="250000"/>
              </a:lnSpc>
              <a:buFont typeface="+mj-lt"/>
              <a:buAutoNum type="arabicPeriod"/>
            </a:pPr>
            <a:r>
              <a:rPr lang="ar-EG" dirty="0">
                <a:cs typeface="+mj-cs"/>
              </a:rPr>
              <a:t>يوجد تقارير لمتابعة العملاء ووحداتهم ومشاكلها والمستجدات عليها ومتابعة الحركات المختلفة</a:t>
            </a:r>
            <a:endParaRPr lang="en-US" u="sng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205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A123F1AC-1E06-3A39-C961-F7D1498C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برنامج</a:t>
            </a:r>
            <a:r>
              <a:rPr lang="en-US" dirty="0">
                <a:solidFill>
                  <a:srgbClr val="2E3093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4S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متكامل و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به تعريفات لكل البيانات الأساسية الممكنة 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207D47AD-7303-D600-1D87-E3F2F0D1B931}"/>
              </a:ext>
            </a:extLst>
          </p:cNvPr>
          <p:cNvSpPr/>
          <p:nvPr/>
        </p:nvSpPr>
        <p:spPr>
          <a:xfrm>
            <a:off x="3264033" y="2962258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طرق التقسيط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AA712EE-531C-83B0-9705-623CB94AFC3A}"/>
              </a:ext>
            </a:extLst>
          </p:cNvPr>
          <p:cNvSpPr/>
          <p:nvPr/>
        </p:nvSpPr>
        <p:spPr>
          <a:xfrm>
            <a:off x="5398370" y="4309302"/>
            <a:ext cx="1397000" cy="1130300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الخزن والبنوك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5B3BCA7A-FDD0-FA65-0CA2-6AAFAB3CC190}"/>
              </a:ext>
            </a:extLst>
          </p:cNvPr>
          <p:cNvSpPr/>
          <p:nvPr/>
        </p:nvSpPr>
        <p:spPr>
          <a:xfrm>
            <a:off x="9487816" y="4309302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العملاء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81EFD63F-F3A2-0AF2-0E6A-47524CB2B0AE}"/>
              </a:ext>
            </a:extLst>
          </p:cNvPr>
          <p:cNvSpPr/>
          <p:nvPr/>
        </p:nvSpPr>
        <p:spPr>
          <a:xfrm>
            <a:off x="9487816" y="2962258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الملحقات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52E72226-07E7-AA5E-5318-18A3CE93FD6B}"/>
              </a:ext>
            </a:extLst>
          </p:cNvPr>
          <p:cNvSpPr/>
          <p:nvPr/>
        </p:nvSpPr>
        <p:spPr>
          <a:xfrm>
            <a:off x="3264033" y="1631827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الوحدات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1B50BAD-E08A-9244-6A68-99AE2F0ABE9B}"/>
              </a:ext>
            </a:extLst>
          </p:cNvPr>
          <p:cNvSpPr/>
          <p:nvPr/>
        </p:nvSpPr>
        <p:spPr>
          <a:xfrm>
            <a:off x="9487816" y="1631827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المشروع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84311932-FC05-5073-6F4F-C8C3C7EF1E92}"/>
              </a:ext>
            </a:extLst>
          </p:cNvPr>
          <p:cNvSpPr/>
          <p:nvPr/>
        </p:nvSpPr>
        <p:spPr>
          <a:xfrm>
            <a:off x="7413221" y="1631827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أنواع العقارات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95DFCED-736A-D623-1F33-1A1519B9F5BA}"/>
              </a:ext>
            </a:extLst>
          </p:cNvPr>
          <p:cNvSpPr/>
          <p:nvPr/>
        </p:nvSpPr>
        <p:spPr>
          <a:xfrm>
            <a:off x="7413221" y="2962258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المساحة وسعر المتر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53B02EF3-DFFF-1E50-5719-86E89817601C}"/>
              </a:ext>
            </a:extLst>
          </p:cNvPr>
          <p:cNvSpPr/>
          <p:nvPr/>
        </p:nvSpPr>
        <p:spPr>
          <a:xfrm>
            <a:off x="7443092" y="4309302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مسئولى المبيعات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4A77A585-C15C-0660-599C-25F2D76C42C6}"/>
              </a:ext>
            </a:extLst>
          </p:cNvPr>
          <p:cNvSpPr/>
          <p:nvPr/>
        </p:nvSpPr>
        <p:spPr>
          <a:xfrm>
            <a:off x="5338627" y="2962258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أنواع</a:t>
            </a:r>
            <a:r>
              <a:rPr lang="ar-EG" sz="1800" dirty="0"/>
              <a:t> التقسيط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4DD6B82E-8EF5-9E5F-825D-F2AE0E66B775}"/>
              </a:ext>
            </a:extLst>
          </p:cNvPr>
          <p:cNvSpPr/>
          <p:nvPr/>
        </p:nvSpPr>
        <p:spPr>
          <a:xfrm>
            <a:off x="1189439" y="2962258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نسب الغرامات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80BA751-5D58-B909-98D8-A4B6B830AFB9}"/>
              </a:ext>
            </a:extLst>
          </p:cNvPr>
          <p:cNvSpPr/>
          <p:nvPr/>
        </p:nvSpPr>
        <p:spPr>
          <a:xfrm>
            <a:off x="3353648" y="4309302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800" dirty="0"/>
              <a:t>محاكاة لاستمارات بيع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A1759B84-8A8A-9036-3D1E-B6FA86FEC41D}"/>
              </a:ext>
            </a:extLst>
          </p:cNvPr>
          <p:cNvSpPr/>
          <p:nvPr/>
        </p:nvSpPr>
        <p:spPr>
          <a:xfrm>
            <a:off x="1189439" y="4309302"/>
            <a:ext cx="1516487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الخصومات والإضافات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75FE5D8C-D5C1-142E-E515-202C75211889}"/>
              </a:ext>
            </a:extLst>
          </p:cNvPr>
          <p:cNvSpPr/>
          <p:nvPr/>
        </p:nvSpPr>
        <p:spPr>
          <a:xfrm>
            <a:off x="1189439" y="1631827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مراحل التنفيذ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64385A2F-8374-D0D7-8D3B-63FB3EFDF48C}"/>
              </a:ext>
            </a:extLst>
          </p:cNvPr>
          <p:cNvSpPr/>
          <p:nvPr/>
        </p:nvSpPr>
        <p:spPr>
          <a:xfrm>
            <a:off x="5338627" y="1631827"/>
            <a:ext cx="1397000" cy="11303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المناطق الجغرافية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rrow: Left-Right 52">
            <a:extLst>
              <a:ext uri="{FF2B5EF4-FFF2-40B4-BE49-F238E27FC236}">
                <a16:creationId xmlns="" xmlns:a16="http://schemas.microsoft.com/office/drawing/2014/main" id="{9F0A6CE9-6590-C2E0-31AA-8431E61734FB}"/>
              </a:ext>
            </a:extLst>
          </p:cNvPr>
          <p:cNvSpPr/>
          <p:nvPr/>
        </p:nvSpPr>
        <p:spPr>
          <a:xfrm>
            <a:off x="3639156" y="1552843"/>
            <a:ext cx="5331091" cy="930177"/>
          </a:xfrm>
          <a:prstGeom prst="leftRightArrow">
            <a:avLst/>
          </a:prstGeom>
          <a:solidFill>
            <a:schemeClr val="bg1"/>
          </a:solidFill>
          <a:ln w="31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3">
            <a:extLst>
              <a:ext uri="{FF2B5EF4-FFF2-40B4-BE49-F238E27FC236}">
                <a16:creationId xmlns="" xmlns:a16="http://schemas.microsoft.com/office/drawing/2014/main" id="{1AC5D1BB-68A8-AD1D-2609-0064C4E94842}"/>
              </a:ext>
            </a:extLst>
          </p:cNvPr>
          <p:cNvSpPr/>
          <p:nvPr/>
        </p:nvSpPr>
        <p:spPr>
          <a:xfrm>
            <a:off x="2183959" y="4809751"/>
            <a:ext cx="6636191" cy="16115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endParaRPr 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9259907" y="1253037"/>
            <a:ext cx="2331076" cy="14960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r>
              <a:rPr lang="en-US" sz="2400" b="1" dirty="0">
                <a:cs typeface="+mj-cs"/>
              </a:rPr>
              <a:t>4S Real  Estate</a:t>
            </a:r>
            <a:endParaRPr lang="ar-EG" sz="2400" b="1" dirty="0">
              <a:cs typeface="+mj-cs"/>
            </a:endParaRP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410" y="1253037"/>
            <a:ext cx="2331076" cy="14960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4S CRM</a:t>
            </a: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12" name="Vertical Scroll 11"/>
          <p:cNvSpPr/>
          <p:nvPr/>
        </p:nvSpPr>
        <p:spPr>
          <a:xfrm>
            <a:off x="5685195" y="5135923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حجز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13" name="Vertical Scroll 12"/>
          <p:cNvSpPr/>
          <p:nvPr/>
        </p:nvSpPr>
        <p:spPr>
          <a:xfrm>
            <a:off x="7083713" y="5144165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بيع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790110" y="2920985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مراحل المشروع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112170" y="381167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الملحقات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272534" y="306602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الوحدات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0525597" y="2622611"/>
            <a:ext cx="1" cy="113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1468274" y="2544625"/>
            <a:ext cx="0" cy="33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45903" y="1572998"/>
            <a:ext cx="1197737" cy="830686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التسويق</a:t>
            </a:r>
            <a:endParaRPr lang="en-US" b="1" dirty="0">
              <a:solidFill>
                <a:schemeClr val="accent5">
                  <a:lumMod val="75000"/>
                </a:schemeClr>
              </a:solidFill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آلية العمل</a:t>
            </a:r>
            <a:r>
              <a:rPr lang="en-US" dirty="0"/>
              <a:t> 4S Real Estate System Workflow </a:t>
            </a:r>
            <a:r>
              <a:rPr lang="ar-EG" dirty="0"/>
              <a:t>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25A71CD-6AF8-0D75-56C7-7B02EA0D690C}"/>
              </a:ext>
            </a:extLst>
          </p:cNvPr>
          <p:cNvCxnSpPr>
            <a:stCxn id="4" idx="1"/>
            <a:endCxn id="29" idx="6"/>
          </p:cNvCxnSpPr>
          <p:nvPr/>
        </p:nvCxnSpPr>
        <p:spPr>
          <a:xfrm flipH="1" flipV="1">
            <a:off x="7143640" y="1988341"/>
            <a:ext cx="2116267" cy="1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5B3A5303-EE52-1C72-37B6-D3125713B53C}"/>
              </a:ext>
            </a:extLst>
          </p:cNvPr>
          <p:cNvCxnSpPr>
            <a:cxnSpLocks/>
            <a:stCxn id="29" idx="2"/>
            <a:endCxn id="5" idx="3"/>
          </p:cNvCxnSpPr>
          <p:nvPr/>
        </p:nvCxnSpPr>
        <p:spPr>
          <a:xfrm flipH="1">
            <a:off x="3345486" y="1988341"/>
            <a:ext cx="2600417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D3ED9F4-29FD-023E-ECB6-E62480C949BC}"/>
              </a:ext>
            </a:extLst>
          </p:cNvPr>
          <p:cNvSpPr txBox="1"/>
          <p:nvPr/>
        </p:nvSpPr>
        <p:spPr>
          <a:xfrm>
            <a:off x="4046143" y="1797507"/>
            <a:ext cx="1754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400" b="1" dirty="0">
                <a:solidFill>
                  <a:schemeClr val="tx1"/>
                </a:solidFill>
                <a:cs typeface="+mj-cs"/>
              </a:rPr>
              <a:t>العملاء المتوقعين</a:t>
            </a:r>
            <a:endParaRPr lang="en-US" sz="1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9759596-1FD6-1D15-25BC-E2692399D4BB}"/>
              </a:ext>
            </a:extLst>
          </p:cNvPr>
          <p:cNvSpPr/>
          <p:nvPr/>
        </p:nvSpPr>
        <p:spPr>
          <a:xfrm>
            <a:off x="535388" y="3325010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توزيع العملاء على مندوبى المبيعات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1DE36C4-049A-569A-FC67-B1E704D71225}"/>
              </a:ext>
            </a:extLst>
          </p:cNvPr>
          <p:cNvSpPr/>
          <p:nvPr/>
        </p:nvSpPr>
        <p:spPr>
          <a:xfrm>
            <a:off x="2209362" y="3089053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العملاء</a:t>
            </a:r>
            <a:r>
              <a:rPr lang="en-US" sz="1400" b="1" dirty="0">
                <a:solidFill>
                  <a:schemeClr val="accent1"/>
                </a:solidFill>
                <a:cs typeface="+mj-cs"/>
              </a:rPr>
              <a:t> </a:t>
            </a:r>
            <a:r>
              <a:rPr lang="ar-EG" sz="1400" b="1" dirty="0">
                <a:solidFill>
                  <a:schemeClr val="accent1"/>
                </a:solidFill>
                <a:cs typeface="+mj-cs"/>
              </a:rPr>
              <a:t>تحديد واهتماماتهم المتوقعة من التسويق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2ACEE73-17C1-E59C-4E03-0AA13FC107FE}"/>
              </a:ext>
            </a:extLst>
          </p:cNvPr>
          <p:cNvSpPr/>
          <p:nvPr/>
        </p:nvSpPr>
        <p:spPr>
          <a:xfrm>
            <a:off x="2652801" y="5212215"/>
            <a:ext cx="1385371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التواصل والاجتماع مع العميل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8DA8ACC3-D5E9-61A1-E69E-D0D418C4FE67}"/>
              </a:ext>
            </a:extLst>
          </p:cNvPr>
          <p:cNvSpPr/>
          <p:nvPr/>
        </p:nvSpPr>
        <p:spPr>
          <a:xfrm>
            <a:off x="4141709" y="5203973"/>
            <a:ext cx="1439949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عرض الوحدات المتاحة وطرق التقسيط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FCCA0AE1-315F-8239-CE3B-5DD23416CF37}"/>
              </a:ext>
            </a:extLst>
          </p:cNvPr>
          <p:cNvCxnSpPr/>
          <p:nvPr/>
        </p:nvCxnSpPr>
        <p:spPr>
          <a:xfrm>
            <a:off x="1399541" y="2576461"/>
            <a:ext cx="0" cy="64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9C607EAD-A34C-CB55-E064-6B89033113FF}"/>
              </a:ext>
            </a:extLst>
          </p:cNvPr>
          <p:cNvCxnSpPr/>
          <p:nvPr/>
        </p:nvCxnSpPr>
        <p:spPr>
          <a:xfrm>
            <a:off x="2876644" y="2544625"/>
            <a:ext cx="0" cy="44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">
            <a:extLst>
              <a:ext uri="{FF2B5EF4-FFF2-40B4-BE49-F238E27FC236}">
                <a16:creationId xmlns="" xmlns:a16="http://schemas.microsoft.com/office/drawing/2014/main" id="{A5195F2B-9819-7536-CDF4-A348660834CB}"/>
              </a:ext>
            </a:extLst>
          </p:cNvPr>
          <p:cNvSpPr/>
          <p:nvPr/>
        </p:nvSpPr>
        <p:spPr>
          <a:xfrm>
            <a:off x="9259907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المشروع 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2" name="Rounded Rectangle 3">
            <a:extLst>
              <a:ext uri="{FF2B5EF4-FFF2-40B4-BE49-F238E27FC236}">
                <a16:creationId xmlns="" xmlns:a16="http://schemas.microsoft.com/office/drawing/2014/main" id="{BF1B9D4B-74B8-AE45-AE8D-551FF6E82AE1}"/>
              </a:ext>
            </a:extLst>
          </p:cNvPr>
          <p:cNvSpPr/>
          <p:nvPr/>
        </p:nvSpPr>
        <p:spPr>
          <a:xfrm>
            <a:off x="1018421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العميل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="" xmlns:a16="http://schemas.microsoft.com/office/drawing/2014/main" id="{3913F186-63E0-3CE4-8BB0-F7A14525103A}"/>
              </a:ext>
            </a:extLst>
          </p:cNvPr>
          <p:cNvSpPr/>
          <p:nvPr/>
        </p:nvSpPr>
        <p:spPr>
          <a:xfrm>
            <a:off x="2183959" y="4679216"/>
            <a:ext cx="6636191" cy="3415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>
                <a:solidFill>
                  <a:schemeClr val="accent1"/>
                </a:solidFill>
                <a:cs typeface="+mj-cs"/>
              </a:rPr>
              <a:t>بيع المشروع 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B060C1C4-0F5A-F6F5-22AE-BA1FB2F9B406}"/>
              </a:ext>
            </a:extLst>
          </p:cNvPr>
          <p:cNvSpPr/>
          <p:nvPr/>
        </p:nvSpPr>
        <p:spPr>
          <a:xfrm>
            <a:off x="10153392" y="5216294"/>
            <a:ext cx="1127380" cy="79849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التقارير</a:t>
            </a:r>
            <a:endParaRPr lang="en-US" sz="2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8A923F90-6A23-4103-BB54-4050CD0CD55A}"/>
              </a:ext>
            </a:extLst>
          </p:cNvPr>
          <p:cNvCxnSpPr/>
          <p:nvPr/>
        </p:nvCxnSpPr>
        <p:spPr>
          <a:xfrm>
            <a:off x="9737286" y="2545408"/>
            <a:ext cx="0" cy="48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="" xmlns:a16="http://schemas.microsoft.com/office/drawing/2014/main" id="{B75AF417-908B-3C83-0538-A66DF0149C5A}"/>
              </a:ext>
            </a:extLst>
          </p:cNvPr>
          <p:cNvCxnSpPr>
            <a:endCxn id="54" idx="1"/>
          </p:cNvCxnSpPr>
          <p:nvPr/>
        </p:nvCxnSpPr>
        <p:spPr>
          <a:xfrm rot="16200000" flipH="1">
            <a:off x="942947" y="4374526"/>
            <a:ext cx="1564239" cy="917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="" xmlns:a16="http://schemas.microsoft.com/office/drawing/2014/main" id="{A078CD14-279E-B0E8-9308-1404F4D14070}"/>
              </a:ext>
            </a:extLst>
          </p:cNvPr>
          <p:cNvCxnSpPr>
            <a:cxnSpLocks/>
            <a:endCxn id="57" idx="6"/>
          </p:cNvCxnSpPr>
          <p:nvPr/>
        </p:nvCxnSpPr>
        <p:spPr>
          <a:xfrm rot="16200000" flipH="1">
            <a:off x="10632547" y="4967314"/>
            <a:ext cx="805788" cy="490662"/>
          </a:xfrm>
          <a:prstGeom prst="bentConnector4">
            <a:avLst>
              <a:gd name="adj1" fmla="val 25226"/>
              <a:gd name="adj2" fmla="val 1465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6B2E1594-0EF4-99F6-1E3E-93AA58D11FAC}"/>
              </a:ext>
            </a:extLst>
          </p:cNvPr>
          <p:cNvCxnSpPr>
            <a:cxnSpLocks/>
            <a:stCxn id="54" idx="3"/>
            <a:endCxn id="57" idx="2"/>
          </p:cNvCxnSpPr>
          <p:nvPr/>
        </p:nvCxnSpPr>
        <p:spPr>
          <a:xfrm>
            <a:off x="8820150" y="5615539"/>
            <a:ext cx="133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="" xmlns:a16="http://schemas.microsoft.com/office/drawing/2014/main" id="{F37A002C-C06C-829C-BC61-9A007B137F1B}"/>
              </a:ext>
            </a:extLst>
          </p:cNvPr>
          <p:cNvSpPr/>
          <p:nvPr/>
        </p:nvSpPr>
        <p:spPr>
          <a:xfrm>
            <a:off x="9497984" y="2694797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="" xmlns:a16="http://schemas.microsoft.com/office/drawing/2014/main" id="{3C12F3A5-795D-956F-CCAE-46BE7AE5DB07}"/>
              </a:ext>
            </a:extLst>
          </p:cNvPr>
          <p:cNvSpPr/>
          <p:nvPr/>
        </p:nvSpPr>
        <p:spPr>
          <a:xfrm>
            <a:off x="1248700" y="2691953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="" xmlns:a16="http://schemas.microsoft.com/office/drawing/2014/main" id="{1835E147-C315-D625-6872-C2DBE93E2876}"/>
              </a:ext>
            </a:extLst>
          </p:cNvPr>
          <p:cNvSpPr/>
          <p:nvPr/>
        </p:nvSpPr>
        <p:spPr>
          <a:xfrm>
            <a:off x="2556859" y="6376588"/>
            <a:ext cx="5870489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="" xmlns:a16="http://schemas.microsoft.com/office/drawing/2014/main" id="{CF891582-6AD9-A8C9-354C-F534751B08C8}"/>
              </a:ext>
            </a:extLst>
          </p:cNvPr>
          <p:cNvSpPr txBox="1"/>
          <p:nvPr/>
        </p:nvSpPr>
        <p:spPr>
          <a:xfrm>
            <a:off x="11468274" y="840049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3BB8F0E2-2D0D-419B-2AA0-9219875DE04C}"/>
              </a:ext>
            </a:extLst>
          </p:cNvPr>
          <p:cNvSpPr txBox="1"/>
          <p:nvPr/>
        </p:nvSpPr>
        <p:spPr>
          <a:xfrm>
            <a:off x="9895850" y="4951257"/>
            <a:ext cx="575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4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34B4E885-3B61-5813-3BFF-997392B286A0}"/>
              </a:ext>
            </a:extLst>
          </p:cNvPr>
          <p:cNvSpPr txBox="1"/>
          <p:nvPr/>
        </p:nvSpPr>
        <p:spPr>
          <a:xfrm>
            <a:off x="752800" y="842274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F8CBA329-8796-1102-A373-9F8336373E53}"/>
              </a:ext>
            </a:extLst>
          </p:cNvPr>
          <p:cNvSpPr txBox="1"/>
          <p:nvPr/>
        </p:nvSpPr>
        <p:spPr>
          <a:xfrm>
            <a:off x="1790153" y="4951257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C36C70AB-4DFC-7E70-7E16-D75EB05D7D59}"/>
              </a:ext>
            </a:extLst>
          </p:cNvPr>
          <p:cNvSpPr txBox="1"/>
          <p:nvPr/>
        </p:nvSpPr>
        <p:spPr>
          <a:xfrm>
            <a:off x="9845642" y="4894441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34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22241E35-1955-186B-D814-6327556C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>
                <a:solidFill>
                  <a:prstClr val="black"/>
                </a:solidFill>
              </a:rPr>
              <a:t>الخطوة الأولي:</a:t>
            </a:r>
            <a:r>
              <a:rPr lang="ar-EG" u="sng" dirty="0">
                <a:solidFill>
                  <a:prstClr val="black"/>
                </a:solidFill>
              </a:rPr>
              <a:t> </a:t>
            </a:r>
            <a:r>
              <a:rPr lang="ar-EG" sz="2800" b="1" u="sng" dirty="0">
                <a:solidFill>
                  <a:prstClr val="black"/>
                </a:solidFill>
              </a:rPr>
              <a:t>تعريف المشروع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ar-EG" sz="2800" b="1" dirty="0">
                <a:solidFill>
                  <a:prstClr val="black"/>
                </a:solidFill>
              </a:rPr>
              <a:t> </a:t>
            </a:r>
            <a:r>
              <a:rPr lang="ar-EG" sz="2800" dirty="0">
                <a:solidFill>
                  <a:prstClr val="black"/>
                </a:solidFill>
              </a:rPr>
              <a:t>- 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ar-EG" sz="2800" dirty="0">
                <a:solidFill>
                  <a:prstClr val="black"/>
                </a:solidFill>
              </a:rPr>
              <a:t>يتم تعريف المشروع فى برنامج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4S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ar-EG" sz="2800" dirty="0">
                <a:solidFill>
                  <a:prstClr val="black"/>
                </a:solidFill>
              </a:rPr>
              <a:t>للإستثمار العقارى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06" y="1143897"/>
            <a:ext cx="10469204" cy="4793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DADF7E5-2DEB-01F7-F0B5-C943F0A1FBB0}"/>
              </a:ext>
            </a:extLst>
          </p:cNvPr>
          <p:cNvSpPr/>
          <p:nvPr/>
        </p:nvSpPr>
        <p:spPr>
          <a:xfrm>
            <a:off x="7022157" y="1944709"/>
            <a:ext cx="1683961" cy="37348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DADF7E5-2DEB-01F7-F0B5-C943F0A1FBB0}"/>
              </a:ext>
            </a:extLst>
          </p:cNvPr>
          <p:cNvSpPr/>
          <p:nvPr/>
        </p:nvSpPr>
        <p:spPr>
          <a:xfrm>
            <a:off x="6581105" y="3340906"/>
            <a:ext cx="2831206" cy="6773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DADF7E5-2DEB-01F7-F0B5-C943F0A1FBB0}"/>
              </a:ext>
            </a:extLst>
          </p:cNvPr>
          <p:cNvSpPr/>
          <p:nvPr/>
        </p:nvSpPr>
        <p:spPr>
          <a:xfrm>
            <a:off x="1313645" y="3614002"/>
            <a:ext cx="2998631" cy="4042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91" y="3693875"/>
            <a:ext cx="6487386" cy="2611526"/>
          </a:xfrm>
          <a:prstGeom prst="rect">
            <a:avLst/>
          </a:prstGeom>
          <a:ln>
            <a:solidFill>
              <a:srgbClr val="2E3093"/>
            </a:solidFill>
          </a:ln>
        </p:spPr>
      </p:pic>
      <p:sp>
        <p:nvSpPr>
          <p:cNvPr id="6" name="Title 5">
            <a:extLst>
              <a:ext uri="{FF2B5EF4-FFF2-40B4-BE49-F238E27FC236}">
                <a16:creationId xmlns="" xmlns:a16="http://schemas.microsoft.com/office/drawing/2014/main" id="{763D2D22-486B-A63C-F266-D5C55C61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dirty="0"/>
              <a:t>ثم يتم </a:t>
            </a:r>
            <a:r>
              <a:rPr lang="ar-EG" sz="2800" b="1" u="sng" dirty="0"/>
              <a:t>تعريف</a:t>
            </a:r>
            <a:r>
              <a:rPr lang="ar-EG" sz="2800" u="sng" dirty="0"/>
              <a:t> </a:t>
            </a:r>
            <a:r>
              <a:rPr lang="ar-EG" sz="2800" b="1" u="sng" dirty="0"/>
              <a:t>الوحدة </a:t>
            </a:r>
            <a:r>
              <a:rPr lang="ar-EG" sz="2800" dirty="0"/>
              <a:t>فى </a:t>
            </a:r>
            <a:r>
              <a:rPr lang="ar-EG" sz="2800" dirty="0">
                <a:solidFill>
                  <a:prstClr val="black"/>
                </a:solidFill>
              </a:rPr>
              <a:t>برنامج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4S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ar-EG" sz="2800" dirty="0">
                <a:solidFill>
                  <a:prstClr val="black"/>
                </a:solidFill>
              </a:rPr>
              <a:t>للإستثمار العقارى</a:t>
            </a:r>
            <a:endParaRPr lang="en-US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="" xmlns:a16="http://schemas.microsoft.com/office/drawing/2014/main" id="{3B0DF553-2AC4-A640-1B5C-4FEFDE12D95B}"/>
              </a:ext>
            </a:extLst>
          </p:cNvPr>
          <p:cNvCxnSpPr>
            <a:stCxn id="2" idx="3"/>
            <a:endCxn id="5" idx="0"/>
          </p:cNvCxnSpPr>
          <p:nvPr/>
        </p:nvCxnSpPr>
        <p:spPr>
          <a:xfrm>
            <a:off x="6944478" y="2773466"/>
            <a:ext cx="1209906" cy="92040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1609C07-B6B5-B5F1-1586-ECEF729E8EEC}"/>
              </a:ext>
            </a:extLst>
          </p:cNvPr>
          <p:cNvSpPr txBox="1"/>
          <p:nvPr/>
        </p:nvSpPr>
        <p:spPr>
          <a:xfrm>
            <a:off x="8154384" y="2773466"/>
            <a:ext cx="222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You can tag the unit to the google location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59" y="655112"/>
            <a:ext cx="6276019" cy="42367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DADF7E5-2DEB-01F7-F0B5-C943F0A1FBB0}"/>
              </a:ext>
            </a:extLst>
          </p:cNvPr>
          <p:cNvSpPr/>
          <p:nvPr/>
        </p:nvSpPr>
        <p:spPr>
          <a:xfrm>
            <a:off x="1622738" y="2248046"/>
            <a:ext cx="5215944" cy="9201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5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2977" y="3153992"/>
            <a:ext cx="6084210" cy="836354"/>
          </a:xfrm>
        </p:spPr>
        <p:txBody>
          <a:bodyPr>
            <a:normAutofit/>
          </a:bodyPr>
          <a:lstStyle/>
          <a:p>
            <a:pPr algn="r"/>
            <a:r>
              <a:rPr lang="ar-EG" sz="2000" dirty="0"/>
              <a:t>متبعاً</a:t>
            </a:r>
            <a:r>
              <a:rPr lang="ar-EG" sz="2000" b="1" dirty="0"/>
              <a:t> بتعريف خدمات الوحدة </a:t>
            </a:r>
            <a:r>
              <a:rPr lang="ar-EG" sz="2000" dirty="0" smtClean="0"/>
              <a:t>(وديعه صيانه)</a:t>
            </a:r>
            <a:endParaRPr lang="en-US" sz="2000" dirty="0"/>
          </a:p>
        </p:txBody>
      </p:sp>
      <p:sp>
        <p:nvSpPr>
          <p:cNvPr id="4" name="Title 5">
            <a:extLst>
              <a:ext uri="{FF2B5EF4-FFF2-40B4-BE49-F238E27FC236}">
                <a16:creationId xmlns="" xmlns:a16="http://schemas.microsoft.com/office/drawing/2014/main" id="{8EFFAD8A-B78E-4A58-7EF7-5B3D5752CC40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453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dirty="0"/>
              <a:t>ثم يتم </a:t>
            </a:r>
            <a:r>
              <a:rPr lang="ar-EG" sz="2800" b="1" dirty="0"/>
              <a:t>تعريف ملحقات الوحدة </a:t>
            </a:r>
            <a:r>
              <a:rPr lang="ar-EG" sz="2000" dirty="0"/>
              <a:t>(سطح مساحة 50م</a:t>
            </a:r>
            <a:r>
              <a:rPr lang="ar-EG" sz="2000" baseline="30000" dirty="0"/>
              <a:t>2</a:t>
            </a:r>
            <a:r>
              <a:rPr lang="ar-EG" sz="2000" dirty="0"/>
              <a:t>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892" y="714461"/>
            <a:ext cx="6600015" cy="2139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ADDCABB-62BD-000E-7E23-837F2A02DFFE}"/>
              </a:ext>
            </a:extLst>
          </p:cNvPr>
          <p:cNvSpPr/>
          <p:nvPr/>
        </p:nvSpPr>
        <p:spPr>
          <a:xfrm>
            <a:off x="9138299" y="1877780"/>
            <a:ext cx="2553629" cy="2174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174" y="4290676"/>
            <a:ext cx="6060733" cy="144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ADDCABB-62BD-000E-7E23-837F2A02DFFE}"/>
              </a:ext>
            </a:extLst>
          </p:cNvPr>
          <p:cNvSpPr/>
          <p:nvPr/>
        </p:nvSpPr>
        <p:spPr>
          <a:xfrm>
            <a:off x="9545278" y="5209910"/>
            <a:ext cx="2553629" cy="2174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736" y="136525"/>
            <a:ext cx="4069724" cy="2990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74CB2D70-7510-02F1-8E42-B645BF4B9FE5}"/>
              </a:ext>
            </a:extLst>
          </p:cNvPr>
          <p:cNvSpPr/>
          <p:nvPr/>
        </p:nvSpPr>
        <p:spPr>
          <a:xfrm>
            <a:off x="2408350" y="935449"/>
            <a:ext cx="2833354" cy="942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6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66F6F28-F0F4-536E-0603-853D407E91E3}"/>
              </a:ext>
            </a:extLst>
          </p:cNvPr>
          <p:cNvSpPr/>
          <p:nvPr/>
        </p:nvSpPr>
        <p:spPr>
          <a:xfrm>
            <a:off x="183999" y="384635"/>
            <a:ext cx="4535904" cy="40380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Left-Right 52">
            <a:extLst>
              <a:ext uri="{FF2B5EF4-FFF2-40B4-BE49-F238E27FC236}">
                <a16:creationId xmlns="" xmlns:a16="http://schemas.microsoft.com/office/drawing/2014/main" id="{9F0A6CE9-6590-C2E0-31AA-8431E61734FB}"/>
              </a:ext>
            </a:extLst>
          </p:cNvPr>
          <p:cNvSpPr/>
          <p:nvPr/>
        </p:nvSpPr>
        <p:spPr>
          <a:xfrm>
            <a:off x="3639156" y="1552843"/>
            <a:ext cx="5331091" cy="930177"/>
          </a:xfrm>
          <a:prstGeom prst="leftRightArrow">
            <a:avLst/>
          </a:prstGeom>
          <a:solidFill>
            <a:schemeClr val="bg1"/>
          </a:solidFill>
          <a:ln w="31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3">
            <a:extLst>
              <a:ext uri="{FF2B5EF4-FFF2-40B4-BE49-F238E27FC236}">
                <a16:creationId xmlns="" xmlns:a16="http://schemas.microsoft.com/office/drawing/2014/main" id="{1AC5D1BB-68A8-AD1D-2609-0064C4E94842}"/>
              </a:ext>
            </a:extLst>
          </p:cNvPr>
          <p:cNvSpPr/>
          <p:nvPr/>
        </p:nvSpPr>
        <p:spPr>
          <a:xfrm>
            <a:off x="2183959" y="4809751"/>
            <a:ext cx="6636191" cy="16115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endParaRPr 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9259907" y="1253037"/>
            <a:ext cx="2331076" cy="14960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r>
              <a:rPr lang="en-US" sz="2400" b="1" dirty="0">
                <a:cs typeface="+mj-cs"/>
              </a:rPr>
              <a:t>4S Real  Estate</a:t>
            </a:r>
            <a:endParaRPr lang="ar-EG" sz="2400" b="1" dirty="0">
              <a:cs typeface="+mj-cs"/>
            </a:endParaRP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410" y="1253037"/>
            <a:ext cx="2331076" cy="14960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4S CRM</a:t>
            </a: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12" name="Vertical Scroll 11"/>
          <p:cNvSpPr/>
          <p:nvPr/>
        </p:nvSpPr>
        <p:spPr>
          <a:xfrm>
            <a:off x="5685195" y="5135923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حجز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13" name="Vertical Scroll 12"/>
          <p:cNvSpPr/>
          <p:nvPr/>
        </p:nvSpPr>
        <p:spPr>
          <a:xfrm>
            <a:off x="7083713" y="5144165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بيع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790110" y="2920985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مراحل المشروع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112170" y="381167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الملحقات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272534" y="306602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الوحدات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0525597" y="2622611"/>
            <a:ext cx="1" cy="113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1468274" y="2544625"/>
            <a:ext cx="0" cy="33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45903" y="1572998"/>
            <a:ext cx="1197737" cy="830686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التسويق</a:t>
            </a:r>
            <a:endParaRPr lang="en-US" b="1" dirty="0">
              <a:solidFill>
                <a:schemeClr val="accent5">
                  <a:lumMod val="75000"/>
                </a:schemeClr>
              </a:solidFill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آلية العمل</a:t>
            </a:r>
            <a:r>
              <a:rPr lang="en-US" dirty="0"/>
              <a:t> 4S Real Estate System Workflow </a:t>
            </a:r>
            <a:r>
              <a:rPr lang="ar-EG" dirty="0"/>
              <a:t>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25A71CD-6AF8-0D75-56C7-7B02EA0D690C}"/>
              </a:ext>
            </a:extLst>
          </p:cNvPr>
          <p:cNvCxnSpPr>
            <a:stCxn id="4" idx="1"/>
            <a:endCxn id="29" idx="6"/>
          </p:cNvCxnSpPr>
          <p:nvPr/>
        </p:nvCxnSpPr>
        <p:spPr>
          <a:xfrm flipH="1" flipV="1">
            <a:off x="7143640" y="1988341"/>
            <a:ext cx="2116267" cy="1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5B3A5303-EE52-1C72-37B6-D3125713B53C}"/>
              </a:ext>
            </a:extLst>
          </p:cNvPr>
          <p:cNvCxnSpPr>
            <a:cxnSpLocks/>
            <a:stCxn id="29" idx="2"/>
            <a:endCxn id="5" idx="3"/>
          </p:cNvCxnSpPr>
          <p:nvPr/>
        </p:nvCxnSpPr>
        <p:spPr>
          <a:xfrm flipH="1">
            <a:off x="3345486" y="1988341"/>
            <a:ext cx="2600417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D3ED9F4-29FD-023E-ECB6-E62480C949BC}"/>
              </a:ext>
            </a:extLst>
          </p:cNvPr>
          <p:cNvSpPr txBox="1"/>
          <p:nvPr/>
        </p:nvSpPr>
        <p:spPr>
          <a:xfrm>
            <a:off x="4046143" y="1797507"/>
            <a:ext cx="1754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400" b="1" dirty="0">
                <a:solidFill>
                  <a:schemeClr val="tx1"/>
                </a:solidFill>
                <a:cs typeface="+mj-cs"/>
              </a:rPr>
              <a:t>العملاء المتوقعين</a:t>
            </a:r>
            <a:endParaRPr lang="en-US" sz="1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9759596-1FD6-1D15-25BC-E2692399D4BB}"/>
              </a:ext>
            </a:extLst>
          </p:cNvPr>
          <p:cNvSpPr/>
          <p:nvPr/>
        </p:nvSpPr>
        <p:spPr>
          <a:xfrm>
            <a:off x="535388" y="3325010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توزيع العملاء على مندوبى المبيعات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1DE36C4-049A-569A-FC67-B1E704D71225}"/>
              </a:ext>
            </a:extLst>
          </p:cNvPr>
          <p:cNvSpPr/>
          <p:nvPr/>
        </p:nvSpPr>
        <p:spPr>
          <a:xfrm>
            <a:off x="2209362" y="3089053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العملاء</a:t>
            </a:r>
            <a:r>
              <a:rPr lang="en-US" sz="1400" b="1" dirty="0">
                <a:solidFill>
                  <a:schemeClr val="accent1"/>
                </a:solidFill>
                <a:cs typeface="+mj-cs"/>
              </a:rPr>
              <a:t> </a:t>
            </a:r>
            <a:r>
              <a:rPr lang="ar-EG" sz="1400" b="1" dirty="0">
                <a:solidFill>
                  <a:schemeClr val="accent1"/>
                </a:solidFill>
                <a:cs typeface="+mj-cs"/>
              </a:rPr>
              <a:t>تحديد واهتماماتهم المتوقعة من التسويق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2ACEE73-17C1-E59C-4E03-0AA13FC107FE}"/>
              </a:ext>
            </a:extLst>
          </p:cNvPr>
          <p:cNvSpPr/>
          <p:nvPr/>
        </p:nvSpPr>
        <p:spPr>
          <a:xfrm>
            <a:off x="2652801" y="5212215"/>
            <a:ext cx="1385371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التواصل والاجتماع مع العميل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8DA8ACC3-D5E9-61A1-E69E-D0D418C4FE67}"/>
              </a:ext>
            </a:extLst>
          </p:cNvPr>
          <p:cNvSpPr/>
          <p:nvPr/>
        </p:nvSpPr>
        <p:spPr>
          <a:xfrm>
            <a:off x="4141709" y="5203973"/>
            <a:ext cx="1439949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عرض الوحدات المتاحة وطرق التقسيط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FCCA0AE1-315F-8239-CE3B-5DD23416CF37}"/>
              </a:ext>
            </a:extLst>
          </p:cNvPr>
          <p:cNvCxnSpPr/>
          <p:nvPr/>
        </p:nvCxnSpPr>
        <p:spPr>
          <a:xfrm>
            <a:off x="1399541" y="2576461"/>
            <a:ext cx="0" cy="64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9C607EAD-A34C-CB55-E064-6B89033113FF}"/>
              </a:ext>
            </a:extLst>
          </p:cNvPr>
          <p:cNvCxnSpPr/>
          <p:nvPr/>
        </p:nvCxnSpPr>
        <p:spPr>
          <a:xfrm>
            <a:off x="2876644" y="2544625"/>
            <a:ext cx="0" cy="44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">
            <a:extLst>
              <a:ext uri="{FF2B5EF4-FFF2-40B4-BE49-F238E27FC236}">
                <a16:creationId xmlns="" xmlns:a16="http://schemas.microsoft.com/office/drawing/2014/main" id="{A5195F2B-9819-7536-CDF4-A348660834CB}"/>
              </a:ext>
            </a:extLst>
          </p:cNvPr>
          <p:cNvSpPr/>
          <p:nvPr/>
        </p:nvSpPr>
        <p:spPr>
          <a:xfrm>
            <a:off x="9259907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المشروع 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2" name="Rounded Rectangle 3">
            <a:extLst>
              <a:ext uri="{FF2B5EF4-FFF2-40B4-BE49-F238E27FC236}">
                <a16:creationId xmlns="" xmlns:a16="http://schemas.microsoft.com/office/drawing/2014/main" id="{BF1B9D4B-74B8-AE45-AE8D-551FF6E82AE1}"/>
              </a:ext>
            </a:extLst>
          </p:cNvPr>
          <p:cNvSpPr/>
          <p:nvPr/>
        </p:nvSpPr>
        <p:spPr>
          <a:xfrm>
            <a:off x="1018421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العميل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="" xmlns:a16="http://schemas.microsoft.com/office/drawing/2014/main" id="{3913F186-63E0-3CE4-8BB0-F7A14525103A}"/>
              </a:ext>
            </a:extLst>
          </p:cNvPr>
          <p:cNvSpPr/>
          <p:nvPr/>
        </p:nvSpPr>
        <p:spPr>
          <a:xfrm>
            <a:off x="2183959" y="4679216"/>
            <a:ext cx="6636191" cy="3415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>
                <a:solidFill>
                  <a:schemeClr val="accent1"/>
                </a:solidFill>
                <a:cs typeface="+mj-cs"/>
              </a:rPr>
              <a:t>بيع المشروع 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B060C1C4-0F5A-F6F5-22AE-BA1FB2F9B406}"/>
              </a:ext>
            </a:extLst>
          </p:cNvPr>
          <p:cNvSpPr/>
          <p:nvPr/>
        </p:nvSpPr>
        <p:spPr>
          <a:xfrm>
            <a:off x="10153392" y="5216294"/>
            <a:ext cx="1127380" cy="79849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التقارير</a:t>
            </a:r>
            <a:endParaRPr lang="en-US" sz="2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8A923F90-6A23-4103-BB54-4050CD0CD55A}"/>
              </a:ext>
            </a:extLst>
          </p:cNvPr>
          <p:cNvCxnSpPr/>
          <p:nvPr/>
        </p:nvCxnSpPr>
        <p:spPr>
          <a:xfrm>
            <a:off x="9737286" y="2545408"/>
            <a:ext cx="0" cy="48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="" xmlns:a16="http://schemas.microsoft.com/office/drawing/2014/main" id="{B75AF417-908B-3C83-0538-A66DF0149C5A}"/>
              </a:ext>
            </a:extLst>
          </p:cNvPr>
          <p:cNvCxnSpPr>
            <a:endCxn id="54" idx="1"/>
          </p:cNvCxnSpPr>
          <p:nvPr/>
        </p:nvCxnSpPr>
        <p:spPr>
          <a:xfrm rot="16200000" flipH="1">
            <a:off x="942947" y="4374526"/>
            <a:ext cx="1564239" cy="917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="" xmlns:a16="http://schemas.microsoft.com/office/drawing/2014/main" id="{A078CD14-279E-B0E8-9308-1404F4D14070}"/>
              </a:ext>
            </a:extLst>
          </p:cNvPr>
          <p:cNvCxnSpPr>
            <a:cxnSpLocks/>
            <a:endCxn id="57" idx="6"/>
          </p:cNvCxnSpPr>
          <p:nvPr/>
        </p:nvCxnSpPr>
        <p:spPr>
          <a:xfrm rot="16200000" flipH="1">
            <a:off x="10632547" y="4967314"/>
            <a:ext cx="805788" cy="490662"/>
          </a:xfrm>
          <a:prstGeom prst="bentConnector4">
            <a:avLst>
              <a:gd name="adj1" fmla="val 25226"/>
              <a:gd name="adj2" fmla="val 1465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6B2E1594-0EF4-99F6-1E3E-93AA58D11FAC}"/>
              </a:ext>
            </a:extLst>
          </p:cNvPr>
          <p:cNvCxnSpPr>
            <a:cxnSpLocks/>
            <a:stCxn id="54" idx="3"/>
            <a:endCxn id="57" idx="2"/>
          </p:cNvCxnSpPr>
          <p:nvPr/>
        </p:nvCxnSpPr>
        <p:spPr>
          <a:xfrm>
            <a:off x="8820150" y="5615539"/>
            <a:ext cx="133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="" xmlns:a16="http://schemas.microsoft.com/office/drawing/2014/main" id="{F37A002C-C06C-829C-BC61-9A007B137F1B}"/>
              </a:ext>
            </a:extLst>
          </p:cNvPr>
          <p:cNvSpPr/>
          <p:nvPr/>
        </p:nvSpPr>
        <p:spPr>
          <a:xfrm>
            <a:off x="9497984" y="2694797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="" xmlns:a16="http://schemas.microsoft.com/office/drawing/2014/main" id="{3C12F3A5-795D-956F-CCAE-46BE7AE5DB07}"/>
              </a:ext>
            </a:extLst>
          </p:cNvPr>
          <p:cNvSpPr/>
          <p:nvPr/>
        </p:nvSpPr>
        <p:spPr>
          <a:xfrm>
            <a:off x="1248700" y="2691953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="" xmlns:a16="http://schemas.microsoft.com/office/drawing/2014/main" id="{1835E147-C315-D625-6872-C2DBE93E2876}"/>
              </a:ext>
            </a:extLst>
          </p:cNvPr>
          <p:cNvSpPr/>
          <p:nvPr/>
        </p:nvSpPr>
        <p:spPr>
          <a:xfrm>
            <a:off x="2556859" y="6376588"/>
            <a:ext cx="5870489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AE49C6F-0614-1EBB-4781-B24654303BC9}"/>
              </a:ext>
            </a:extLst>
          </p:cNvPr>
          <p:cNvSpPr txBox="1"/>
          <p:nvPr/>
        </p:nvSpPr>
        <p:spPr>
          <a:xfrm>
            <a:off x="752800" y="842274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204A32A-7CF9-9246-DB67-82AE029F89B0}"/>
              </a:ext>
            </a:extLst>
          </p:cNvPr>
          <p:cNvSpPr txBox="1"/>
          <p:nvPr/>
        </p:nvSpPr>
        <p:spPr>
          <a:xfrm>
            <a:off x="1790153" y="4951257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0A24B39-7C8C-9708-227F-3BCA8B47067E}"/>
              </a:ext>
            </a:extLst>
          </p:cNvPr>
          <p:cNvSpPr txBox="1"/>
          <p:nvPr/>
        </p:nvSpPr>
        <p:spPr>
          <a:xfrm>
            <a:off x="9845642" y="4894441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CBB3DAA-BA37-07E2-26E7-1B2F60A287FE}"/>
              </a:ext>
            </a:extLst>
          </p:cNvPr>
          <p:cNvSpPr txBox="1"/>
          <p:nvPr/>
        </p:nvSpPr>
        <p:spPr>
          <a:xfrm>
            <a:off x="11468274" y="840049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أثناء الحملة التسويقية، يتصل العميل بالخط الساخن ويقوم موظف الخدمة بتسجيل بياناته</a:t>
            </a:r>
          </a:p>
        </p:txBody>
      </p:sp>
      <p:pic>
        <p:nvPicPr>
          <p:cNvPr id="2" name="Picture 1" descr="A screenshot of a compute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35" y="2112579"/>
            <a:ext cx="8765471" cy="41928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4057" y="3112806"/>
            <a:ext cx="1516249" cy="1217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795528">
              <a:spcAft>
                <a:spcPts val="600"/>
              </a:spcAft>
            </a:pPr>
            <a:r>
              <a:rPr lang="ar-EG" sz="1218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مدير مبيعات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2634E12-D668-BC72-F3E4-DD5B7DA2956F}"/>
              </a:ext>
            </a:extLst>
          </p:cNvPr>
          <p:cNvSpPr/>
          <p:nvPr/>
        </p:nvSpPr>
        <p:spPr>
          <a:xfrm>
            <a:off x="7099492" y="2912613"/>
            <a:ext cx="2225380" cy="189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3A1DF24-7340-511C-98AD-00150F31AA99}"/>
              </a:ext>
            </a:extLst>
          </p:cNvPr>
          <p:cNvSpPr/>
          <p:nvPr/>
        </p:nvSpPr>
        <p:spPr>
          <a:xfrm>
            <a:off x="7099492" y="4057136"/>
            <a:ext cx="2225380" cy="189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59C41C8-9909-4E7E-4BD2-83F5FDBEDBDE}"/>
              </a:ext>
            </a:extLst>
          </p:cNvPr>
          <p:cNvSpPr/>
          <p:nvPr/>
        </p:nvSpPr>
        <p:spPr>
          <a:xfrm>
            <a:off x="3719822" y="3797641"/>
            <a:ext cx="2225380" cy="189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9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ثم يقوم موظف الخدمة الهاتفية بإختيار المشروع الذي يهم العميل 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793" y="2112579"/>
            <a:ext cx="7730354" cy="4192805"/>
          </a:xfrm>
          <a:prstGeom prst="rect">
            <a:avLst/>
          </a:prstGeom>
          <a:ln>
            <a:solidFill>
              <a:srgbClr val="2E3093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1B384E34-6544-68A1-9095-964EBE10A52D}"/>
              </a:ext>
            </a:extLst>
          </p:cNvPr>
          <p:cNvGrpSpPr/>
          <p:nvPr/>
        </p:nvGrpSpPr>
        <p:grpSpPr>
          <a:xfrm>
            <a:off x="5451615" y="4704876"/>
            <a:ext cx="1345888" cy="428664"/>
            <a:chOff x="5451615" y="4704876"/>
            <a:chExt cx="1345888" cy="428664"/>
          </a:xfrm>
        </p:grpSpPr>
        <p:sp>
          <p:nvSpPr>
            <p:cNvPr id="5" name="Rectangle 4"/>
            <p:cNvSpPr/>
            <p:nvPr/>
          </p:nvSpPr>
          <p:spPr>
            <a:xfrm>
              <a:off x="5825080" y="4704876"/>
              <a:ext cx="972423" cy="14797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795528">
                <a:spcAft>
                  <a:spcPts val="600"/>
                </a:spcAft>
              </a:pPr>
              <a:r>
                <a:rPr lang="ar-EG" sz="914" b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مشروع اجايل</a:t>
              </a:r>
              <a:endParaRPr lang="en-US" sz="1050" b="1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451615" y="4986737"/>
              <a:ext cx="1219052" cy="14680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795528">
                <a:spcAft>
                  <a:spcPts val="600"/>
                </a:spcAft>
              </a:pPr>
              <a:r>
                <a:rPr lang="ar-EG" sz="870" b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مشروع بارادايز راس سدر</a:t>
              </a:r>
              <a:endParaRPr lang="en-US" sz="1000" b="1"/>
            </a:p>
          </p:txBody>
        </p:sp>
      </p:grpSp>
    </p:spTree>
    <p:extLst>
      <p:ext uri="{BB962C8B-B14F-4D97-AF65-F5344CB8AC3E}">
        <p14:creationId xmlns:p14="http://schemas.microsoft.com/office/powerpoint/2010/main" val="14777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يقوم</a:t>
            </a:r>
            <a:r>
              <a:rPr lang="ar-EG" b="1" dirty="0">
                <a:solidFill>
                  <a:schemeClr val="bg1"/>
                </a:solidFill>
              </a:rPr>
              <a:t> </a:t>
            </a:r>
            <a:r>
              <a:rPr lang="ar-EG" dirty="0">
                <a:solidFill>
                  <a:schemeClr val="bg1"/>
                </a:solidFill>
              </a:rPr>
              <a:t>المشرف</a:t>
            </a:r>
            <a:r>
              <a:rPr lang="ar-EG" b="1" dirty="0">
                <a:solidFill>
                  <a:schemeClr val="bg1"/>
                </a:solidFill>
              </a:rPr>
              <a:t> بتوزيع العملاء على مندوبى المبيعات </a:t>
            </a:r>
            <a:r>
              <a:rPr lang="ar-EG" dirty="0">
                <a:solidFill>
                  <a:schemeClr val="bg1"/>
                </a:solidFill>
              </a:rPr>
              <a:t>عن طريق برنامج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4S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ar-EG" dirty="0">
                <a:solidFill>
                  <a:schemeClr val="bg1"/>
                </a:solidFill>
              </a:rPr>
              <a:t>لل</a:t>
            </a:r>
            <a:r>
              <a:rPr lang="en-US" dirty="0">
                <a:solidFill>
                  <a:schemeClr val="bg1"/>
                </a:solidFill>
              </a:rPr>
              <a:t>CRM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2D4D5123-B218-10E3-476F-D4CD7369F4DE}"/>
              </a:ext>
            </a:extLst>
          </p:cNvPr>
          <p:cNvGrpSpPr/>
          <p:nvPr/>
        </p:nvGrpSpPr>
        <p:grpSpPr>
          <a:xfrm>
            <a:off x="774699" y="2314575"/>
            <a:ext cx="10579101" cy="3051691"/>
            <a:chOff x="774699" y="2314575"/>
            <a:chExt cx="10579101" cy="305169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699" y="2314575"/>
              <a:ext cx="10452101" cy="286702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FB91D3DC-8690-77AB-B40B-2FD2B0E000EC}"/>
                </a:ext>
              </a:extLst>
            </p:cNvPr>
            <p:cNvSpPr/>
            <p:nvPr/>
          </p:nvSpPr>
          <p:spPr>
            <a:xfrm>
              <a:off x="7136935" y="3509321"/>
              <a:ext cx="2553629" cy="21745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="" xmlns:a16="http://schemas.microsoft.com/office/drawing/2014/main" id="{31AFF4BD-FE66-B78E-6B50-B141FEA8FDEF}"/>
                </a:ext>
              </a:extLst>
            </p:cNvPr>
            <p:cNvSpPr txBox="1"/>
            <p:nvPr/>
          </p:nvSpPr>
          <p:spPr>
            <a:xfrm>
              <a:off x="5259806" y="4996934"/>
              <a:ext cx="60939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ar-EG" sz="1800" b="1" dirty="0"/>
                <a:t>امكانية التوزيع اوتوماتيك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41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sz="2800" b="1" dirty="0">
                <a:solidFill>
                  <a:schemeClr val="bg1"/>
                </a:solidFill>
              </a:rPr>
              <a:t>يقوم المندوب بالبحث عن العملاء فى بداية اليوم للتواصل معهم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60" y="2057817"/>
            <a:ext cx="10058400" cy="4025026"/>
          </a:xfrm>
          <a:prstGeom prst="rect">
            <a:avLst/>
          </a:prstGeom>
          <a:ln>
            <a:solidFill>
              <a:srgbClr val="2E3093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ADAAF23-E84E-3DE3-CDD6-360A2237C7EB}"/>
              </a:ext>
            </a:extLst>
          </p:cNvPr>
          <p:cNvSpPr/>
          <p:nvPr/>
        </p:nvSpPr>
        <p:spPr>
          <a:xfrm>
            <a:off x="4225292" y="3100246"/>
            <a:ext cx="4281034" cy="3287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EB81D62-1ED7-45FB-A5D5-867E61B0EF29}"/>
              </a:ext>
            </a:extLst>
          </p:cNvPr>
          <p:cNvSpPr/>
          <p:nvPr/>
        </p:nvSpPr>
        <p:spPr>
          <a:xfrm>
            <a:off x="5902760" y="5213793"/>
            <a:ext cx="4281034" cy="3287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7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sz="2800" b="1" dirty="0">
                <a:solidFill>
                  <a:schemeClr val="bg1"/>
                </a:solidFill>
              </a:rPr>
              <a:t>يقوم المندوب بالتواصل مع العميل تليفونيا وتحديد تاريخ وموعد للزيارة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1556" t="23547" r="30138" b="11839"/>
          <a:stretch/>
        </p:blipFill>
        <p:spPr>
          <a:xfrm>
            <a:off x="5861407" y="1672984"/>
            <a:ext cx="4984124" cy="47265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EB81D62-1ED7-45FB-A5D5-867E61B0EF29}"/>
              </a:ext>
            </a:extLst>
          </p:cNvPr>
          <p:cNvSpPr/>
          <p:nvPr/>
        </p:nvSpPr>
        <p:spPr>
          <a:xfrm>
            <a:off x="6564497" y="3433872"/>
            <a:ext cx="4281034" cy="5456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B0FFB3F-ABC4-89B6-9E8D-090FD651A7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35" t="23547" r="13409" b="14480"/>
          <a:stretch/>
        </p:blipFill>
        <p:spPr>
          <a:xfrm>
            <a:off x="527100" y="2612655"/>
            <a:ext cx="4550227" cy="2188088"/>
          </a:xfrm>
          <a:prstGeom prst="rect">
            <a:avLst/>
          </a:prstGeom>
          <a:ln>
            <a:solidFill>
              <a:srgbClr val="2E3093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C292F7C-CD2B-D747-7D29-7CD87FFC9DF7}"/>
              </a:ext>
            </a:extLst>
          </p:cNvPr>
          <p:cNvSpPr txBox="1"/>
          <p:nvPr/>
        </p:nvSpPr>
        <p:spPr>
          <a:xfrm>
            <a:off x="616618" y="4859875"/>
            <a:ext cx="45502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dirty="0"/>
              <a:t>يقوم المندوب بمراجعة جدول الزيارات وتحديد موعد للزيارة و</a:t>
            </a:r>
            <a:r>
              <a:rPr lang="ar-EG" sz="2400" dirty="0">
                <a:solidFill>
                  <a:srgbClr val="2E3093"/>
                </a:solidFill>
              </a:rPr>
              <a:t>ارسال رسالة نصية</a:t>
            </a:r>
            <a:r>
              <a:rPr lang="ar-EG" sz="1800" dirty="0"/>
              <a:t> للعميل بالموعد المحدد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9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66F6F28-F0F4-536E-0603-853D407E91E3}"/>
              </a:ext>
            </a:extLst>
          </p:cNvPr>
          <p:cNvSpPr/>
          <p:nvPr/>
        </p:nvSpPr>
        <p:spPr>
          <a:xfrm>
            <a:off x="1536700" y="4440479"/>
            <a:ext cx="8098442" cy="2133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Left-Right 52">
            <a:extLst>
              <a:ext uri="{FF2B5EF4-FFF2-40B4-BE49-F238E27FC236}">
                <a16:creationId xmlns="" xmlns:a16="http://schemas.microsoft.com/office/drawing/2014/main" id="{9F0A6CE9-6590-C2E0-31AA-8431E61734FB}"/>
              </a:ext>
            </a:extLst>
          </p:cNvPr>
          <p:cNvSpPr/>
          <p:nvPr/>
        </p:nvSpPr>
        <p:spPr>
          <a:xfrm>
            <a:off x="3639156" y="1552843"/>
            <a:ext cx="5331091" cy="930177"/>
          </a:xfrm>
          <a:prstGeom prst="leftRightArrow">
            <a:avLst/>
          </a:prstGeom>
          <a:solidFill>
            <a:schemeClr val="bg1"/>
          </a:solidFill>
          <a:ln w="31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3">
            <a:extLst>
              <a:ext uri="{FF2B5EF4-FFF2-40B4-BE49-F238E27FC236}">
                <a16:creationId xmlns="" xmlns:a16="http://schemas.microsoft.com/office/drawing/2014/main" id="{1AC5D1BB-68A8-AD1D-2609-0064C4E94842}"/>
              </a:ext>
            </a:extLst>
          </p:cNvPr>
          <p:cNvSpPr/>
          <p:nvPr/>
        </p:nvSpPr>
        <p:spPr>
          <a:xfrm>
            <a:off x="2183959" y="4809751"/>
            <a:ext cx="6636191" cy="16115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endParaRPr 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9259907" y="1253037"/>
            <a:ext cx="2331076" cy="14960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r>
              <a:rPr lang="en-US" sz="2400" b="1" dirty="0">
                <a:cs typeface="+mj-cs"/>
              </a:rPr>
              <a:t>4S Real  Estate</a:t>
            </a:r>
            <a:endParaRPr lang="ar-EG" sz="2400" b="1" dirty="0">
              <a:cs typeface="+mj-cs"/>
            </a:endParaRP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410" y="1253037"/>
            <a:ext cx="2331076" cy="14960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4S CRM</a:t>
            </a: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12" name="Vertical Scroll 11"/>
          <p:cNvSpPr/>
          <p:nvPr/>
        </p:nvSpPr>
        <p:spPr>
          <a:xfrm>
            <a:off x="5685195" y="5135923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حجز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13" name="Vertical Scroll 12"/>
          <p:cNvSpPr/>
          <p:nvPr/>
        </p:nvSpPr>
        <p:spPr>
          <a:xfrm>
            <a:off x="7083713" y="5144165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بيع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790110" y="2920985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مراحل المشروع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112170" y="381167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الملحقات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272534" y="306602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الوحدات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0525597" y="2622611"/>
            <a:ext cx="1" cy="113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1468274" y="2544625"/>
            <a:ext cx="0" cy="33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45903" y="1572998"/>
            <a:ext cx="1197737" cy="830686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التسويق</a:t>
            </a:r>
            <a:endParaRPr lang="en-US" b="1" dirty="0">
              <a:solidFill>
                <a:schemeClr val="accent5">
                  <a:lumMod val="75000"/>
                </a:schemeClr>
              </a:solidFill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آلية العمل</a:t>
            </a:r>
            <a:r>
              <a:rPr lang="en-US" dirty="0"/>
              <a:t> 4S Real Estate System Workflow </a:t>
            </a:r>
            <a:r>
              <a:rPr lang="ar-EG" dirty="0"/>
              <a:t>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25A71CD-6AF8-0D75-56C7-7B02EA0D690C}"/>
              </a:ext>
            </a:extLst>
          </p:cNvPr>
          <p:cNvCxnSpPr>
            <a:stCxn id="4" idx="1"/>
            <a:endCxn id="29" idx="6"/>
          </p:cNvCxnSpPr>
          <p:nvPr/>
        </p:nvCxnSpPr>
        <p:spPr>
          <a:xfrm flipH="1" flipV="1">
            <a:off x="7143640" y="1988341"/>
            <a:ext cx="2116267" cy="1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5B3A5303-EE52-1C72-37B6-D3125713B53C}"/>
              </a:ext>
            </a:extLst>
          </p:cNvPr>
          <p:cNvCxnSpPr>
            <a:cxnSpLocks/>
            <a:stCxn id="29" idx="2"/>
            <a:endCxn id="5" idx="3"/>
          </p:cNvCxnSpPr>
          <p:nvPr/>
        </p:nvCxnSpPr>
        <p:spPr>
          <a:xfrm flipH="1">
            <a:off x="3345486" y="1988341"/>
            <a:ext cx="2600417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D3ED9F4-29FD-023E-ECB6-E62480C949BC}"/>
              </a:ext>
            </a:extLst>
          </p:cNvPr>
          <p:cNvSpPr txBox="1"/>
          <p:nvPr/>
        </p:nvSpPr>
        <p:spPr>
          <a:xfrm>
            <a:off x="4046143" y="1797507"/>
            <a:ext cx="1754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400" b="1" dirty="0">
                <a:solidFill>
                  <a:schemeClr val="tx1"/>
                </a:solidFill>
                <a:cs typeface="+mj-cs"/>
              </a:rPr>
              <a:t>العملاء المتوقعين</a:t>
            </a:r>
            <a:endParaRPr lang="en-US" sz="1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9759596-1FD6-1D15-25BC-E2692399D4BB}"/>
              </a:ext>
            </a:extLst>
          </p:cNvPr>
          <p:cNvSpPr/>
          <p:nvPr/>
        </p:nvSpPr>
        <p:spPr>
          <a:xfrm>
            <a:off x="535388" y="3325010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توزيع العملاء على مندوبى المبيعات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1DE36C4-049A-569A-FC67-B1E704D71225}"/>
              </a:ext>
            </a:extLst>
          </p:cNvPr>
          <p:cNvSpPr/>
          <p:nvPr/>
        </p:nvSpPr>
        <p:spPr>
          <a:xfrm>
            <a:off x="2209362" y="3089053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العملاء</a:t>
            </a:r>
            <a:r>
              <a:rPr lang="en-US" sz="1400" b="1" dirty="0">
                <a:solidFill>
                  <a:schemeClr val="accent1"/>
                </a:solidFill>
                <a:cs typeface="+mj-cs"/>
              </a:rPr>
              <a:t> </a:t>
            </a:r>
            <a:r>
              <a:rPr lang="ar-EG" sz="1400" b="1" dirty="0">
                <a:solidFill>
                  <a:schemeClr val="accent1"/>
                </a:solidFill>
                <a:cs typeface="+mj-cs"/>
              </a:rPr>
              <a:t>تحديد واهتماماتهم المتوقعة من التسويق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2ACEE73-17C1-E59C-4E03-0AA13FC107FE}"/>
              </a:ext>
            </a:extLst>
          </p:cNvPr>
          <p:cNvSpPr/>
          <p:nvPr/>
        </p:nvSpPr>
        <p:spPr>
          <a:xfrm>
            <a:off x="2652801" y="5212215"/>
            <a:ext cx="1385371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التواصل والاجتماع مع العميل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8DA8ACC3-D5E9-61A1-E69E-D0D418C4FE67}"/>
              </a:ext>
            </a:extLst>
          </p:cNvPr>
          <p:cNvSpPr/>
          <p:nvPr/>
        </p:nvSpPr>
        <p:spPr>
          <a:xfrm>
            <a:off x="4141709" y="5203973"/>
            <a:ext cx="1439949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عرض الوحدات المتاحة وطرق التقسيط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FCCA0AE1-315F-8239-CE3B-5DD23416CF37}"/>
              </a:ext>
            </a:extLst>
          </p:cNvPr>
          <p:cNvCxnSpPr/>
          <p:nvPr/>
        </p:nvCxnSpPr>
        <p:spPr>
          <a:xfrm>
            <a:off x="1399541" y="2576461"/>
            <a:ext cx="0" cy="64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9C607EAD-A34C-CB55-E064-6B89033113FF}"/>
              </a:ext>
            </a:extLst>
          </p:cNvPr>
          <p:cNvCxnSpPr/>
          <p:nvPr/>
        </p:nvCxnSpPr>
        <p:spPr>
          <a:xfrm>
            <a:off x="2876644" y="2544625"/>
            <a:ext cx="0" cy="44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">
            <a:extLst>
              <a:ext uri="{FF2B5EF4-FFF2-40B4-BE49-F238E27FC236}">
                <a16:creationId xmlns="" xmlns:a16="http://schemas.microsoft.com/office/drawing/2014/main" id="{A5195F2B-9819-7536-CDF4-A348660834CB}"/>
              </a:ext>
            </a:extLst>
          </p:cNvPr>
          <p:cNvSpPr/>
          <p:nvPr/>
        </p:nvSpPr>
        <p:spPr>
          <a:xfrm>
            <a:off x="9259907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المشروع 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2" name="Rounded Rectangle 3">
            <a:extLst>
              <a:ext uri="{FF2B5EF4-FFF2-40B4-BE49-F238E27FC236}">
                <a16:creationId xmlns="" xmlns:a16="http://schemas.microsoft.com/office/drawing/2014/main" id="{BF1B9D4B-74B8-AE45-AE8D-551FF6E82AE1}"/>
              </a:ext>
            </a:extLst>
          </p:cNvPr>
          <p:cNvSpPr/>
          <p:nvPr/>
        </p:nvSpPr>
        <p:spPr>
          <a:xfrm>
            <a:off x="1018421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العميل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="" xmlns:a16="http://schemas.microsoft.com/office/drawing/2014/main" id="{3913F186-63E0-3CE4-8BB0-F7A14525103A}"/>
              </a:ext>
            </a:extLst>
          </p:cNvPr>
          <p:cNvSpPr/>
          <p:nvPr/>
        </p:nvSpPr>
        <p:spPr>
          <a:xfrm>
            <a:off x="2183959" y="4679216"/>
            <a:ext cx="6636191" cy="3415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>
                <a:solidFill>
                  <a:schemeClr val="accent1"/>
                </a:solidFill>
                <a:cs typeface="+mj-cs"/>
              </a:rPr>
              <a:t>بيع المشروع 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B060C1C4-0F5A-F6F5-22AE-BA1FB2F9B406}"/>
              </a:ext>
            </a:extLst>
          </p:cNvPr>
          <p:cNvSpPr/>
          <p:nvPr/>
        </p:nvSpPr>
        <p:spPr>
          <a:xfrm>
            <a:off x="10153392" y="5216294"/>
            <a:ext cx="1127380" cy="79849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التقارير</a:t>
            </a:r>
            <a:endParaRPr lang="en-US" sz="2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8A923F90-6A23-4103-BB54-4050CD0CD55A}"/>
              </a:ext>
            </a:extLst>
          </p:cNvPr>
          <p:cNvCxnSpPr/>
          <p:nvPr/>
        </p:nvCxnSpPr>
        <p:spPr>
          <a:xfrm>
            <a:off x="9737286" y="2545408"/>
            <a:ext cx="0" cy="48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="" xmlns:a16="http://schemas.microsoft.com/office/drawing/2014/main" id="{B75AF417-908B-3C83-0538-A66DF0149C5A}"/>
              </a:ext>
            </a:extLst>
          </p:cNvPr>
          <p:cNvCxnSpPr>
            <a:endCxn id="54" idx="1"/>
          </p:cNvCxnSpPr>
          <p:nvPr/>
        </p:nvCxnSpPr>
        <p:spPr>
          <a:xfrm rot="16200000" flipH="1">
            <a:off x="942947" y="4374526"/>
            <a:ext cx="1564239" cy="917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="" xmlns:a16="http://schemas.microsoft.com/office/drawing/2014/main" id="{A078CD14-279E-B0E8-9308-1404F4D14070}"/>
              </a:ext>
            </a:extLst>
          </p:cNvPr>
          <p:cNvCxnSpPr>
            <a:cxnSpLocks/>
            <a:endCxn id="57" idx="6"/>
          </p:cNvCxnSpPr>
          <p:nvPr/>
        </p:nvCxnSpPr>
        <p:spPr>
          <a:xfrm rot="16200000" flipH="1">
            <a:off x="10632547" y="4967314"/>
            <a:ext cx="805788" cy="490662"/>
          </a:xfrm>
          <a:prstGeom prst="bentConnector4">
            <a:avLst>
              <a:gd name="adj1" fmla="val 25226"/>
              <a:gd name="adj2" fmla="val 1465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6B2E1594-0EF4-99F6-1E3E-93AA58D11FAC}"/>
              </a:ext>
            </a:extLst>
          </p:cNvPr>
          <p:cNvCxnSpPr>
            <a:cxnSpLocks/>
            <a:stCxn id="54" idx="3"/>
            <a:endCxn id="57" idx="2"/>
          </p:cNvCxnSpPr>
          <p:nvPr/>
        </p:nvCxnSpPr>
        <p:spPr>
          <a:xfrm>
            <a:off x="8820150" y="5615539"/>
            <a:ext cx="133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="" xmlns:a16="http://schemas.microsoft.com/office/drawing/2014/main" id="{F37A002C-C06C-829C-BC61-9A007B137F1B}"/>
              </a:ext>
            </a:extLst>
          </p:cNvPr>
          <p:cNvSpPr/>
          <p:nvPr/>
        </p:nvSpPr>
        <p:spPr>
          <a:xfrm>
            <a:off x="9497984" y="2694797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="" xmlns:a16="http://schemas.microsoft.com/office/drawing/2014/main" id="{3C12F3A5-795D-956F-CCAE-46BE7AE5DB07}"/>
              </a:ext>
            </a:extLst>
          </p:cNvPr>
          <p:cNvSpPr/>
          <p:nvPr/>
        </p:nvSpPr>
        <p:spPr>
          <a:xfrm>
            <a:off x="1248700" y="2691953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="" xmlns:a16="http://schemas.microsoft.com/office/drawing/2014/main" id="{1835E147-C315-D625-6872-C2DBE93E2876}"/>
              </a:ext>
            </a:extLst>
          </p:cNvPr>
          <p:cNvSpPr/>
          <p:nvPr/>
        </p:nvSpPr>
        <p:spPr>
          <a:xfrm>
            <a:off x="2556859" y="6376588"/>
            <a:ext cx="5870489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BAFD311-31DF-0527-B432-2A8C823AACAC}"/>
              </a:ext>
            </a:extLst>
          </p:cNvPr>
          <p:cNvSpPr txBox="1"/>
          <p:nvPr/>
        </p:nvSpPr>
        <p:spPr>
          <a:xfrm>
            <a:off x="752800" y="842274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EC67796-89CB-BD0C-2109-A20622D31424}"/>
              </a:ext>
            </a:extLst>
          </p:cNvPr>
          <p:cNvSpPr txBox="1"/>
          <p:nvPr/>
        </p:nvSpPr>
        <p:spPr>
          <a:xfrm>
            <a:off x="1790153" y="4951257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C6D9C17-49B3-DB2C-70BF-48519F67D990}"/>
              </a:ext>
            </a:extLst>
          </p:cNvPr>
          <p:cNvSpPr txBox="1"/>
          <p:nvPr/>
        </p:nvSpPr>
        <p:spPr>
          <a:xfrm>
            <a:off x="9845642" y="4894441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6AED0F1-EFAB-4D67-6E52-C07F2F0DC117}"/>
              </a:ext>
            </a:extLst>
          </p:cNvPr>
          <p:cNvSpPr txBox="1"/>
          <p:nvPr/>
        </p:nvSpPr>
        <p:spPr>
          <a:xfrm>
            <a:off x="11468274" y="840049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0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own Arrow 7">
            <a:extLst>
              <a:ext uri="{FF2B5EF4-FFF2-40B4-BE49-F238E27FC236}">
                <a16:creationId xmlns=""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3300" b="1">
                <a:solidFill>
                  <a:srgbClr val="FFFFFF"/>
                </a:solidFill>
              </a:rPr>
              <a:t>يقوم المندوب بالبحث عن العملاء فى بداية اليوم للتواصل معهم</a:t>
            </a:r>
            <a:endParaRPr lang="en-US" sz="33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2"/>
          <a:srcRect l="11363" t="24605" r="12320" b="15360"/>
          <a:stretch/>
        </p:blipFill>
        <p:spPr>
          <a:xfrm>
            <a:off x="4777316" y="1927631"/>
            <a:ext cx="6780700" cy="3000408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="" xmlns:a16="http://schemas.microsoft.com/office/drawing/2014/main" id="{85C0D781-D056-75F0-D872-6A2C7C93051A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453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dirty="0">
                <a:latin typeface="Times New Roman" panose="02020603050405020304" pitchFamily="18" charset="0"/>
              </a:rPr>
              <a:t>يقوم المندوب بمراجعة بيانات العميل قبل موعد الزيارة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18972" y="3814375"/>
            <a:ext cx="539444" cy="1190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1000" dirty="0"/>
              <a:t>ذكر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2582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24CDCC8-59BD-A700-8C22-09ABB26C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dirty="0"/>
              <a:t>عند زيارة العميل، يقوم المندوب </a:t>
            </a:r>
            <a:r>
              <a:rPr lang="ar-EG" sz="2800" b="1" dirty="0"/>
              <a:t>بإستكمال بيانات العميل </a:t>
            </a:r>
            <a:r>
              <a:rPr lang="ar-EG" sz="2800" dirty="0"/>
              <a:t>فى </a:t>
            </a:r>
            <a:r>
              <a:rPr lang="ar-EG" sz="2800" dirty="0">
                <a:solidFill>
                  <a:prstClr val="black"/>
                </a:solidFill>
              </a:rPr>
              <a:t>برنامج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4S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ar-EG" sz="2800" dirty="0">
                <a:solidFill>
                  <a:prstClr val="black"/>
                </a:solidFill>
              </a:rPr>
              <a:t>للإستثمار العقارى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211" y="738759"/>
            <a:ext cx="8554434" cy="34983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211" y="4056845"/>
            <a:ext cx="8554434" cy="2029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EB81D62-1ED7-45FB-A5D5-867E61B0EF29}"/>
              </a:ext>
            </a:extLst>
          </p:cNvPr>
          <p:cNvSpPr/>
          <p:nvPr/>
        </p:nvSpPr>
        <p:spPr>
          <a:xfrm>
            <a:off x="6096000" y="4343069"/>
            <a:ext cx="4281034" cy="17428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37" y="1059543"/>
            <a:ext cx="10749763" cy="5238226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217714" y="3810000"/>
            <a:ext cx="620486" cy="232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D0DE1EBB-70E2-4EAD-201B-60E4AED1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أ</a:t>
            </a:r>
            <a:r>
              <a:rPr lang="ar-EG" sz="2800" dirty="0"/>
              <a:t>ثناء الزيارة، يقوم المندوب </a:t>
            </a:r>
            <a:r>
              <a:rPr lang="ar-EG" sz="2800" b="1" dirty="0"/>
              <a:t>بعرض الوحدات المتاحة </a:t>
            </a:r>
            <a:r>
              <a:rPr lang="ar-EG" sz="2800" dirty="0"/>
              <a:t>للعميل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E23A5A6-E9A1-DE93-FF43-1B57E6CC9191}"/>
              </a:ext>
            </a:extLst>
          </p:cNvPr>
          <p:cNvSpPr/>
          <p:nvPr/>
        </p:nvSpPr>
        <p:spPr>
          <a:xfrm>
            <a:off x="1754695" y="3736255"/>
            <a:ext cx="9176776" cy="372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829800" y="1971609"/>
            <a:ext cx="2139768" cy="83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</a:pPr>
            <a:r>
              <a:rPr lang="ar-EG" sz="1800" dirty="0">
                <a:solidFill>
                  <a:srgbClr val="2E3093"/>
                </a:solidFill>
                <a:latin typeface="Times New Roman" panose="02020603050405020304" pitchFamily="18" charset="0"/>
              </a:rPr>
              <a:t>نظام التقسيط على 6 سنوات على سبيل المثال</a:t>
            </a:r>
            <a:endParaRPr lang="en-US" sz="1800" dirty="0">
              <a:solidFill>
                <a:srgbClr val="2E3093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4DF06A3-402D-0798-E0A8-A16A9ACD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400" dirty="0"/>
              <a:t>يقوم المندوب </a:t>
            </a:r>
            <a:r>
              <a:rPr lang="ar-EG" sz="2400" b="1" dirty="0"/>
              <a:t>بعرض طرق التقسيط المختلفة </a:t>
            </a:r>
            <a:r>
              <a:rPr lang="ar-EG" sz="2400" dirty="0"/>
              <a:t>على العميل للوحدة التى تم اختيارها</a:t>
            </a:r>
            <a:br>
              <a:rPr lang="ar-EG" sz="2400" dirty="0"/>
            </a:br>
            <a:r>
              <a:rPr lang="ar-EG" sz="1600" i="1" dirty="0"/>
              <a:t> عن طريق حركة تسمى (محاكاة استمارة بيع) وليس لها تأثير مالى </a:t>
            </a:r>
            <a:endParaRPr lang="en-US" sz="160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495" y="630239"/>
            <a:ext cx="7804597" cy="4379644"/>
          </a:xfrm>
          <a:prstGeom prst="rect">
            <a:avLst/>
          </a:prstGeom>
        </p:spPr>
      </p:pic>
      <p:cxnSp>
        <p:nvCxnSpPr>
          <p:cNvPr id="10" name="Connector: Elbow 8">
            <a:extLst>
              <a:ext uri="{FF2B5EF4-FFF2-40B4-BE49-F238E27FC236}">
                <a16:creationId xmlns="" xmlns:a16="http://schemas.microsoft.com/office/drawing/2014/main" id="{BC341FF7-D23C-4E5D-E114-E59F8B2ACE93}"/>
              </a:ext>
            </a:extLst>
          </p:cNvPr>
          <p:cNvCxnSpPr>
            <a:cxnSpLocks/>
          </p:cNvCxnSpPr>
          <p:nvPr/>
        </p:nvCxnSpPr>
        <p:spPr>
          <a:xfrm rot="5400000">
            <a:off x="9602980" y="1891734"/>
            <a:ext cx="668181" cy="2327922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F858C24-E77C-C9CE-8790-247BCD4CE111}"/>
              </a:ext>
            </a:extLst>
          </p:cNvPr>
          <p:cNvSpPr/>
          <p:nvPr/>
        </p:nvSpPr>
        <p:spPr>
          <a:xfrm>
            <a:off x="7167645" y="3135234"/>
            <a:ext cx="1364070" cy="2545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495" y="5009883"/>
            <a:ext cx="7804597" cy="16099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FFE73BE-EA47-7FBF-3B61-485C49EC1C8A}"/>
              </a:ext>
            </a:extLst>
          </p:cNvPr>
          <p:cNvSpPr/>
          <p:nvPr/>
        </p:nvSpPr>
        <p:spPr>
          <a:xfrm>
            <a:off x="7621441" y="5642142"/>
            <a:ext cx="1500477" cy="2800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2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7AFF47CF-4A2C-EDB7-04BD-E6DFDF9D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400" dirty="0"/>
              <a:t>يقوم المندوب </a:t>
            </a:r>
            <a:r>
              <a:rPr lang="ar-EG" sz="2400" b="1" dirty="0"/>
              <a:t>بعرض طرق التقسيط المختلفة </a:t>
            </a:r>
            <a:r>
              <a:rPr lang="ar-EG" sz="2400" dirty="0"/>
              <a:t>على العميل للوحدة التى تم اختيارها</a:t>
            </a:r>
            <a:r>
              <a:rPr lang="ar-EG" sz="2800" dirty="0"/>
              <a:t/>
            </a:r>
            <a:br>
              <a:rPr lang="ar-EG" sz="2800" dirty="0"/>
            </a:br>
            <a:r>
              <a:rPr lang="ar-EG" sz="1600" i="1" dirty="0"/>
              <a:t> عن طريق حركة تسمى (محاكاة استمارة بيع) وليس لها تأثير مالى 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4009A5DD-BC39-79C0-8E89-0E00526DA8A4}"/>
              </a:ext>
            </a:extLst>
          </p:cNvPr>
          <p:cNvSpPr txBox="1">
            <a:spLocks/>
          </p:cNvSpPr>
          <p:nvPr/>
        </p:nvSpPr>
        <p:spPr>
          <a:xfrm>
            <a:off x="9829800" y="1971609"/>
            <a:ext cx="2139768" cy="83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</a:pPr>
            <a:r>
              <a:rPr lang="ar-EG" sz="1800" dirty="0">
                <a:solidFill>
                  <a:srgbClr val="2E3093"/>
                </a:solidFill>
                <a:latin typeface="Times New Roman" panose="02020603050405020304" pitchFamily="18" charset="0"/>
              </a:rPr>
              <a:t>نظام التقسيط على 6 سنوات على سبيل المثال</a:t>
            </a:r>
            <a:endParaRPr lang="en-US" sz="1800" dirty="0">
              <a:solidFill>
                <a:srgbClr val="2E309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6" y="958866"/>
            <a:ext cx="8886422" cy="53266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A673C4E7-8B6C-07B6-893E-F053720FA688}"/>
              </a:ext>
            </a:extLst>
          </p:cNvPr>
          <p:cNvSpPr/>
          <p:nvPr/>
        </p:nvSpPr>
        <p:spPr>
          <a:xfrm>
            <a:off x="6362163" y="1387782"/>
            <a:ext cx="3367554" cy="100768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0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C0511CE7-ECFA-48C4-CBC9-B9E2EBC7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يقوم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المندوب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بتحرير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استمارة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حجز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مؤقت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للوحدة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التى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تم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اختيارها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04" y="1517927"/>
            <a:ext cx="9994005" cy="5072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189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732E5665-5019-71FA-B54A-2AB8856B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يقوم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العميل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باختيار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نظام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التقسيط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ويتم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حجز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الوحدة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A7885CE-A4D6-BC65-5D78-DE5569AB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45" y="1675227"/>
            <a:ext cx="92025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732E5665-5019-71FA-B54A-2AB8856B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ar-EG" sz="3200" b="1" dirty="0">
                <a:solidFill>
                  <a:schemeClr val="bg1"/>
                </a:solidFill>
              </a:rPr>
              <a:t>يقوم المندوب بتأكيد الحجز وتحرير ايصال بمبلغ الحجز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50267B91-2C71-94E0-096B-4D7E6F0EF298}"/>
              </a:ext>
            </a:extLst>
          </p:cNvPr>
          <p:cNvGrpSpPr/>
          <p:nvPr/>
        </p:nvGrpSpPr>
        <p:grpSpPr>
          <a:xfrm>
            <a:off x="719137" y="1986722"/>
            <a:ext cx="10753725" cy="4010025"/>
            <a:chOff x="719137" y="1707322"/>
            <a:chExt cx="10753725" cy="4010025"/>
          </a:xfrm>
        </p:grpSpPr>
        <p:grpSp>
          <p:nvGrpSpPr>
            <p:cNvPr id="2" name="Group 1">
              <a:extLst>
                <a:ext uri="{FF2B5EF4-FFF2-40B4-BE49-F238E27FC236}">
                  <a16:creationId xmlns="" xmlns:a16="http://schemas.microsoft.com/office/drawing/2014/main" id="{243DFAAE-7AD7-649B-EACC-53C1A7BB3E1B}"/>
                </a:ext>
              </a:extLst>
            </p:cNvPr>
            <p:cNvGrpSpPr/>
            <p:nvPr/>
          </p:nvGrpSpPr>
          <p:grpSpPr>
            <a:xfrm>
              <a:off x="719137" y="1707322"/>
              <a:ext cx="10753725" cy="4010025"/>
              <a:chOff x="719137" y="1707322"/>
              <a:chExt cx="10753725" cy="4010025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137" y="1707322"/>
                <a:ext cx="10753725" cy="4010025"/>
              </a:xfrm>
              <a:prstGeom prst="rect">
                <a:avLst/>
              </a:prstGeom>
              <a:ln>
                <a:solidFill>
                  <a:srgbClr val="2E3093"/>
                </a:solidFill>
              </a:ln>
            </p:spPr>
          </p:pic>
          <p:sp>
            <p:nvSpPr>
              <p:cNvPr id="4" name="Rectangle 3"/>
              <p:cNvSpPr/>
              <p:nvPr/>
            </p:nvSpPr>
            <p:spPr>
              <a:xfrm>
                <a:off x="10827658" y="4528456"/>
                <a:ext cx="526142" cy="4354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E3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B3/4 </a:t>
                </a:r>
                <a:r>
                  <a:rPr lang="ar-EG" sz="1050" dirty="0">
                    <a:solidFill>
                      <a:schemeClr val="tx1"/>
                    </a:solidFill>
                  </a:rPr>
                  <a:t>شقة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10109200" y="4635500"/>
                <a:ext cx="718458" cy="177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E3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ar-EG" sz="1100" dirty="0">
                    <a:solidFill>
                      <a:schemeClr val="tx1"/>
                    </a:solidFill>
                  </a:rPr>
                  <a:t>جورج أنيس</a:t>
                </a:r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5054600" y="4635500"/>
              <a:ext cx="1651000" cy="177800"/>
            </a:xfrm>
            <a:prstGeom prst="rect">
              <a:avLst/>
            </a:prstGeom>
            <a:ln>
              <a:solidFill>
                <a:srgbClr val="2E3093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384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732E5665-5019-71FA-B54A-2AB8856B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ar-EG" sz="3200" b="1" dirty="0">
                <a:solidFill>
                  <a:schemeClr val="bg1"/>
                </a:solidFill>
              </a:rPr>
              <a:t>يتم بعد ذلك تحرير استمارة بيع حسب نظام التقسيط المتفق عليه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52350300-BEF1-91CA-A0DE-84D056BE0C09}"/>
              </a:ext>
            </a:extLst>
          </p:cNvPr>
          <p:cNvSpPr txBox="1">
            <a:spLocks/>
          </p:cNvSpPr>
          <p:nvPr/>
        </p:nvSpPr>
        <p:spPr>
          <a:xfrm>
            <a:off x="9504786" y="2699196"/>
            <a:ext cx="2139768" cy="83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</a:pPr>
            <a:r>
              <a:rPr lang="ar-EG" sz="1800" dirty="0">
                <a:solidFill>
                  <a:srgbClr val="2E3093"/>
                </a:solidFill>
                <a:latin typeface="Times New Roman" panose="02020603050405020304" pitchFamily="18" charset="0"/>
              </a:rPr>
              <a:t>اتفق العميل علي نظام التقسيط على 7 سنوات</a:t>
            </a:r>
            <a:endParaRPr lang="en-US" sz="1800" dirty="0">
              <a:solidFill>
                <a:srgbClr val="2E309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05" y="1388303"/>
            <a:ext cx="8165998" cy="484890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147775" y="3975378"/>
            <a:ext cx="1222187" cy="2231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sz="800" dirty="0" smtClean="0"/>
              <a:t>7 سنوات امامي</a:t>
            </a:r>
            <a:endParaRPr lang="en-US" sz="800" dirty="0"/>
          </a:p>
          <a:p>
            <a:pPr algn="ctr"/>
            <a:r>
              <a:rPr lang="ar-EG" sz="800" dirty="0" smtClean="0"/>
              <a:t> </a:t>
            </a:r>
            <a:endParaRPr lang="en-US" sz="800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F2EA1182-12BA-4354-D50B-475507F76949}"/>
              </a:ext>
            </a:extLst>
          </p:cNvPr>
          <p:cNvSpPr/>
          <p:nvPr/>
        </p:nvSpPr>
        <p:spPr>
          <a:xfrm>
            <a:off x="7076833" y="3943963"/>
            <a:ext cx="1364070" cy="2545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05" y="4897549"/>
            <a:ext cx="8165998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5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732E5665-5019-71FA-B54A-2AB8856B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ar-EG" sz="3200" b="1" dirty="0">
                <a:solidFill>
                  <a:schemeClr val="bg1"/>
                </a:solidFill>
              </a:rPr>
              <a:t>أقساط الوحدة على نظام التقسيط ل 7 سنوات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52350300-BEF1-91CA-A0DE-84D056BE0C09}"/>
              </a:ext>
            </a:extLst>
          </p:cNvPr>
          <p:cNvSpPr txBox="1">
            <a:spLocks/>
          </p:cNvSpPr>
          <p:nvPr/>
        </p:nvSpPr>
        <p:spPr>
          <a:xfrm>
            <a:off x="9504786" y="2699196"/>
            <a:ext cx="2139768" cy="83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</a:pPr>
            <a:r>
              <a:rPr lang="ar-EG" sz="1800" dirty="0">
                <a:solidFill>
                  <a:srgbClr val="2E3093"/>
                </a:solidFill>
                <a:latin typeface="Times New Roman" panose="02020603050405020304" pitchFamily="18" charset="0"/>
              </a:rPr>
              <a:t>اتفق العميل علي نظام التقسيط على 7 سنوات</a:t>
            </a:r>
            <a:endParaRPr lang="en-US" sz="1800" dirty="0">
              <a:solidFill>
                <a:srgbClr val="2E309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07" y="1506991"/>
            <a:ext cx="8268414" cy="5043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238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732E5665-5019-71FA-B54A-2AB8856B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77" y="643467"/>
            <a:ext cx="5769780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rtl="0"/>
            <a:r>
              <a:rPr lang="ar-EG" sz="3200" b="1" dirty="0">
                <a:solidFill>
                  <a:schemeClr val="bg1"/>
                </a:solidFill>
              </a:rPr>
              <a:t>يتم طباعة كشف حساب استمارة بيع الوحدة 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4234"/>
            <a:ext cx="5997677" cy="67193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93989" y="3024686"/>
            <a:ext cx="1053389" cy="1596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9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تقسيط 7 سنوات امامي</a:t>
            </a:r>
          </a:p>
        </p:txBody>
      </p:sp>
    </p:spTree>
    <p:extLst>
      <p:ext uri="{BB962C8B-B14F-4D97-AF65-F5344CB8AC3E}">
        <p14:creationId xmlns:p14="http://schemas.microsoft.com/office/powerpoint/2010/main" val="11043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66F6F28-F0F4-536E-0603-853D407E91E3}"/>
              </a:ext>
            </a:extLst>
          </p:cNvPr>
          <p:cNvSpPr/>
          <p:nvPr/>
        </p:nvSpPr>
        <p:spPr>
          <a:xfrm>
            <a:off x="9193049" y="4740463"/>
            <a:ext cx="2487673" cy="13124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Left-Right 52">
            <a:extLst>
              <a:ext uri="{FF2B5EF4-FFF2-40B4-BE49-F238E27FC236}">
                <a16:creationId xmlns="" xmlns:a16="http://schemas.microsoft.com/office/drawing/2014/main" id="{9F0A6CE9-6590-C2E0-31AA-8431E61734FB}"/>
              </a:ext>
            </a:extLst>
          </p:cNvPr>
          <p:cNvSpPr/>
          <p:nvPr/>
        </p:nvSpPr>
        <p:spPr>
          <a:xfrm>
            <a:off x="3639156" y="1552843"/>
            <a:ext cx="5331091" cy="930177"/>
          </a:xfrm>
          <a:prstGeom prst="leftRightArrow">
            <a:avLst/>
          </a:prstGeom>
          <a:solidFill>
            <a:schemeClr val="bg1"/>
          </a:solidFill>
          <a:ln w="31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3">
            <a:extLst>
              <a:ext uri="{FF2B5EF4-FFF2-40B4-BE49-F238E27FC236}">
                <a16:creationId xmlns="" xmlns:a16="http://schemas.microsoft.com/office/drawing/2014/main" id="{1AC5D1BB-68A8-AD1D-2609-0064C4E94842}"/>
              </a:ext>
            </a:extLst>
          </p:cNvPr>
          <p:cNvSpPr/>
          <p:nvPr/>
        </p:nvSpPr>
        <p:spPr>
          <a:xfrm>
            <a:off x="2183959" y="4809751"/>
            <a:ext cx="6636191" cy="161157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endParaRPr 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9259907" y="1253037"/>
            <a:ext cx="2331076" cy="14960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400" b="1" dirty="0">
              <a:cs typeface="+mj-cs"/>
            </a:endParaRPr>
          </a:p>
          <a:p>
            <a:pPr algn="ctr"/>
            <a:r>
              <a:rPr lang="en-US" sz="2400" b="1" dirty="0">
                <a:cs typeface="+mj-cs"/>
              </a:rPr>
              <a:t>4S Real  Estate</a:t>
            </a:r>
            <a:endParaRPr lang="ar-EG" sz="2400" b="1" dirty="0">
              <a:cs typeface="+mj-cs"/>
            </a:endParaRP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410" y="1253037"/>
            <a:ext cx="2331076" cy="149600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4S CRM</a:t>
            </a:r>
          </a:p>
          <a:p>
            <a:pPr algn="ctr"/>
            <a:r>
              <a:rPr lang="en-US" sz="2400" b="1" dirty="0"/>
              <a:t>System</a:t>
            </a:r>
          </a:p>
        </p:txBody>
      </p:sp>
      <p:sp>
        <p:nvSpPr>
          <p:cNvPr id="12" name="Vertical Scroll 11"/>
          <p:cNvSpPr/>
          <p:nvPr/>
        </p:nvSpPr>
        <p:spPr>
          <a:xfrm>
            <a:off x="5685195" y="5135923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حجز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13" name="Vertical Scroll 12"/>
          <p:cNvSpPr/>
          <p:nvPr/>
        </p:nvSpPr>
        <p:spPr>
          <a:xfrm>
            <a:off x="7083713" y="5144165"/>
            <a:ext cx="1151518" cy="1032889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تحرير استمارة بيع للوحدة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790110" y="2920985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مراحل المشروع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112170" y="381167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الملحقات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272534" y="3066024"/>
            <a:ext cx="1127380" cy="79849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تعريف الوحدات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0525597" y="2622611"/>
            <a:ext cx="1" cy="113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1468274" y="2544625"/>
            <a:ext cx="0" cy="33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45903" y="1572998"/>
            <a:ext cx="1197737" cy="830686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EG" b="1" dirty="0">
                <a:solidFill>
                  <a:schemeClr val="accent5">
                    <a:lumMod val="75000"/>
                  </a:schemeClr>
                </a:solidFill>
                <a:cs typeface="+mj-cs"/>
              </a:rPr>
              <a:t>التسويق</a:t>
            </a:r>
            <a:endParaRPr lang="en-US" b="1" dirty="0">
              <a:solidFill>
                <a:schemeClr val="accent5">
                  <a:lumMod val="75000"/>
                </a:schemeClr>
              </a:solidFill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CD2CB6-F166-D7B2-531F-BFBA5AA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آلية العمل</a:t>
            </a:r>
            <a:r>
              <a:rPr lang="en-US" dirty="0"/>
              <a:t> 4S Real Estate System Workflow </a:t>
            </a:r>
            <a:r>
              <a:rPr lang="ar-EG" dirty="0"/>
              <a:t>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25A71CD-6AF8-0D75-56C7-7B02EA0D690C}"/>
              </a:ext>
            </a:extLst>
          </p:cNvPr>
          <p:cNvCxnSpPr>
            <a:stCxn id="4" idx="1"/>
            <a:endCxn id="29" idx="6"/>
          </p:cNvCxnSpPr>
          <p:nvPr/>
        </p:nvCxnSpPr>
        <p:spPr>
          <a:xfrm flipH="1" flipV="1">
            <a:off x="7143640" y="1988341"/>
            <a:ext cx="2116267" cy="1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5B3A5303-EE52-1C72-37B6-D3125713B53C}"/>
              </a:ext>
            </a:extLst>
          </p:cNvPr>
          <p:cNvCxnSpPr>
            <a:cxnSpLocks/>
            <a:stCxn id="29" idx="2"/>
            <a:endCxn id="5" idx="3"/>
          </p:cNvCxnSpPr>
          <p:nvPr/>
        </p:nvCxnSpPr>
        <p:spPr>
          <a:xfrm flipH="1">
            <a:off x="3345486" y="1988341"/>
            <a:ext cx="2600417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D3ED9F4-29FD-023E-ECB6-E62480C949BC}"/>
              </a:ext>
            </a:extLst>
          </p:cNvPr>
          <p:cNvSpPr txBox="1"/>
          <p:nvPr/>
        </p:nvSpPr>
        <p:spPr>
          <a:xfrm>
            <a:off x="4046143" y="1797507"/>
            <a:ext cx="1754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400" b="1" dirty="0">
                <a:solidFill>
                  <a:schemeClr val="tx1"/>
                </a:solidFill>
                <a:cs typeface="+mj-cs"/>
              </a:rPr>
              <a:t>العملاء المتوقعين</a:t>
            </a:r>
            <a:endParaRPr lang="en-US" sz="1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9759596-1FD6-1D15-25BC-E2692399D4BB}"/>
              </a:ext>
            </a:extLst>
          </p:cNvPr>
          <p:cNvSpPr/>
          <p:nvPr/>
        </p:nvSpPr>
        <p:spPr>
          <a:xfrm>
            <a:off x="535388" y="3325010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توزيع العملاء على مندوبى المبيعات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1DE36C4-049A-569A-FC67-B1E704D71225}"/>
              </a:ext>
            </a:extLst>
          </p:cNvPr>
          <p:cNvSpPr/>
          <p:nvPr/>
        </p:nvSpPr>
        <p:spPr>
          <a:xfrm>
            <a:off x="2209362" y="3089053"/>
            <a:ext cx="1385371" cy="96483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العملاء</a:t>
            </a:r>
            <a:r>
              <a:rPr lang="en-US" sz="1400" b="1" dirty="0">
                <a:solidFill>
                  <a:schemeClr val="accent1"/>
                </a:solidFill>
                <a:cs typeface="+mj-cs"/>
              </a:rPr>
              <a:t> </a:t>
            </a:r>
            <a:r>
              <a:rPr lang="ar-EG" sz="1400" b="1" dirty="0">
                <a:solidFill>
                  <a:schemeClr val="accent1"/>
                </a:solidFill>
                <a:cs typeface="+mj-cs"/>
              </a:rPr>
              <a:t>تحديد واهتماماتهم المتوقعة من التسويق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2ACEE73-17C1-E59C-4E03-0AA13FC107FE}"/>
              </a:ext>
            </a:extLst>
          </p:cNvPr>
          <p:cNvSpPr/>
          <p:nvPr/>
        </p:nvSpPr>
        <p:spPr>
          <a:xfrm>
            <a:off x="2652801" y="5212215"/>
            <a:ext cx="1385371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التواصل والاجتماع مع العميل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8DA8ACC3-D5E9-61A1-E69E-D0D418C4FE67}"/>
              </a:ext>
            </a:extLst>
          </p:cNvPr>
          <p:cNvSpPr/>
          <p:nvPr/>
        </p:nvSpPr>
        <p:spPr>
          <a:xfrm>
            <a:off x="4141709" y="5203973"/>
            <a:ext cx="1439949" cy="9648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400" b="1" dirty="0">
                <a:solidFill>
                  <a:schemeClr val="accent1"/>
                </a:solidFill>
                <a:cs typeface="+mj-cs"/>
              </a:rPr>
              <a:t>عرض الوحدات المتاحة وطرق التقسيط</a:t>
            </a:r>
            <a:endParaRPr lang="en-US" sz="1400" b="1" dirty="0">
              <a:solidFill>
                <a:schemeClr val="accent1"/>
              </a:solidFill>
              <a:cs typeface="+mj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FCCA0AE1-315F-8239-CE3B-5DD23416CF37}"/>
              </a:ext>
            </a:extLst>
          </p:cNvPr>
          <p:cNvCxnSpPr/>
          <p:nvPr/>
        </p:nvCxnSpPr>
        <p:spPr>
          <a:xfrm>
            <a:off x="1399541" y="2576461"/>
            <a:ext cx="0" cy="64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9C607EAD-A34C-CB55-E064-6B89033113FF}"/>
              </a:ext>
            </a:extLst>
          </p:cNvPr>
          <p:cNvCxnSpPr/>
          <p:nvPr/>
        </p:nvCxnSpPr>
        <p:spPr>
          <a:xfrm>
            <a:off x="2876644" y="2544625"/>
            <a:ext cx="0" cy="44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3">
            <a:extLst>
              <a:ext uri="{FF2B5EF4-FFF2-40B4-BE49-F238E27FC236}">
                <a16:creationId xmlns="" xmlns:a16="http://schemas.microsoft.com/office/drawing/2014/main" id="{A5195F2B-9819-7536-CDF4-A348660834CB}"/>
              </a:ext>
            </a:extLst>
          </p:cNvPr>
          <p:cNvSpPr/>
          <p:nvPr/>
        </p:nvSpPr>
        <p:spPr>
          <a:xfrm>
            <a:off x="9259907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المشروع 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2" name="Rounded Rectangle 3">
            <a:extLst>
              <a:ext uri="{FF2B5EF4-FFF2-40B4-BE49-F238E27FC236}">
                <a16:creationId xmlns="" xmlns:a16="http://schemas.microsoft.com/office/drawing/2014/main" id="{BF1B9D4B-74B8-AE45-AE8D-551FF6E82AE1}"/>
              </a:ext>
            </a:extLst>
          </p:cNvPr>
          <p:cNvSpPr/>
          <p:nvPr/>
        </p:nvSpPr>
        <p:spPr>
          <a:xfrm>
            <a:off x="1018421" y="1244535"/>
            <a:ext cx="2331076" cy="2709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>
                <a:solidFill>
                  <a:schemeClr val="accent1"/>
                </a:solidFill>
                <a:cs typeface="+mj-cs"/>
              </a:rPr>
              <a:t>تعريف العميل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="" xmlns:a16="http://schemas.microsoft.com/office/drawing/2014/main" id="{3913F186-63E0-3CE4-8BB0-F7A14525103A}"/>
              </a:ext>
            </a:extLst>
          </p:cNvPr>
          <p:cNvSpPr/>
          <p:nvPr/>
        </p:nvSpPr>
        <p:spPr>
          <a:xfrm>
            <a:off x="2183959" y="4679216"/>
            <a:ext cx="6636191" cy="3415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dirty="0">
                <a:solidFill>
                  <a:schemeClr val="accent1"/>
                </a:solidFill>
                <a:cs typeface="+mj-cs"/>
              </a:rPr>
              <a:t>بيع المشروع 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B060C1C4-0F5A-F6F5-22AE-BA1FB2F9B406}"/>
              </a:ext>
            </a:extLst>
          </p:cNvPr>
          <p:cNvSpPr/>
          <p:nvPr/>
        </p:nvSpPr>
        <p:spPr>
          <a:xfrm>
            <a:off x="10153392" y="5216294"/>
            <a:ext cx="1127380" cy="79849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التقارير</a:t>
            </a:r>
            <a:endParaRPr lang="en-US" sz="2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8A923F90-6A23-4103-BB54-4050CD0CD55A}"/>
              </a:ext>
            </a:extLst>
          </p:cNvPr>
          <p:cNvCxnSpPr/>
          <p:nvPr/>
        </p:nvCxnSpPr>
        <p:spPr>
          <a:xfrm>
            <a:off x="9737286" y="2545408"/>
            <a:ext cx="0" cy="48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="" xmlns:a16="http://schemas.microsoft.com/office/drawing/2014/main" id="{B75AF417-908B-3C83-0538-A66DF0149C5A}"/>
              </a:ext>
            </a:extLst>
          </p:cNvPr>
          <p:cNvCxnSpPr>
            <a:endCxn id="54" idx="1"/>
          </p:cNvCxnSpPr>
          <p:nvPr/>
        </p:nvCxnSpPr>
        <p:spPr>
          <a:xfrm rot="16200000" flipH="1">
            <a:off x="942947" y="4374526"/>
            <a:ext cx="1564239" cy="917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="" xmlns:a16="http://schemas.microsoft.com/office/drawing/2014/main" id="{A078CD14-279E-B0E8-9308-1404F4D14070}"/>
              </a:ext>
            </a:extLst>
          </p:cNvPr>
          <p:cNvCxnSpPr>
            <a:cxnSpLocks/>
            <a:endCxn id="57" idx="6"/>
          </p:cNvCxnSpPr>
          <p:nvPr/>
        </p:nvCxnSpPr>
        <p:spPr>
          <a:xfrm rot="16200000" flipH="1">
            <a:off x="10632547" y="4967314"/>
            <a:ext cx="805788" cy="490662"/>
          </a:xfrm>
          <a:prstGeom prst="bentConnector4">
            <a:avLst>
              <a:gd name="adj1" fmla="val 25226"/>
              <a:gd name="adj2" fmla="val 1465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6B2E1594-0EF4-99F6-1E3E-93AA58D11FAC}"/>
              </a:ext>
            </a:extLst>
          </p:cNvPr>
          <p:cNvCxnSpPr>
            <a:cxnSpLocks/>
            <a:stCxn id="54" idx="3"/>
            <a:endCxn id="57" idx="2"/>
          </p:cNvCxnSpPr>
          <p:nvPr/>
        </p:nvCxnSpPr>
        <p:spPr>
          <a:xfrm>
            <a:off x="8820150" y="5615539"/>
            <a:ext cx="133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="" xmlns:a16="http://schemas.microsoft.com/office/drawing/2014/main" id="{F37A002C-C06C-829C-BC61-9A007B137F1B}"/>
              </a:ext>
            </a:extLst>
          </p:cNvPr>
          <p:cNvSpPr/>
          <p:nvPr/>
        </p:nvSpPr>
        <p:spPr>
          <a:xfrm>
            <a:off x="9497984" y="2694797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="" xmlns:a16="http://schemas.microsoft.com/office/drawing/2014/main" id="{3C12F3A5-795D-956F-CCAE-46BE7AE5DB07}"/>
              </a:ext>
            </a:extLst>
          </p:cNvPr>
          <p:cNvSpPr/>
          <p:nvPr/>
        </p:nvSpPr>
        <p:spPr>
          <a:xfrm>
            <a:off x="1248700" y="2691953"/>
            <a:ext cx="1870518" cy="5029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="" xmlns:a16="http://schemas.microsoft.com/office/drawing/2014/main" id="{1835E147-C315-D625-6872-C2DBE93E2876}"/>
              </a:ext>
            </a:extLst>
          </p:cNvPr>
          <p:cNvSpPr/>
          <p:nvPr/>
        </p:nvSpPr>
        <p:spPr>
          <a:xfrm>
            <a:off x="2556859" y="6376588"/>
            <a:ext cx="5870489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AE49C6F-0614-1EBB-4781-B24654303BC9}"/>
              </a:ext>
            </a:extLst>
          </p:cNvPr>
          <p:cNvSpPr txBox="1"/>
          <p:nvPr/>
        </p:nvSpPr>
        <p:spPr>
          <a:xfrm>
            <a:off x="752800" y="842274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204A32A-7CF9-9246-DB67-82AE029F89B0}"/>
              </a:ext>
            </a:extLst>
          </p:cNvPr>
          <p:cNvSpPr txBox="1"/>
          <p:nvPr/>
        </p:nvSpPr>
        <p:spPr>
          <a:xfrm>
            <a:off x="1790153" y="4951257"/>
            <a:ext cx="324798" cy="369332"/>
          </a:xfrm>
          <a:prstGeom prst="rect">
            <a:avLst/>
          </a:prstGeom>
          <a:solidFill>
            <a:schemeClr val="tx1"/>
          </a:solidFill>
          <a:ln>
            <a:solidFill>
              <a:srgbClr val="2E3093"/>
            </a:solidFill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0A24B39-7C8C-9708-227F-3BCA8B47067E}"/>
              </a:ext>
            </a:extLst>
          </p:cNvPr>
          <p:cNvSpPr txBox="1"/>
          <p:nvPr/>
        </p:nvSpPr>
        <p:spPr>
          <a:xfrm>
            <a:off x="9845642" y="4894441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7118E7B-9FDB-CC0C-CD4D-DA11AE273169}"/>
              </a:ext>
            </a:extLst>
          </p:cNvPr>
          <p:cNvSpPr txBox="1"/>
          <p:nvPr/>
        </p:nvSpPr>
        <p:spPr>
          <a:xfrm>
            <a:off x="11468274" y="840049"/>
            <a:ext cx="32479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ar-EG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47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85F55C16-BC21-49EF-A4FF-C3155BB93B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0" y="365125"/>
            <a:ext cx="510539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/>
            <a:r>
              <a:rPr lang="en-US" sz="44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التقارير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="" xmlns:a16="http://schemas.microsoft.com/office/drawing/2014/main" id="{0C5F069E-AFE6-4825-8945-46F2918A50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table of numbers and numbers&#10;&#10;Description automatically generated with medium confidence">
            <a:extLst>
              <a:ext uri="{FF2B5EF4-FFF2-40B4-BE49-F238E27FC236}">
                <a16:creationId xmlns="" xmlns:a16="http://schemas.microsoft.com/office/drawing/2014/main" id="{F3445523-8478-82F8-E5CF-5B2EDA35F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4" y="1329733"/>
            <a:ext cx="3195204" cy="437195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8400" y="2497257"/>
            <a:ext cx="5105398" cy="36797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/>
              <a:t>تقرير كشف حساب استمارة</a:t>
            </a:r>
          </a:p>
          <a:p>
            <a:r>
              <a:rPr lang="en-US" sz="1100"/>
              <a:t>تقرير كشف حساب استمارة (تفصيلي)</a:t>
            </a:r>
          </a:p>
          <a:p>
            <a:r>
              <a:rPr lang="en-US" sz="1100"/>
              <a:t>تقرير كشف حساب وحدة</a:t>
            </a:r>
          </a:p>
          <a:p>
            <a:r>
              <a:rPr lang="en-US" sz="1100"/>
              <a:t>تقرير بيانات العملاء</a:t>
            </a:r>
          </a:p>
          <a:p>
            <a:r>
              <a:rPr lang="en-US" sz="1100"/>
              <a:t>تقرير بيانات العملاء ووحداتهم</a:t>
            </a:r>
          </a:p>
          <a:p>
            <a:r>
              <a:rPr lang="en-US" sz="1100"/>
              <a:t>تقرير تفاصيل بيانات الوحدات</a:t>
            </a:r>
          </a:p>
          <a:p>
            <a:r>
              <a:rPr lang="en-US" sz="1100"/>
              <a:t>تقرير وحدات العملاء</a:t>
            </a:r>
          </a:p>
          <a:p>
            <a:r>
              <a:rPr lang="en-US" sz="1100"/>
              <a:t>تقرير مبيعات الشركة</a:t>
            </a:r>
          </a:p>
          <a:p>
            <a:r>
              <a:rPr lang="en-US" sz="1100"/>
              <a:t>تقرير الأقساط المستقبلية</a:t>
            </a:r>
          </a:p>
          <a:p>
            <a:r>
              <a:rPr lang="en-US" sz="1100"/>
              <a:t>تقرير الأقساط المستقبلية الغير مسددة</a:t>
            </a:r>
          </a:p>
          <a:p>
            <a:r>
              <a:rPr lang="en-US" sz="1100"/>
              <a:t>تقرير الأقساط المستقبلية المسددة</a:t>
            </a:r>
          </a:p>
          <a:p>
            <a:r>
              <a:rPr lang="en-US" sz="1100"/>
              <a:t>تقرير تفصيلي بموقف قسط معين</a:t>
            </a:r>
          </a:p>
          <a:p>
            <a:r>
              <a:rPr lang="en-US" sz="1100"/>
              <a:t>تقرير الأقساط المتأخرة</a:t>
            </a:r>
          </a:p>
          <a:p>
            <a:pPr marL="0"/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0590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42" y="1416133"/>
            <a:ext cx="10145916" cy="4194142"/>
          </a:xfrm>
          <a:ln>
            <a:solidFill>
              <a:srgbClr val="2E3093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="" xmlns:a16="http://schemas.microsoft.com/office/drawing/2014/main" id="{D71FE4F4-EA06-481A-1308-E67F2A8D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b="1" dirty="0"/>
              <a:t>تقرير بيانات الوحدة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4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6" y="1458699"/>
            <a:ext cx="10738307" cy="3780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6400" y="3775123"/>
            <a:ext cx="10515600" cy="83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US" sz="1800" b="1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691B65B8-D01A-9A57-2D85-D5E40F3D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b="1" dirty="0"/>
              <a:t>تقرير ملحقات الوحدة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7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052" y="136525"/>
            <a:ext cx="4328093" cy="643765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="" xmlns:a16="http://schemas.microsoft.com/office/drawing/2014/main" id="{88BBC908-2DA9-FFF5-2173-04435ABB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b="1" dirty="0"/>
              <a:t>تقرير مبيعات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49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D2F42F16-BC22-CD8B-D163-3DE709EEF2AA}"/>
              </a:ext>
            </a:extLst>
          </p:cNvPr>
          <p:cNvSpPr/>
          <p:nvPr/>
        </p:nvSpPr>
        <p:spPr>
          <a:xfrm>
            <a:off x="6097723" y="943174"/>
            <a:ext cx="5503606" cy="4737020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5F977381-0E1E-7576-1978-4FEA2B57B4BD}"/>
              </a:ext>
            </a:extLst>
          </p:cNvPr>
          <p:cNvSpPr/>
          <p:nvPr/>
        </p:nvSpPr>
        <p:spPr>
          <a:xfrm>
            <a:off x="510723" y="4489569"/>
            <a:ext cx="5503606" cy="1190625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617FA99-1A73-04D0-DF25-71CAC9FFC039}"/>
              </a:ext>
            </a:extLst>
          </p:cNvPr>
          <p:cNvSpPr/>
          <p:nvPr/>
        </p:nvSpPr>
        <p:spPr>
          <a:xfrm>
            <a:off x="533399" y="938783"/>
            <a:ext cx="5480930" cy="3433990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79754-B273-0353-F74F-1781ECFF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z="2800" dirty="0"/>
              <a:t>أمثلة من عملائنا لبرنامج الاستثمار العقارى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5713678-A59E-1F52-9EBC-B7AA27EE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3" y="1033518"/>
            <a:ext cx="3962862" cy="1540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B9FDA60-EB3B-5C33-D6BA-716E5A523DBD}"/>
              </a:ext>
            </a:extLst>
          </p:cNvPr>
          <p:cNvSpPr txBox="1"/>
          <p:nvPr/>
        </p:nvSpPr>
        <p:spPr>
          <a:xfrm>
            <a:off x="2020528" y="2631934"/>
            <a:ext cx="2384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800" dirty="0">
                <a:cs typeface="+mj-cs"/>
              </a:rPr>
              <a:t>سوديك للأستثمار العقارى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B7AC390-B25C-B4C9-4AEA-7C2780F8CA44}"/>
              </a:ext>
            </a:extLst>
          </p:cNvPr>
          <p:cNvSpPr txBox="1"/>
          <p:nvPr/>
        </p:nvSpPr>
        <p:spPr>
          <a:xfrm>
            <a:off x="2010233" y="2919839"/>
            <a:ext cx="2231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800" dirty="0">
                <a:cs typeface="+mj-cs"/>
              </a:rPr>
              <a:t>سوريال للاستثمار العقارى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CDA9726-5609-CE11-A2E1-8DB5B2199D45}"/>
              </a:ext>
            </a:extLst>
          </p:cNvPr>
          <p:cNvSpPr txBox="1"/>
          <p:nvPr/>
        </p:nvSpPr>
        <p:spPr>
          <a:xfrm>
            <a:off x="1399711" y="3649508"/>
            <a:ext cx="3953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800" dirty="0">
                <a:cs typeface="+mj-cs"/>
              </a:rPr>
              <a:t>السادس من اكتوبر للتنمية و الاستثمار </a:t>
            </a:r>
            <a:r>
              <a:rPr lang="ar-EG" sz="1800" b="1" dirty="0">
                <a:cs typeface="+mj-cs"/>
              </a:rPr>
              <a:t>(سوديك)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81F78B1-9DB6-4423-2745-0F5B47136B7E}"/>
              </a:ext>
            </a:extLst>
          </p:cNvPr>
          <p:cNvSpPr txBox="1"/>
          <p:nvPr/>
        </p:nvSpPr>
        <p:spPr>
          <a:xfrm>
            <a:off x="164689" y="39371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>
                <a:cs typeface="+mj-cs"/>
              </a:rPr>
              <a:t>السادس من اكتوبر للتنمية و المشروعات العقارية سوريل </a:t>
            </a:r>
            <a:r>
              <a:rPr lang="ar-EG" sz="1800" b="1" dirty="0">
                <a:cs typeface="+mj-cs"/>
              </a:rPr>
              <a:t>(سوديك)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FEB483A-885A-32E1-F39F-30614047A953}"/>
              </a:ext>
            </a:extLst>
          </p:cNvPr>
          <p:cNvSpPr txBox="1"/>
          <p:nvPr/>
        </p:nvSpPr>
        <p:spPr>
          <a:xfrm>
            <a:off x="1472148" y="3412973"/>
            <a:ext cx="372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800" dirty="0">
                <a:cs typeface="+mj-cs"/>
              </a:rPr>
              <a:t>طابروك للتعمير للاستثمار العقارى </a:t>
            </a:r>
            <a:r>
              <a:rPr lang="ar-EG" sz="1800" b="1" dirty="0">
                <a:cs typeface="+mj-cs"/>
              </a:rPr>
              <a:t>(سوديك)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A1245F0-B57B-3E2C-6638-96813CA972A8}"/>
              </a:ext>
            </a:extLst>
          </p:cNvPr>
          <p:cNvSpPr txBox="1"/>
          <p:nvPr/>
        </p:nvSpPr>
        <p:spPr>
          <a:xfrm>
            <a:off x="1010316" y="3176438"/>
            <a:ext cx="3785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dirty="0">
                <a:cs typeface="+mj-cs"/>
              </a:rPr>
              <a:t>اليسر للمشروع و التنمية العقارية </a:t>
            </a:r>
            <a:r>
              <a:rPr lang="ar-EG" sz="1800" b="1" dirty="0">
                <a:cs typeface="+mj-cs"/>
              </a:rPr>
              <a:t>(سوديك)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010C934D-A022-AAF8-170A-42B820CA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67" y="4593698"/>
            <a:ext cx="1908842" cy="865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CACBC8CE-C6E0-AC4A-8BF4-FBCEAE7FDA9C}"/>
              </a:ext>
            </a:extLst>
          </p:cNvPr>
          <p:cNvSpPr txBox="1"/>
          <p:nvPr/>
        </p:nvSpPr>
        <p:spPr>
          <a:xfrm>
            <a:off x="2593025" y="4833504"/>
            <a:ext cx="2605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dirty="0">
                <a:cs typeface="+mj-cs"/>
              </a:rPr>
              <a:t>الافق للتنمية العقارية</a:t>
            </a:r>
          </a:p>
          <a:p>
            <a:pPr algn="r" rtl="1"/>
            <a:r>
              <a:rPr lang="ar-EG" sz="1800" dirty="0">
                <a:cs typeface="+mj-cs"/>
              </a:rPr>
              <a:t>الافق للاستثمار العقارى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622569" y="4816615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>
                <a:cs typeface="+mj-cs"/>
              </a:rPr>
              <a:t>مطاوع جروب</a:t>
            </a:r>
          </a:p>
          <a:p>
            <a:pPr algn="ctr"/>
            <a:r>
              <a:rPr lang="ar-EG" sz="1800" dirty="0">
                <a:cs typeface="+mj-cs"/>
              </a:rPr>
              <a:t> للتطوير العقارى</a:t>
            </a:r>
            <a:endParaRPr lang="en-US" dirty="0"/>
          </a:p>
        </p:txBody>
      </p:sp>
      <p:pic>
        <p:nvPicPr>
          <p:cNvPr id="1034" name="Picture 10" descr="الرئيسية - Mg Developments">
            <a:extLst>
              <a:ext uri="{FF2B5EF4-FFF2-40B4-BE49-F238E27FC236}">
                <a16:creationId xmlns="" xmlns:a16="http://schemas.microsoft.com/office/drawing/2014/main" id="{B7B8EC54-32A7-0EA5-A23C-8D13A5B0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04" y="3579824"/>
            <a:ext cx="1352550" cy="1190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="" xmlns:a16="http://schemas.microsoft.com/office/drawing/2014/main" id="{DCDE616E-9665-E8C2-B8E6-22ECBEA1D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609" y="1463649"/>
            <a:ext cx="978208" cy="978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690EAC9D-DB40-665A-0D8F-CB82859D8EC2}"/>
              </a:ext>
            </a:extLst>
          </p:cNvPr>
          <p:cNvGrpSpPr/>
          <p:nvPr/>
        </p:nvGrpSpPr>
        <p:grpSpPr>
          <a:xfrm>
            <a:off x="6306575" y="1152768"/>
            <a:ext cx="2414527" cy="2114388"/>
            <a:chOff x="7196401" y="957481"/>
            <a:chExt cx="2658933" cy="2127279"/>
          </a:xfrm>
        </p:grpSpPr>
        <p:pic>
          <p:nvPicPr>
            <p:cNvPr id="27" name="Picture 26">
              <a:extLst>
                <a:ext uri="{FF2B5EF4-FFF2-40B4-BE49-F238E27FC236}">
                  <a16:creationId xmlns="" xmlns:a16="http://schemas.microsoft.com/office/drawing/2014/main" id="{4F2E7580-1DCA-3B91-3329-DE0E332FC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35118" y="957481"/>
              <a:ext cx="2095500" cy="16097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11FBDF9D-5136-B0C7-4E4C-3EAFA3F87967}"/>
                </a:ext>
              </a:extLst>
            </p:cNvPr>
            <p:cNvSpPr txBox="1"/>
            <p:nvPr/>
          </p:nvSpPr>
          <p:spPr>
            <a:xfrm>
              <a:off x="7196401" y="2715428"/>
              <a:ext cx="26589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/>
              <a:r>
                <a:rPr lang="ar-EG" sz="1800" dirty="0">
                  <a:cs typeface="+mj-cs"/>
                </a:rPr>
                <a:t>رويال سيتى للاستثمار العقارى 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19D08E7-21CE-5B48-12B4-F5AD7C01DF92}"/>
              </a:ext>
            </a:extLst>
          </p:cNvPr>
          <p:cNvSpPr txBox="1"/>
          <p:nvPr/>
        </p:nvSpPr>
        <p:spPr>
          <a:xfrm>
            <a:off x="10128010" y="1570630"/>
            <a:ext cx="1425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EG" sz="1800" dirty="0">
                <a:cs typeface="+mj-cs"/>
              </a:rPr>
              <a:t>ايجبتوجروب للاستثمار العقارى</a:t>
            </a:r>
          </a:p>
        </p:txBody>
      </p:sp>
      <p:pic>
        <p:nvPicPr>
          <p:cNvPr id="1040" name="Picture 16" descr="‫شركة زيتون للتطوير العقاري Zaytoun Development - عقار مصر‬‎">
            <a:extLst>
              <a:ext uri="{FF2B5EF4-FFF2-40B4-BE49-F238E27FC236}">
                <a16:creationId xmlns="" xmlns:a16="http://schemas.microsoft.com/office/drawing/2014/main" id="{C41BF9BB-A6A3-441B-7EBF-B19943D50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969" y="3091915"/>
            <a:ext cx="2312831" cy="1323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0437E0E2-1F14-5A9F-97AD-73F636C64CE9}"/>
              </a:ext>
            </a:extLst>
          </p:cNvPr>
          <p:cNvSpPr txBox="1"/>
          <p:nvPr/>
        </p:nvSpPr>
        <p:spPr>
          <a:xfrm>
            <a:off x="9583642" y="4812938"/>
            <a:ext cx="1416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>
                <a:cs typeface="+mj-cs"/>
              </a:rPr>
              <a:t>شركة زيتون للتطوير العقارى</a:t>
            </a:r>
          </a:p>
        </p:txBody>
      </p:sp>
    </p:spTree>
    <p:extLst>
      <p:ext uri="{BB962C8B-B14F-4D97-AF65-F5344CB8AC3E}">
        <p14:creationId xmlns:p14="http://schemas.microsoft.com/office/powerpoint/2010/main" val="179866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D2F42F16-BC22-CD8B-D163-3DE709EEF2AA}"/>
              </a:ext>
            </a:extLst>
          </p:cNvPr>
          <p:cNvSpPr/>
          <p:nvPr/>
        </p:nvSpPr>
        <p:spPr>
          <a:xfrm>
            <a:off x="6097723" y="943174"/>
            <a:ext cx="5503606" cy="4737020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5F977381-0E1E-7576-1978-4FEA2B57B4BD}"/>
              </a:ext>
            </a:extLst>
          </p:cNvPr>
          <p:cNvSpPr/>
          <p:nvPr/>
        </p:nvSpPr>
        <p:spPr>
          <a:xfrm>
            <a:off x="510723" y="4263499"/>
            <a:ext cx="5503606" cy="1416695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617FA99-1A73-04D0-DF25-71CAC9FFC039}"/>
              </a:ext>
            </a:extLst>
          </p:cNvPr>
          <p:cNvSpPr/>
          <p:nvPr/>
        </p:nvSpPr>
        <p:spPr>
          <a:xfrm>
            <a:off x="510502" y="934041"/>
            <a:ext cx="5503606" cy="3210431"/>
          </a:xfrm>
          <a:prstGeom prst="rect">
            <a:avLst/>
          </a:prstGeom>
          <a:solidFill>
            <a:schemeClr val="bg1"/>
          </a:solidFill>
          <a:ln>
            <a:solidFill>
              <a:srgbClr val="2E3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79754-B273-0353-F74F-1781ECFF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z="2800" dirty="0"/>
              <a:t>أمثلة من عملائنا لبرنامج الاستثمار العقارى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B7AC390-B25C-B4C9-4AEA-7C2780F8CA44}"/>
              </a:ext>
            </a:extLst>
          </p:cNvPr>
          <p:cNvSpPr txBox="1"/>
          <p:nvPr/>
        </p:nvSpPr>
        <p:spPr>
          <a:xfrm>
            <a:off x="2086538" y="2918452"/>
            <a:ext cx="2231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المراسم لتنمية الاصول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CDA9726-5609-CE11-A2E1-8DB5B2199D45}"/>
              </a:ext>
            </a:extLst>
          </p:cNvPr>
          <p:cNvSpPr txBox="1"/>
          <p:nvPr/>
        </p:nvSpPr>
        <p:spPr>
          <a:xfrm>
            <a:off x="1568086" y="2677888"/>
            <a:ext cx="330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dirty="0">
                <a:cs typeface="+mj-cs"/>
              </a:rPr>
              <a:t>المراسم للتطوير العقارى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FEB483A-885A-32E1-F39F-30614047A953}"/>
              </a:ext>
            </a:extLst>
          </p:cNvPr>
          <p:cNvSpPr txBox="1"/>
          <p:nvPr/>
        </p:nvSpPr>
        <p:spPr>
          <a:xfrm>
            <a:off x="1890966" y="3166247"/>
            <a:ext cx="266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المراسم للتسويق</a:t>
            </a:r>
            <a:endParaRPr lang="ar-EG" sz="1800" b="1" dirty="0"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A1245F0-B57B-3E2C-6638-96813CA972A8}"/>
              </a:ext>
            </a:extLst>
          </p:cNvPr>
          <p:cNvSpPr txBox="1"/>
          <p:nvPr/>
        </p:nvSpPr>
        <p:spPr>
          <a:xfrm>
            <a:off x="1233626" y="3458035"/>
            <a:ext cx="3750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 smtClean="0">
                <a:cs typeface="+mj-cs"/>
              </a:rPr>
              <a:t>المراسم لادارة وصيانة الأصول</a:t>
            </a:r>
            <a:endParaRPr lang="ar-EG" sz="1800" b="1" dirty="0"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5933400" y="3114723"/>
            <a:ext cx="2848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dirty="0"/>
              <a:t>شركة النيل </a:t>
            </a:r>
            <a:r>
              <a:rPr lang="ar-EG" dirty="0" smtClean="0"/>
              <a:t>العامة لانشاء الطرق</a:t>
            </a:r>
            <a:endParaRPr lang="ar-EG" dirty="0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F19D08E7-21CE-5B48-12B4-F5AD7C01DF92}"/>
              </a:ext>
            </a:extLst>
          </p:cNvPr>
          <p:cNvSpPr txBox="1"/>
          <p:nvPr/>
        </p:nvSpPr>
        <p:spPr>
          <a:xfrm>
            <a:off x="8242042" y="1085949"/>
            <a:ext cx="1432734" cy="36933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rtl="1"/>
            <a:r>
              <a:rPr lang="ar-EG" sz="1800" dirty="0" smtClean="0">
                <a:cs typeface="+mj-cs"/>
              </a:rPr>
              <a:t>القطاع الحكومى</a:t>
            </a:r>
            <a:endParaRPr lang="ar-EG" sz="1800" dirty="0"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0437E0E2-1F14-5A9F-97AD-73F636C64CE9}"/>
              </a:ext>
            </a:extLst>
          </p:cNvPr>
          <p:cNvSpPr txBox="1"/>
          <p:nvPr/>
        </p:nvSpPr>
        <p:spPr>
          <a:xfrm>
            <a:off x="8861474" y="3103118"/>
            <a:ext cx="257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 smtClean="0">
                <a:cs typeface="+mj-cs"/>
              </a:rPr>
              <a:t>شركة النيل للطرق والكبارى</a:t>
            </a:r>
            <a:endParaRPr lang="ar-EG" sz="1800" dirty="0"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9A1245F0-B57B-3E2C-6638-96813CA972A8}"/>
              </a:ext>
            </a:extLst>
          </p:cNvPr>
          <p:cNvSpPr txBox="1"/>
          <p:nvPr/>
        </p:nvSpPr>
        <p:spPr>
          <a:xfrm>
            <a:off x="1233626" y="3739225"/>
            <a:ext cx="382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 smtClean="0">
                <a:cs typeface="+mj-cs"/>
              </a:rPr>
              <a:t>الاستثمارية للخرسانة الجاهزة</a:t>
            </a:r>
            <a:endParaRPr lang="ar-EG" sz="1800" b="1" dirty="0"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71" y="1287837"/>
            <a:ext cx="3514725" cy="1304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08" y="4312203"/>
            <a:ext cx="1887318" cy="1277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9A1245F0-B57B-3E2C-6638-96813CA972A8}"/>
              </a:ext>
            </a:extLst>
          </p:cNvPr>
          <p:cNvSpPr txBox="1"/>
          <p:nvPr/>
        </p:nvSpPr>
        <p:spPr>
          <a:xfrm>
            <a:off x="3287599" y="4971163"/>
            <a:ext cx="289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1800" dirty="0" smtClean="0">
                <a:cs typeface="+mj-cs"/>
              </a:rPr>
              <a:t>سيتى ايدج للتطوير العقارى</a:t>
            </a:r>
            <a:endParaRPr lang="ar-EG" sz="1800" b="1" dirty="0">
              <a:cs typeface="+mj-cs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236" y="1579478"/>
            <a:ext cx="1852930" cy="1309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Picture 3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901" y="3623240"/>
            <a:ext cx="1907141" cy="1280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018251" y="5182129"/>
            <a:ext cx="2706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dirty="0" smtClean="0"/>
              <a:t>الشركة المصرية للصيانة الذاتية</a:t>
            </a:r>
            <a:endParaRPr lang="ar-E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756" y="1573258"/>
            <a:ext cx="1792528" cy="1308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756" y="3615225"/>
            <a:ext cx="1874994" cy="1189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8641478" y="5177835"/>
            <a:ext cx="3018818" cy="369332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 rtl="1"/>
            <a:r>
              <a:rPr lang="ar-EG" dirty="0"/>
              <a:t>شركة النيل </a:t>
            </a:r>
            <a:r>
              <a:rPr lang="ar-EG" dirty="0" smtClean="0"/>
              <a:t>العامة للطرق الصحراوية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90837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2701</TotalTime>
  <Words>832</Words>
  <Application>Microsoft Office PowerPoint</Application>
  <PresentationFormat>Widescreen</PresentationFormat>
  <Paragraphs>208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Real Estate System Walkthrough </vt:lpstr>
      <vt:lpstr>خصائص برنامج الاستثمار العقاري من 4S</vt:lpstr>
      <vt:lpstr>برنامج4S  متكامل و به تعريفات لكل البيانات الأساسية الممكنة </vt:lpstr>
      <vt:lpstr>آلية العمل 4S Real Estate System Workflow  </vt:lpstr>
      <vt:lpstr>الخطوة الأولي: تعريف المشروع  -  يتم تعريف المشروع فى برنامج 4S للإستثمار العقارى</vt:lpstr>
      <vt:lpstr>ثم يتم تعريف الوحدة فى برنامج 4S للإستثمار العقارى</vt:lpstr>
      <vt:lpstr>متبعاً بتعريف خدمات الوحدة (وديعه صيانه)</vt:lpstr>
      <vt:lpstr>آلية العمل 4S Real Estate System Workflow  </vt:lpstr>
      <vt:lpstr>أثناء الحملة التسويقية، يتصل العميل بالخط الساخن ويقوم موظف الخدمة بتسجيل بياناته</vt:lpstr>
      <vt:lpstr>ثم يقوم موظف الخدمة الهاتفية بإختيار المشروع الذي يهم العميل </vt:lpstr>
      <vt:lpstr>يقوم المشرف بتوزيع العملاء على مندوبى المبيعات عن طريق برنامج 4S للCRM</vt:lpstr>
      <vt:lpstr>يقوم المندوب بالبحث عن العملاء فى بداية اليوم للتواصل معهم</vt:lpstr>
      <vt:lpstr>يقوم المندوب بالتواصل مع العميل تليفونيا وتحديد تاريخ وموعد للزيارة</vt:lpstr>
      <vt:lpstr>آلية العمل 4S Real Estate System Workflow  </vt:lpstr>
      <vt:lpstr>يقوم المندوب بالبحث عن العملاء فى بداية اليوم للتواصل معهم</vt:lpstr>
      <vt:lpstr>عند زيارة العميل، يقوم المندوب بإستكمال بيانات العميل فى برنامج 4S للإستثمار العقارى</vt:lpstr>
      <vt:lpstr>أثناء الزيارة، يقوم المندوب بعرض الوحدات المتاحة للعميل</vt:lpstr>
      <vt:lpstr>يقوم المندوب بعرض طرق التقسيط المختلفة على العميل للوحدة التى تم اختيارها  عن طريق حركة تسمى (محاكاة استمارة بيع) وليس لها تأثير مالى </vt:lpstr>
      <vt:lpstr>يقوم المندوب بعرض طرق التقسيط المختلفة على العميل للوحدة التى تم اختيارها  عن طريق حركة تسمى (محاكاة استمارة بيع) وليس لها تأثير مالى </vt:lpstr>
      <vt:lpstr>يقوم المندوب بتحرير استمارة حجز مؤقت للوحدة التى تم اختيارها</vt:lpstr>
      <vt:lpstr>يقوم العميل باختيار نظام التقسيط ويتم حجز الوحدة</vt:lpstr>
      <vt:lpstr>يقوم المندوب بتأكيد الحجز وتحرير ايصال بمبلغ الحجز</vt:lpstr>
      <vt:lpstr>يتم بعد ذلك تحرير استمارة بيع حسب نظام التقسيط المتفق عليه</vt:lpstr>
      <vt:lpstr>أقساط الوحدة على نظام التقسيط ل 7 سنوات</vt:lpstr>
      <vt:lpstr>يتم طباعة كشف حساب استمارة بيع الوحدة </vt:lpstr>
      <vt:lpstr>آلية العمل 4S Real Estate System Workflow  </vt:lpstr>
      <vt:lpstr>التقارير</vt:lpstr>
      <vt:lpstr>تقرير بيانات الوحدة</vt:lpstr>
      <vt:lpstr>تقرير ملحقات الوحدة</vt:lpstr>
      <vt:lpstr>تقرير مبيعات</vt:lpstr>
      <vt:lpstr>أمثلة من عملائنا لبرنامج الاستثمار العقارى </vt:lpstr>
      <vt:lpstr>أمثلة من عملائنا لبرنامج الاستثمار العقارى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122</cp:revision>
  <dcterms:created xsi:type="dcterms:W3CDTF">2023-07-10T11:59:00Z</dcterms:created>
  <dcterms:modified xsi:type="dcterms:W3CDTF">2026-04-14T10:41:04Z</dcterms:modified>
</cp:coreProperties>
</file>