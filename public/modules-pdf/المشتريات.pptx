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9"/>
  </p:notesMasterIdLst>
  <p:sldIdLst>
    <p:sldId id="358" r:id="rId2"/>
    <p:sldId id="374" r:id="rId3"/>
    <p:sldId id="375" r:id="rId4"/>
    <p:sldId id="377" r:id="rId5"/>
    <p:sldId id="378" r:id="rId6"/>
    <p:sldId id="379" r:id="rId7"/>
    <p:sldId id="380" r:id="rId8"/>
    <p:sldId id="381" r:id="rId9"/>
    <p:sldId id="385" r:id="rId10"/>
    <p:sldId id="382" r:id="rId11"/>
    <p:sldId id="384" r:id="rId12"/>
    <p:sldId id="383" r:id="rId13"/>
    <p:sldId id="390" r:id="rId14"/>
    <p:sldId id="389" r:id="rId15"/>
    <p:sldId id="398" r:id="rId16"/>
    <p:sldId id="399" r:id="rId17"/>
    <p:sldId id="3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tman" initials="e" lastIdx="0" clrIdx="0">
    <p:extLst>
      <p:ext uri="{19B8F6BF-5375-455C-9EA6-DF929625EA0E}">
        <p15:presenceInfo xmlns:p15="http://schemas.microsoft.com/office/powerpoint/2012/main" userId="et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2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64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BBEC4-422B-4FC2-B257-BBA5929A4E5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DC601-F1E1-4B6E-8154-DFFB5A8FB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1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DC601-F1E1-4B6E-8154-DFFB5A8FBF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60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DC601-F1E1-4B6E-8154-DFFB5A8FBF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01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DC601-F1E1-4B6E-8154-DFFB5A8FBF6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53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DC601-F1E1-4B6E-8154-DFFB5A8FBF6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51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720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7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58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77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6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5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9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14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77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7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96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77EA58C-83D3-9F62-C79D-9FAF20DEC68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855" y="6026820"/>
            <a:ext cx="821090" cy="8311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87961BB-6029-E984-CD15-B58BF624CBFB}"/>
              </a:ext>
            </a:extLst>
          </p:cNvPr>
          <p:cNvSpPr/>
          <p:nvPr userDrawn="1"/>
        </p:nvSpPr>
        <p:spPr>
          <a:xfrm>
            <a:off x="11373293" y="68977"/>
            <a:ext cx="87214" cy="429182"/>
          </a:xfrm>
          <a:prstGeom prst="rect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8097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26" Type="http://schemas.openxmlformats.org/officeDocument/2006/relationships/image" Target="../media/image43.jpe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jpeg"/><Relationship Id="rId12" Type="http://schemas.openxmlformats.org/officeDocument/2006/relationships/image" Target="../media/image29.png"/><Relationship Id="rId17" Type="http://schemas.openxmlformats.org/officeDocument/2006/relationships/image" Target="../media/image34.jpg"/><Relationship Id="rId25" Type="http://schemas.openxmlformats.org/officeDocument/2006/relationships/image" Target="../media/image42.png"/><Relationship Id="rId2" Type="http://schemas.openxmlformats.org/officeDocument/2006/relationships/image" Target="../media/image19.jpe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eg"/><Relationship Id="rId11" Type="http://schemas.openxmlformats.org/officeDocument/2006/relationships/image" Target="../media/image28.png"/><Relationship Id="rId24" Type="http://schemas.openxmlformats.org/officeDocument/2006/relationships/image" Target="../media/image41.jpeg"/><Relationship Id="rId5" Type="http://schemas.openxmlformats.org/officeDocument/2006/relationships/image" Target="../media/image22.jpg"/><Relationship Id="rId15" Type="http://schemas.openxmlformats.org/officeDocument/2006/relationships/image" Target="../media/image32.jp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jpg"/><Relationship Id="rId9" Type="http://schemas.openxmlformats.org/officeDocument/2006/relationships/image" Target="../media/image26.jpeg"/><Relationship Id="rId14" Type="http://schemas.openxmlformats.org/officeDocument/2006/relationships/image" Target="../media/image31.jpg"/><Relationship Id="rId22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jpeg"/><Relationship Id="rId3" Type="http://schemas.openxmlformats.org/officeDocument/2006/relationships/image" Target="../media/image45.png"/><Relationship Id="rId7" Type="http://schemas.openxmlformats.org/officeDocument/2006/relationships/image" Target="../media/image49.jpg"/><Relationship Id="rId12" Type="http://schemas.openxmlformats.org/officeDocument/2006/relationships/image" Target="../media/image54.png"/><Relationship Id="rId17" Type="http://schemas.openxmlformats.org/officeDocument/2006/relationships/image" Target="../media/image59.jpeg"/><Relationship Id="rId2" Type="http://schemas.openxmlformats.org/officeDocument/2006/relationships/image" Target="../media/image44.jpeg"/><Relationship Id="rId16" Type="http://schemas.openxmlformats.org/officeDocument/2006/relationships/image" Target="../media/image58.jf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jpe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jfif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jpeg"/><Relationship Id="rId1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6F5A5072-7B47-4D32-B52A-4EBBF590B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9715DAF0-AE1B-46C9-8A6B-DB2AA05AB9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016219D-510E-4184-9090-6D5578A87B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AFF4A713-7B75-4B21-90D7-5AB19547C7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C631C0B-6DA6-4E57-8231-CE32B3434A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C29501E6-A978-4A61-9689-9085AF97A5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348B17-CDF0-F2AA-6CF5-25F6DC98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 smtClean="0">
                <a:solidFill>
                  <a:srgbClr val="FFFFFF"/>
                </a:solidFill>
                <a:latin typeface="+mn-lt"/>
              </a:rPr>
              <a:t>Purchases System </a:t>
            </a:r>
            <a:r>
              <a:rPr lang="en-US" sz="4800" dirty="0">
                <a:solidFill>
                  <a:srgbClr val="FFFFFF"/>
                </a:solidFill>
                <a:latin typeface="+mn-lt"/>
              </a:rPr>
              <a:t>Walkthrough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8671DC8-05D9-0158-F96D-62C2B2F0A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 rtl="1"/>
            <a:r>
              <a:rPr lang="ar-EG" dirty="0" smtClean="0"/>
              <a:t>برنامج</a:t>
            </a:r>
            <a:r>
              <a:rPr lang="en-US" dirty="0" smtClean="0"/>
              <a:t> </a:t>
            </a:r>
            <a:r>
              <a:rPr lang="en-US" b="1" dirty="0" smtClean="0"/>
              <a:t>4S</a:t>
            </a:r>
            <a:r>
              <a:rPr lang="en-US" dirty="0" smtClean="0"/>
              <a:t> </a:t>
            </a:r>
            <a:r>
              <a:rPr lang="ar-EG" dirty="0" smtClean="0"/>
              <a:t>للمشتريات </a:t>
            </a:r>
            <a:endParaRPr lang="en-US" dirty="0"/>
          </a:p>
          <a:p>
            <a:pPr algn="l" rtl="1"/>
            <a:endParaRPr lang="en-US" dirty="0"/>
          </a:p>
          <a:p>
            <a:pPr algn="l" rtl="1"/>
            <a:r>
              <a:rPr lang="en-US" sz="1800" dirty="0"/>
              <a:t>July 17</a:t>
            </a:r>
            <a:r>
              <a:rPr lang="en-US" sz="1800" baseline="30000" dirty="0"/>
              <a:t>th</a:t>
            </a:r>
            <a:r>
              <a:rPr lang="en-US" sz="1800" dirty="0"/>
              <a:t>, </a:t>
            </a:r>
            <a:r>
              <a:rPr lang="en-US" sz="1800" dirty="0" smtClean="0"/>
              <a:t>2025</a:t>
            </a:r>
            <a:endParaRPr lang="en-US" sz="1800" dirty="0"/>
          </a:p>
        </p:txBody>
      </p:sp>
      <p:pic>
        <p:nvPicPr>
          <p:cNvPr id="10" name="Picture 9" descr="A blue and white logo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ar-EG" sz="2800" b="1" dirty="0" smtClean="0">
                <a:solidFill>
                  <a:schemeClr val="bg1"/>
                </a:solidFill>
                <a:latin typeface="+mn-lt"/>
              </a:rPr>
              <a:t>خصائص برنامج المشتريات 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81092" y="1688364"/>
            <a:ext cx="6272011" cy="470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ar-EG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توصيف الشكل الشجرى للأكواد (اصناف – جهة تشغيل – مراحل انتاج – مخازن - ...)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- توصيف الدورة المستندية  وترتيب المستندات و طريقة إعتماد كل مستند على المستندات الأخرى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- إعداد موازنة مشتريات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- تقييم و مقارنة عروض الأسعار المختلفة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- إنشاء طلبات شراء مجمعة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- التكامل التام مع برامج الإعتمادات المستندية و الشحن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- إعداد خطة إحتياجات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- ربط الأصناف بالموردين و تسجيل مدة التسليم وتحديد المورد الرئيسى لكل صنف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- إمكانية إستخدام كود الصنف لدى المورد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0"/>
              </a:spcAft>
            </a:pP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</a:rPr>
              <a:t>- بالإضافة لكل المميزات المذكورة فى برنامج المخازن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0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EG" dirty="0"/>
              <a:t>- و مجموعة كبير من التقارير  التى تغطى جميع متطلبات العميل فى إدارة المشتريات مثل:</a:t>
            </a:r>
            <a:endParaRPr lang="en-US" dirty="0"/>
          </a:p>
          <a:p>
            <a:pPr rtl="1"/>
            <a:r>
              <a:rPr lang="ar-EG" dirty="0"/>
              <a:t>- كشف حساب مورد نقدى – أجل – </a:t>
            </a:r>
            <a:endParaRPr lang="en-US" dirty="0"/>
          </a:p>
          <a:p>
            <a:pPr rtl="1"/>
            <a:r>
              <a:rPr lang="ar-EG" dirty="0"/>
              <a:t>- تقارير سداد فواتير الموردين بالعملة المحلية او بعملة المستند </a:t>
            </a:r>
            <a:endParaRPr lang="en-US" dirty="0"/>
          </a:p>
          <a:p>
            <a:pPr rtl="1"/>
            <a:r>
              <a:rPr lang="ar-EG" dirty="0"/>
              <a:t>-تقارير اوراق الدفع و كشف حركة مدفوعات 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28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خصائص برنامج المشتريات </a:t>
            </a:r>
            <a:r>
              <a:rPr lang="ar-EG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</a:t>
            </a:r>
            <a:endParaRPr lang="en-US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766" y="1948674"/>
            <a:ext cx="7913883" cy="428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0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البيانات الاساسية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Flowchart: Alternate Process 9"/>
          <p:cNvSpPr/>
          <p:nvPr/>
        </p:nvSpPr>
        <p:spPr>
          <a:xfrm>
            <a:off x="8979394" y="1965809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bg1"/>
                </a:solidFill>
              </a:rPr>
              <a:t>تعريف اجزاء الاكواد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0" name="Flowchart: Alternate Process 29"/>
          <p:cNvSpPr/>
          <p:nvPr/>
        </p:nvSpPr>
        <p:spPr>
          <a:xfrm>
            <a:off x="6329153" y="1965808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التعريفات </a:t>
            </a:r>
            <a:endParaRPr lang="en-US" dirty="0"/>
          </a:p>
        </p:txBody>
      </p:sp>
      <p:sp>
        <p:nvSpPr>
          <p:cNvPr id="31" name="Flowchart: Alternate Process 30"/>
          <p:cNvSpPr/>
          <p:nvPr/>
        </p:nvSpPr>
        <p:spPr>
          <a:xfrm>
            <a:off x="3648340" y="1965808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تعريف الصنف </a:t>
            </a:r>
            <a:endParaRPr lang="en-US" dirty="0"/>
          </a:p>
        </p:txBody>
      </p:sp>
      <p:sp>
        <p:nvSpPr>
          <p:cNvPr id="32" name="Flowchart: Alternate Process 31"/>
          <p:cNvSpPr/>
          <p:nvPr/>
        </p:nvSpPr>
        <p:spPr>
          <a:xfrm>
            <a:off x="963089" y="3685013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تعريف نوع المصروف </a:t>
            </a:r>
            <a:endParaRPr lang="en-US" dirty="0"/>
          </a:p>
        </p:txBody>
      </p:sp>
      <p:sp>
        <p:nvSpPr>
          <p:cNvPr id="33" name="Flowchart: Alternate Process 32"/>
          <p:cNvSpPr/>
          <p:nvPr/>
        </p:nvSpPr>
        <p:spPr>
          <a:xfrm>
            <a:off x="3648341" y="3685013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تعريف الوحدات </a:t>
            </a:r>
            <a:endParaRPr lang="en-US" dirty="0"/>
          </a:p>
        </p:txBody>
      </p:sp>
      <p:sp>
        <p:nvSpPr>
          <p:cNvPr id="35" name="Flowchart: Alternate Process 34"/>
          <p:cNvSpPr/>
          <p:nvPr/>
        </p:nvSpPr>
        <p:spPr>
          <a:xfrm>
            <a:off x="1035336" y="1965810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العملات </a:t>
            </a:r>
            <a:endParaRPr lang="en-US" dirty="0"/>
          </a:p>
        </p:txBody>
      </p:sp>
      <p:sp>
        <p:nvSpPr>
          <p:cNvPr id="36" name="Flowchart: Alternate Process 35"/>
          <p:cNvSpPr/>
          <p:nvPr/>
        </p:nvSpPr>
        <p:spPr>
          <a:xfrm>
            <a:off x="1035336" y="5404215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نعريف المزراع </a:t>
            </a:r>
            <a:endParaRPr lang="en-US" dirty="0"/>
          </a:p>
        </p:txBody>
      </p:sp>
      <p:sp>
        <p:nvSpPr>
          <p:cNvPr id="37" name="Flowchart: Alternate Process 36"/>
          <p:cNvSpPr/>
          <p:nvPr/>
        </p:nvSpPr>
        <p:spPr>
          <a:xfrm>
            <a:off x="3648341" y="5374436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تعريف الموانئ</a:t>
            </a:r>
            <a:endParaRPr lang="en-US" dirty="0"/>
          </a:p>
        </p:txBody>
      </p:sp>
      <p:sp>
        <p:nvSpPr>
          <p:cNvPr id="38" name="Flowchart: Alternate Process 37"/>
          <p:cNvSpPr/>
          <p:nvPr/>
        </p:nvSpPr>
        <p:spPr>
          <a:xfrm>
            <a:off x="6329155" y="3714312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ربط العملاء بمخازن الامانة </a:t>
            </a:r>
            <a:endParaRPr lang="en-US" dirty="0"/>
          </a:p>
        </p:txBody>
      </p:sp>
      <p:sp>
        <p:nvSpPr>
          <p:cNvPr id="40" name="Flowchart: Alternate Process 39"/>
          <p:cNvSpPr/>
          <p:nvPr/>
        </p:nvSpPr>
        <p:spPr>
          <a:xfrm>
            <a:off x="6329154" y="5455543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نعريف مركب الشحن </a:t>
            </a:r>
            <a:endParaRPr lang="en-US" dirty="0"/>
          </a:p>
        </p:txBody>
      </p:sp>
      <p:sp>
        <p:nvSpPr>
          <p:cNvPr id="41" name="Flowchart: Alternate Process 40"/>
          <p:cNvSpPr/>
          <p:nvPr/>
        </p:nvSpPr>
        <p:spPr>
          <a:xfrm>
            <a:off x="9014407" y="3685013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مصروفات متعددة </a:t>
            </a:r>
            <a:endParaRPr lang="en-US" dirty="0"/>
          </a:p>
        </p:txBody>
      </p:sp>
      <p:sp>
        <p:nvSpPr>
          <p:cNvPr id="42" name="Flowchart: Alternate Process 41"/>
          <p:cNvSpPr/>
          <p:nvPr/>
        </p:nvSpPr>
        <p:spPr>
          <a:xfrm>
            <a:off x="9181633" y="5404215"/>
            <a:ext cx="1957589" cy="122349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نعريف شركات الشحن والنقل والتلخيص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79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تعريف المورد 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29566" y="540913"/>
            <a:ext cx="499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dirty="0" smtClean="0">
                <a:solidFill>
                  <a:schemeClr val="bg1"/>
                </a:solidFill>
              </a:rPr>
              <a:t>من خلال هذة الشاشة يتم المستخدم ادخال بيانات الاساسية للمورد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24" y="1666108"/>
            <a:ext cx="9256615" cy="29187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24" y="4584880"/>
            <a:ext cx="9256615" cy="196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5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-38637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الحركات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09232" y="2286000"/>
            <a:ext cx="2260012" cy="180441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bg1"/>
                </a:solidFill>
              </a:rPr>
              <a:t>اختيار الحركة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809232" y="4492752"/>
            <a:ext cx="2260012" cy="180441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موافقات الحركات المخزنية </a:t>
            </a:r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3070780" y="4492752"/>
            <a:ext cx="2260012" cy="180441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مصروفات الحركات المخزنية </a:t>
            </a:r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>
            <a:off x="3070780" y="2286000"/>
            <a:ext cx="2260012" cy="180441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تقييم عروض الاسعار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4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اختيار الحركة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685" y="2776671"/>
            <a:ext cx="8376630" cy="13046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25595" y="579926"/>
            <a:ext cx="6003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من خلال هذة الشاشة يتم المستخدم الاختيار بين حركات المشتريات 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131" y="1971127"/>
            <a:ext cx="9942018" cy="4220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435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طلب الشراء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3783" y="581891"/>
            <a:ext cx="6965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A" sz="2000" dirty="0">
                <a:solidFill>
                  <a:schemeClr val="bg1"/>
                </a:solidFill>
              </a:rPr>
              <a:t>هو أمر شراء أصناف معينة صادر من جهة معينة داخل الشركة ولتكن المخزن الذى سيتم التوريد إليه 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783" y="1641969"/>
            <a:ext cx="9739288" cy="47974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956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امر توريد مشتريات مباشر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254" y="1698593"/>
            <a:ext cx="9275929" cy="28969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10" y="4421736"/>
            <a:ext cx="9440816" cy="206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0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فاتورة مشتريات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1381" y="587922"/>
            <a:ext cx="7117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000" dirty="0">
                <a:solidFill>
                  <a:schemeClr val="bg1"/>
                </a:solidFill>
              </a:rPr>
              <a:t>هي وظيفة لإدخال بيانات فاتورة صادرة من مورد معين بناء على أمر شراء أو بدون 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41" y="1737141"/>
            <a:ext cx="9330797" cy="26931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41" y="4430333"/>
            <a:ext cx="9330797" cy="204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         التقارير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9650273" y="1940789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تقارير البيانات الاساسية </a:t>
            </a:r>
            <a:endParaRPr lang="en-US" sz="2000" dirty="0"/>
          </a:p>
        </p:txBody>
      </p:sp>
      <p:sp>
        <p:nvSpPr>
          <p:cNvPr id="31" name="Rounded Rectangle 30"/>
          <p:cNvSpPr/>
          <p:nvPr/>
        </p:nvSpPr>
        <p:spPr>
          <a:xfrm>
            <a:off x="9650273" y="3558635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تقارير اخرى</a:t>
            </a:r>
            <a:endParaRPr lang="en-US" sz="2000" dirty="0"/>
          </a:p>
        </p:txBody>
      </p:sp>
      <p:sp>
        <p:nvSpPr>
          <p:cNvPr id="32" name="Rounded Rectangle 31"/>
          <p:cNvSpPr/>
          <p:nvPr/>
        </p:nvSpPr>
        <p:spPr>
          <a:xfrm>
            <a:off x="454111" y="3558634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تقرير ربحية الاصناف</a:t>
            </a:r>
            <a:endParaRPr lang="en-US" sz="2000" dirty="0"/>
          </a:p>
        </p:txBody>
      </p:sp>
      <p:sp>
        <p:nvSpPr>
          <p:cNvPr id="33" name="Rounded Rectangle 32"/>
          <p:cNvSpPr/>
          <p:nvPr/>
        </p:nvSpPr>
        <p:spPr>
          <a:xfrm>
            <a:off x="2749130" y="3563090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تقرير سداد فواتير الموردين </a:t>
            </a:r>
            <a:endParaRPr lang="en-US" sz="2000" dirty="0"/>
          </a:p>
        </p:txBody>
      </p:sp>
      <p:sp>
        <p:nvSpPr>
          <p:cNvPr id="34" name="Rounded Rectangle 33"/>
          <p:cNvSpPr/>
          <p:nvPr/>
        </p:nvSpPr>
        <p:spPr>
          <a:xfrm>
            <a:off x="5037146" y="1940789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طباعة الحركات </a:t>
            </a:r>
            <a:endParaRPr lang="en-US" sz="2000" dirty="0"/>
          </a:p>
        </p:txBody>
      </p:sp>
      <p:sp>
        <p:nvSpPr>
          <p:cNvPr id="35" name="Rounded Rectangle 34"/>
          <p:cNvSpPr/>
          <p:nvPr/>
        </p:nvSpPr>
        <p:spPr>
          <a:xfrm>
            <a:off x="425179" y="5131289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تقارير مستندات </a:t>
            </a:r>
            <a:endParaRPr lang="en-US" sz="2000" dirty="0"/>
          </a:p>
        </p:txBody>
      </p:sp>
      <p:sp>
        <p:nvSpPr>
          <p:cNvPr id="36" name="Rounded Rectangle 35"/>
          <p:cNvSpPr/>
          <p:nvPr/>
        </p:nvSpPr>
        <p:spPr>
          <a:xfrm>
            <a:off x="2749130" y="1940788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مشتريات الاصناف</a:t>
            </a:r>
            <a:endParaRPr lang="en-US" sz="2000" dirty="0"/>
          </a:p>
        </p:txBody>
      </p:sp>
      <p:sp>
        <p:nvSpPr>
          <p:cNvPr id="37" name="Rounded Rectangle 36"/>
          <p:cNvSpPr/>
          <p:nvPr/>
        </p:nvSpPr>
        <p:spPr>
          <a:xfrm>
            <a:off x="7339169" y="3496623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مشتريات الموردين </a:t>
            </a:r>
            <a:endParaRPr lang="en-US" sz="2000" dirty="0"/>
          </a:p>
        </p:txBody>
      </p:sp>
      <p:sp>
        <p:nvSpPr>
          <p:cNvPr id="38" name="Rounded Rectangle 37"/>
          <p:cNvSpPr/>
          <p:nvPr/>
        </p:nvSpPr>
        <p:spPr>
          <a:xfrm>
            <a:off x="7290357" y="5052457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نموذج 41 </a:t>
            </a:r>
            <a:endParaRPr lang="en-US" sz="2000" dirty="0"/>
          </a:p>
        </p:txBody>
      </p:sp>
      <p:sp>
        <p:nvSpPr>
          <p:cNvPr id="39" name="Rounded Rectangle 38"/>
          <p:cNvSpPr/>
          <p:nvPr/>
        </p:nvSpPr>
        <p:spPr>
          <a:xfrm>
            <a:off x="7361097" y="1940789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تقارير بيانات الاصناف</a:t>
            </a:r>
            <a:endParaRPr lang="en-US" sz="2000" dirty="0"/>
          </a:p>
        </p:txBody>
      </p:sp>
      <p:sp>
        <p:nvSpPr>
          <p:cNvPr id="40" name="Rounded Rectangle 39"/>
          <p:cNvSpPr/>
          <p:nvPr/>
        </p:nvSpPr>
        <p:spPr>
          <a:xfrm>
            <a:off x="5105400" y="3558634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تقارير ارصدة </a:t>
            </a:r>
            <a:endParaRPr lang="en-US" sz="2000" dirty="0"/>
          </a:p>
        </p:txBody>
      </p:sp>
      <p:sp>
        <p:nvSpPr>
          <p:cNvPr id="41" name="Rounded Rectangle 40"/>
          <p:cNvSpPr/>
          <p:nvPr/>
        </p:nvSpPr>
        <p:spPr>
          <a:xfrm>
            <a:off x="5037146" y="5114468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تقرير الموافقات </a:t>
            </a:r>
            <a:endParaRPr lang="en-US" sz="2000" dirty="0"/>
          </a:p>
        </p:txBody>
      </p:sp>
      <p:sp>
        <p:nvSpPr>
          <p:cNvPr id="42" name="Rounded Rectangle 41"/>
          <p:cNvSpPr/>
          <p:nvPr/>
        </p:nvSpPr>
        <p:spPr>
          <a:xfrm>
            <a:off x="2765439" y="5131289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الاصناف على مراكز التكلفة </a:t>
            </a:r>
            <a:endParaRPr lang="en-US" sz="2000" dirty="0"/>
          </a:p>
        </p:txBody>
      </p:sp>
      <p:sp>
        <p:nvSpPr>
          <p:cNvPr id="43" name="Rounded Rectangle 42"/>
          <p:cNvSpPr/>
          <p:nvPr/>
        </p:nvSpPr>
        <p:spPr>
          <a:xfrm>
            <a:off x="425179" y="1940788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الاصناف على الحركة </a:t>
            </a:r>
            <a:endParaRPr lang="en-US" sz="2000" dirty="0"/>
          </a:p>
        </p:txBody>
      </p:sp>
      <p:sp>
        <p:nvSpPr>
          <p:cNvPr id="44" name="Rounded Rectangle 43"/>
          <p:cNvSpPr/>
          <p:nvPr/>
        </p:nvSpPr>
        <p:spPr>
          <a:xfrm>
            <a:off x="9650273" y="5131289"/>
            <a:ext cx="1981200" cy="119149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تقرير تحليل الحركة بمركز التكلفة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18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تقارير اخرى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898206"/>
            <a:ext cx="7685433" cy="45027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2451" y="1897749"/>
            <a:ext cx="3754582" cy="17182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5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28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ارصدة اوامر الشراء للمورد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650" y="4045686"/>
            <a:ext cx="9116697" cy="26322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650" y="1577184"/>
            <a:ext cx="9116697" cy="245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9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نموذج 41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84" y="4198745"/>
            <a:ext cx="10058400" cy="26283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83" y="1575955"/>
            <a:ext cx="10058402" cy="262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2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4401580"/>
            <a:ext cx="1134586" cy="79458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7" y="5260556"/>
            <a:ext cx="1019206" cy="101920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2986772"/>
            <a:ext cx="1019207" cy="101920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1876322"/>
            <a:ext cx="1134588" cy="98033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6" y="1776012"/>
            <a:ext cx="1134586" cy="113458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52" y="5564580"/>
            <a:ext cx="1566074" cy="119836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333" y="1835375"/>
            <a:ext cx="1892855" cy="121075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4136090"/>
            <a:ext cx="983440" cy="9834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8347" y="5258575"/>
            <a:ext cx="1087794" cy="108570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0932" y="2924875"/>
            <a:ext cx="1143000" cy="11430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0854" y="3986969"/>
            <a:ext cx="1837385" cy="105075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07975" y="2993936"/>
            <a:ext cx="1807553" cy="88260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136169" y="1587375"/>
            <a:ext cx="27966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Real State &amp; Constriction</a:t>
            </a:r>
            <a:endParaRPr lang="en-US" sz="2000" b="1" dirty="0"/>
          </a:p>
        </p:txBody>
      </p:sp>
      <p:sp>
        <p:nvSpPr>
          <p:cNvPr id="43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45999" y="1585227"/>
            <a:ext cx="1186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Industrial</a:t>
            </a:r>
            <a:endParaRPr lang="en-US" sz="140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242" y="2181590"/>
            <a:ext cx="1275088" cy="110447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24" y="3681931"/>
            <a:ext cx="1272689" cy="134002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4153" y="5144862"/>
            <a:ext cx="1274476" cy="127447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422" y="2240101"/>
            <a:ext cx="1244290" cy="108110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9862" y="3841175"/>
            <a:ext cx="1273265" cy="93308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261" y="5217928"/>
            <a:ext cx="1309298" cy="1303479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3946" y="5206026"/>
            <a:ext cx="1264746" cy="1264746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88210" y="3664429"/>
            <a:ext cx="1698749" cy="102521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52685" y="2138301"/>
            <a:ext cx="1284701" cy="1284701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82076" y="2011509"/>
            <a:ext cx="1556648" cy="155664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727" y="4932926"/>
            <a:ext cx="1555575" cy="15555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275" y="3666581"/>
            <a:ext cx="1474781" cy="980801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5124386" y="2006738"/>
            <a:ext cx="6833149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5677" y="2016677"/>
            <a:ext cx="4791470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A blue and white logo&#10;&#10;Description automatically generated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173" y="5950142"/>
            <a:ext cx="947826" cy="907858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1050" y="5040504"/>
            <a:ext cx="1309298" cy="1303479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4735" y="4987658"/>
            <a:ext cx="1264746" cy="126474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516" y="4960222"/>
            <a:ext cx="1555575" cy="1555575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064" y="3666581"/>
            <a:ext cx="1474781" cy="98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5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59" y="4332239"/>
            <a:ext cx="1519978" cy="1073188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968" y="5120233"/>
            <a:ext cx="1780242" cy="900552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464" y="1886153"/>
            <a:ext cx="1520534" cy="1492024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920" y="2375401"/>
            <a:ext cx="1757212" cy="1431024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787851" y="1666849"/>
            <a:ext cx="1652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Food </a:t>
            </a:r>
            <a:r>
              <a:rPr lang="en-US" sz="2000" b="1" dirty="0"/>
              <a:t>industry</a:t>
            </a: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39" y="3427677"/>
            <a:ext cx="1453083" cy="89540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464" y="3453751"/>
            <a:ext cx="1520534" cy="1487567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550308" y="1651822"/>
            <a:ext cx="1231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Education</a:t>
            </a:r>
            <a:endParaRPr lang="en-US" b="1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0025" y="6015715"/>
            <a:ext cx="1329043" cy="667660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5984642" y="1662553"/>
            <a:ext cx="1839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Service projects</a:t>
            </a:r>
            <a:endParaRPr lang="en-US" sz="2000" b="1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418" y="2031885"/>
            <a:ext cx="1576982" cy="1182736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0189" y="3377921"/>
            <a:ext cx="1652159" cy="1652159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28" y="4903379"/>
            <a:ext cx="1143963" cy="1179712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2609" y="6376378"/>
            <a:ext cx="1591791" cy="380663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8490111" y="1660405"/>
            <a:ext cx="21855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Government sector</a:t>
            </a:r>
          </a:p>
        </p:txBody>
      </p:sp>
      <p:pic>
        <p:nvPicPr>
          <p:cNvPr id="75" name="Picture 74" descr="C:\Documents and Settings\mohamed\Desktop\New Folder\download (3)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160" y="3935802"/>
            <a:ext cx="1757121" cy="1274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" name="Picture 49" descr="C:\Users\Mr.Rami\Downloads\logo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85386" y="2172674"/>
            <a:ext cx="772258" cy="1133353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1" y="5183679"/>
            <a:ext cx="1091821" cy="5531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578" y="5374751"/>
            <a:ext cx="885413" cy="11056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22" y="5915702"/>
            <a:ext cx="1172190" cy="818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0555" y="2060515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216961" y="2060514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8616323" y="2051931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874280" y="2051932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6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25776A7-704F-61F8-EF64-F87B34DE26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83" y="643467"/>
            <a:ext cx="550343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Wave 1"/>
          <p:cNvSpPr/>
          <p:nvPr/>
        </p:nvSpPr>
        <p:spPr>
          <a:xfrm>
            <a:off x="167425" y="6277706"/>
            <a:ext cx="1906073" cy="418088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Mohamed </a:t>
            </a:r>
            <a:r>
              <a:rPr lang="en-US" dirty="0" err="1" smtClean="0"/>
              <a:t>Younis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9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3487</TotalTime>
  <Words>274</Words>
  <Application>Microsoft Office PowerPoint</Application>
  <PresentationFormat>Widescreen</PresentationFormat>
  <Paragraphs>80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Corbel</vt:lpstr>
      <vt:lpstr>Tw Cen MT</vt:lpstr>
      <vt:lpstr>Tw Cen MT Condensed</vt:lpstr>
      <vt:lpstr>Wingdings 3</vt:lpstr>
      <vt:lpstr>Integral</vt:lpstr>
      <vt:lpstr>Purchases System Walkthrough </vt:lpstr>
      <vt:lpstr>خصائص برنامج المشتريات </vt:lpstr>
      <vt:lpstr>خصائص برنامج المشتريات  </vt:lpstr>
      <vt:lpstr>   البيانات الاساسية </vt:lpstr>
      <vt:lpstr>   تعريف المورد  </vt:lpstr>
      <vt:lpstr>الحركات </vt:lpstr>
      <vt:lpstr>اختيار الحركة </vt:lpstr>
      <vt:lpstr>طلب الشراء </vt:lpstr>
      <vt:lpstr>امر توريد مشتريات مباشر</vt:lpstr>
      <vt:lpstr>فاتورة مشتريات </vt:lpstr>
      <vt:lpstr>         التقارير</vt:lpstr>
      <vt:lpstr>تقارير اخرى </vt:lpstr>
      <vt:lpstr>ارصدة اوامر الشراء للمورد </vt:lpstr>
      <vt:lpstr>نموذج 41</vt:lpstr>
      <vt:lpstr>عملائنا</vt:lpstr>
      <vt:lpstr>عملائنا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Adham Bahgat</dc:creator>
  <cp:lastModifiedBy>lenovo</cp:lastModifiedBy>
  <cp:revision>188</cp:revision>
  <dcterms:created xsi:type="dcterms:W3CDTF">2023-07-10T11:59:00Z</dcterms:created>
  <dcterms:modified xsi:type="dcterms:W3CDTF">2026-04-14T10:43:41Z</dcterms:modified>
</cp:coreProperties>
</file>