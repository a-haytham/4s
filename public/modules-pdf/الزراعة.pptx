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8" r:id="rId2"/>
    <p:sldId id="375" r:id="rId3"/>
    <p:sldId id="374" r:id="rId4"/>
    <p:sldId id="398" r:id="rId5"/>
    <p:sldId id="399" r:id="rId6"/>
    <p:sldId id="377" r:id="rId7"/>
    <p:sldId id="378" r:id="rId8"/>
    <p:sldId id="379" r:id="rId9"/>
    <p:sldId id="381" r:id="rId10"/>
    <p:sldId id="388" r:id="rId11"/>
    <p:sldId id="382" r:id="rId12"/>
    <p:sldId id="380" r:id="rId13"/>
    <p:sldId id="385" r:id="rId14"/>
    <p:sldId id="383" r:id="rId15"/>
    <p:sldId id="400" r:id="rId16"/>
    <p:sldId id="397" r:id="rId17"/>
    <p:sldId id="3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434" autoAdjust="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ED44EC-1A01-ABB5-EFFB-DB27E4846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534AEB1-8620-0ACC-257F-797DAE0AE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868F41E-A921-5F51-E73E-F5664F01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E9D1526-A853-BC3A-5A89-C35D474C2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959CAF6-944B-D7B5-D951-EDAB090F0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524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026CA1-7721-428F-200E-94DA932B9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453581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033821F-A462-B2FD-DC6B-D98F54F1F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80A6907-A5F5-D930-5D41-5F623C066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9255E8D-E2E6-83F2-2FF8-B9ED679AA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3E98712-BD0B-29F3-FEC3-6EFF90D46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052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38B249-BA77-A00C-5C06-BD28B68E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10B4BFC-9E5C-E585-6A72-33955E452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8383919-24D7-2823-92E8-CD2BEA997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7240178-215C-25DE-A12C-4389E9CAE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4C5EBDA-0D7E-2512-FFC4-44E42DE18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85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0A86D4-D600-FF8D-7190-2D9E5D586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6863AD1-92AA-490D-54A1-EC5BEBA680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F583411-8210-917C-C7C4-46882981B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E533D6D-0184-D4C2-AB9F-5E5E9C048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5370299-A6D4-8D00-BDBC-DB322CA62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C4056FA-EDAF-B0BB-EF8C-CC663C5E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31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F7E13F-3858-05D3-DAED-DA588813F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9A8DD13-5A92-32A8-5298-BF9234A6A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496866D-1936-5DF3-927C-12D6C5A64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5619F5E-990E-407E-F0C3-067B679932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B8514DA-A2F0-F6C2-DCE3-302891516F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E449795-2AF9-123B-2A1E-DD315B3AB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6261F7B-0C88-664E-B398-F230FAC87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FEF4B68-8C9C-3232-C775-CA0A4B21B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14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5819E6-7206-174B-F6FC-374482006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3CDC2E8-62C5-DD06-459F-BABF6CB39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14DED7F-6122-AB14-9857-0F6141ED5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AE75C9D-C418-4E6F-FBAF-FDDE9220F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03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31D4F83-DAD7-FEC7-652E-2B817A534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AE02390-9766-F3B7-2B38-5BA8D3296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D6B2E95-40A1-2509-9EE8-F3362EFF1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493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2F654E-D48D-03EC-F174-EE05C553F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4B68A96-8D3F-CCBA-897A-70CE76A61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1BABF03-B1CF-BF75-A4FC-95C93BCD2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2E7E1D1-85A7-2E3A-E206-E97B61702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26212C0-A41D-4186-0B06-9D4AB0463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4D301B8-71B7-215C-7465-267F4DBE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39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3869C0-A901-75F3-4FEE-43F017F3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32706BD-ED55-7767-C72C-5F2FF4065F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64A71B3-61F7-6013-69E4-577E1E037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DBA3EB4-8415-CF73-79EB-3E8E6DF74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072BE67-9388-F50B-444B-7699816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0352D74-9A9B-0F53-CEBF-3FEAA80B8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75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53B6E4-D076-D212-90F0-BE82462E4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4ED9DB8-AC0E-90C7-D96E-8FA65FC9B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BF4D24B-7204-DE68-06B1-5804A4DB2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91FA536-C6CA-F2B0-DED6-84F01F174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C0C4B2D-287B-1A9E-3320-7DC09EE2A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398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971FE684-BCCC-5900-57B6-D3D7C54FB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579590F-0EE4-8274-86D6-95A5F2936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C7D94D6-AEE0-583A-CCAD-ADC1BB72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24DF07A-389E-D9FD-98E8-288ADA0EB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89F6DC5-247B-93EC-0EFB-827C6FF0F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93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0750C7D-AB7B-D44F-E7E3-CF4A7245D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97"/>
            <a:ext cx="10515600" cy="3159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FA1CDF3-FAD1-B31E-2938-0728618FF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31010"/>
            <a:ext cx="10515600" cy="46459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B937F55-4AA0-29D8-2438-C2AFA8FDE8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043DF-70A6-4D01-AD52-DC25902F12E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06A7A83-A7E1-40F3-CC93-736E011A1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E87A676-C818-496C-D2FD-F2155129E3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B846D-5EC1-4041-A481-846FBFFBF4E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77EA58C-83D3-9F62-C79D-9FAF20DEC68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855" y="6026820"/>
            <a:ext cx="821090" cy="8311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187961BB-6029-E984-CD15-B58BF624CBFB}"/>
              </a:ext>
            </a:extLst>
          </p:cNvPr>
          <p:cNvSpPr/>
          <p:nvPr userDrawn="1"/>
        </p:nvSpPr>
        <p:spPr>
          <a:xfrm>
            <a:off x="11373293" y="68977"/>
            <a:ext cx="87214" cy="429182"/>
          </a:xfrm>
          <a:prstGeom prst="rect">
            <a:avLst/>
          </a:prstGeom>
          <a:solidFill>
            <a:srgbClr val="0070C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75712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jpe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jpe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xmlns="" id="{6F5A5072-7B47-4D32-B52A-4EBBF590B8A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9715DAF0-AE1B-46C9-8A6B-DB2AA05AB91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6016219D-510E-4184-9090-6D5578A87B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AFF4A713-7B75-4B21-90D7-5AB19547C7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DC631C0B-6DA6-4E57-8231-CE32B3434A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C29501E6-A978-4A61-9689-9085AF97A5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348B17-CDF0-F2AA-6CF5-25F6DC983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 smtClean="0">
                <a:solidFill>
                  <a:srgbClr val="FFFFFF"/>
                </a:solidFill>
                <a:latin typeface="+mn-lt"/>
              </a:rPr>
              <a:t>Agriculture System Walkthrough </a:t>
            </a:r>
            <a:endParaRPr lang="en-US" sz="48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8671DC8-05D9-0158-F96D-62C2B2F0A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 rtl="1"/>
            <a:r>
              <a:rPr lang="ar-EG" dirty="0"/>
              <a:t>برنامج</a:t>
            </a:r>
            <a:r>
              <a:rPr lang="en-US" dirty="0"/>
              <a:t> </a:t>
            </a:r>
            <a:r>
              <a:rPr lang="en-US" b="1" dirty="0"/>
              <a:t>4S</a:t>
            </a:r>
            <a:r>
              <a:rPr lang="en-US" dirty="0"/>
              <a:t> </a:t>
            </a:r>
            <a:r>
              <a:rPr lang="ar-EG" dirty="0" smtClean="0"/>
              <a:t>للزراعة </a:t>
            </a:r>
            <a:endParaRPr lang="en-US" dirty="0"/>
          </a:p>
          <a:p>
            <a:pPr algn="l" rtl="1"/>
            <a:endParaRPr lang="en-US" dirty="0"/>
          </a:p>
          <a:p>
            <a:pPr algn="l" rtl="1"/>
            <a:r>
              <a:rPr lang="en-US" sz="1800" dirty="0"/>
              <a:t>July 17</a:t>
            </a:r>
            <a:r>
              <a:rPr lang="en-US" sz="1800" baseline="30000" dirty="0"/>
              <a:t>th</a:t>
            </a:r>
            <a:r>
              <a:rPr lang="en-US" sz="1800" dirty="0"/>
              <a:t>, </a:t>
            </a:r>
            <a:r>
              <a:rPr lang="en-US" sz="1800" dirty="0" smtClean="0"/>
              <a:t>2025</a:t>
            </a:r>
            <a:endParaRPr lang="en-US" sz="1800" dirty="0"/>
          </a:p>
        </p:txBody>
      </p:sp>
      <p:pic>
        <p:nvPicPr>
          <p:cNvPr id="10" name="Picture 9" descr="A blue and white 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7843" y="5944079"/>
            <a:ext cx="954156" cy="91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08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b="1" dirty="0" smtClean="0">
                <a:solidFill>
                  <a:prstClr val="white"/>
                </a:solidFill>
                <a:latin typeface="Calibri" panose="020F0502020204030204"/>
              </a:rPr>
              <a:t>خصائص برنامج الزراعة </a:t>
            </a:r>
            <a:endParaRPr lang="en-US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564" y="1725407"/>
            <a:ext cx="8757634" cy="16608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564" y="3235817"/>
            <a:ext cx="8757634" cy="30522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4563" y="6111219"/>
            <a:ext cx="8654605" cy="46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50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ar-EG" b="1" dirty="0" smtClean="0">
                <a:solidFill>
                  <a:schemeClr val="bg1"/>
                </a:solidFill>
                <a:latin typeface="+mn-lt"/>
              </a:rPr>
              <a:t>البيانات الاساسية 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0913" y="434034"/>
            <a:ext cx="7587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sz="2000" dirty="0">
                <a:solidFill>
                  <a:schemeClr val="bg1"/>
                </a:solidFill>
              </a:rPr>
              <a:t>إدخال الأكواد الأساسية قبل البدء في إجراء أي حركات على البرنامج. مثل </a:t>
            </a:r>
            <a:r>
              <a:rPr lang="ar-EG" sz="2000" dirty="0" smtClean="0">
                <a:solidFill>
                  <a:schemeClr val="bg1"/>
                </a:solidFill>
              </a:rPr>
              <a:t>(المراحل </a:t>
            </a:r>
            <a:r>
              <a:rPr lang="ar-EG" sz="2000" dirty="0">
                <a:solidFill>
                  <a:schemeClr val="bg1"/>
                </a:solidFill>
              </a:rPr>
              <a:t>العمرية، </a:t>
            </a:r>
            <a:r>
              <a:rPr lang="ar-EG" sz="2000" dirty="0" smtClean="0">
                <a:solidFill>
                  <a:schemeClr val="bg1"/>
                </a:solidFill>
              </a:rPr>
              <a:t>بيانات الزراعة ,......)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" name="Heptagon 6"/>
          <p:cNvSpPr/>
          <p:nvPr/>
        </p:nvSpPr>
        <p:spPr>
          <a:xfrm>
            <a:off x="9284559" y="2019754"/>
            <a:ext cx="1751738" cy="1853567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dirty="0" smtClean="0"/>
              <a:t>تعريف اجزاء الاكواد </a:t>
            </a:r>
            <a:endParaRPr lang="en-US" sz="2400" dirty="0"/>
          </a:p>
        </p:txBody>
      </p:sp>
      <p:sp>
        <p:nvSpPr>
          <p:cNvPr id="27" name="Heptagon 26"/>
          <p:cNvSpPr/>
          <p:nvPr/>
        </p:nvSpPr>
        <p:spPr>
          <a:xfrm>
            <a:off x="540913" y="2009988"/>
            <a:ext cx="1751738" cy="1853567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dirty="0" smtClean="0"/>
              <a:t>تعريف الصنف</a:t>
            </a:r>
            <a:endParaRPr lang="en-US" sz="2400" dirty="0"/>
          </a:p>
        </p:txBody>
      </p:sp>
      <p:sp>
        <p:nvSpPr>
          <p:cNvPr id="28" name="Heptagon 27"/>
          <p:cNvSpPr/>
          <p:nvPr/>
        </p:nvSpPr>
        <p:spPr>
          <a:xfrm>
            <a:off x="3321746" y="2009989"/>
            <a:ext cx="1751738" cy="1853567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dirty="0" smtClean="0"/>
              <a:t>تعريف الوحدات </a:t>
            </a:r>
            <a:endParaRPr lang="en-US" sz="2400" dirty="0"/>
          </a:p>
        </p:txBody>
      </p:sp>
      <p:sp>
        <p:nvSpPr>
          <p:cNvPr id="29" name="Heptagon 28"/>
          <p:cNvSpPr/>
          <p:nvPr/>
        </p:nvSpPr>
        <p:spPr>
          <a:xfrm>
            <a:off x="6096000" y="2011770"/>
            <a:ext cx="1751738" cy="1853567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dirty="0" smtClean="0"/>
              <a:t>التعريفات</a:t>
            </a:r>
            <a:endParaRPr lang="en-US" sz="2400" dirty="0"/>
          </a:p>
        </p:txBody>
      </p:sp>
      <p:sp>
        <p:nvSpPr>
          <p:cNvPr id="30" name="Heptagon 29"/>
          <p:cNvSpPr/>
          <p:nvPr/>
        </p:nvSpPr>
        <p:spPr>
          <a:xfrm>
            <a:off x="9301159" y="4438877"/>
            <a:ext cx="1751738" cy="1853567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dirty="0" smtClean="0"/>
              <a:t>اوقات المعاملة </a:t>
            </a:r>
            <a:endParaRPr lang="en-US" sz="2400" dirty="0"/>
          </a:p>
        </p:txBody>
      </p:sp>
      <p:sp>
        <p:nvSpPr>
          <p:cNvPr id="31" name="Heptagon 30"/>
          <p:cNvSpPr/>
          <p:nvPr/>
        </p:nvSpPr>
        <p:spPr>
          <a:xfrm>
            <a:off x="540913" y="4438877"/>
            <a:ext cx="1751738" cy="1853567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dirty="0" smtClean="0"/>
              <a:t>العمليات المساعدة للزراعة </a:t>
            </a:r>
            <a:endParaRPr lang="en-US" sz="2400" dirty="0"/>
          </a:p>
        </p:txBody>
      </p:sp>
      <p:sp>
        <p:nvSpPr>
          <p:cNvPr id="32" name="Heptagon 31"/>
          <p:cNvSpPr/>
          <p:nvPr/>
        </p:nvSpPr>
        <p:spPr>
          <a:xfrm>
            <a:off x="6186477" y="4438877"/>
            <a:ext cx="1751738" cy="1853567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dirty="0" smtClean="0"/>
              <a:t>تعريف بيانات الزراعة </a:t>
            </a:r>
            <a:endParaRPr lang="en-US" sz="2400" dirty="0"/>
          </a:p>
        </p:txBody>
      </p:sp>
      <p:sp>
        <p:nvSpPr>
          <p:cNvPr id="33" name="Heptagon 32"/>
          <p:cNvSpPr/>
          <p:nvPr/>
        </p:nvSpPr>
        <p:spPr>
          <a:xfrm>
            <a:off x="3295636" y="4438877"/>
            <a:ext cx="1751738" cy="1853567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400" dirty="0" smtClean="0"/>
              <a:t>المراحل العمرية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6509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b="1" dirty="0" smtClean="0">
                <a:solidFill>
                  <a:prstClr val="white"/>
                </a:solidFill>
                <a:latin typeface="Calibri" panose="020F0502020204030204"/>
              </a:rPr>
              <a:t>تعريف الوحدات </a:t>
            </a:r>
            <a:endParaRPr lang="en-US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456815"/>
            <a:ext cx="8128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dirty="0" smtClean="0">
                <a:solidFill>
                  <a:schemeClr val="bg1"/>
                </a:solidFill>
              </a:rPr>
              <a:t>يتم من خلال هذة الشاشة تعريف الوحدات الخاصة بالزراعة اى وحدات القياس ويتم التعامل على سبيل المثال (طن, كيس بذور, شكارة )ويتم تعريف رمز لكل وحدة مثل (كيلوجرام).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29" y="1712943"/>
            <a:ext cx="9946420" cy="500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390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b="1" dirty="0" smtClean="0">
                <a:solidFill>
                  <a:prstClr val="white"/>
                </a:solidFill>
                <a:latin typeface="Calibri" panose="020F0502020204030204"/>
              </a:rPr>
              <a:t>تعريف الصنف </a:t>
            </a:r>
            <a:endParaRPr lang="en-US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37882" y="456815"/>
            <a:ext cx="7690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dirty="0">
                <a:solidFill>
                  <a:schemeClr val="bg1"/>
                </a:solidFill>
              </a:rPr>
              <a:t>من خلال هذه الشاشه تعريف الاصناف المختلفه داخل كل مجموعه محاصيل واختيار الوحدات لكل صنف منها وايضا تسجيل كميه هذا الصنف داخل كل مخزن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72" y="1695959"/>
            <a:ext cx="10882647" cy="259270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83" y="4636611"/>
            <a:ext cx="10766736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208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تعريف بيانات الزراعة 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63" y="1874303"/>
            <a:ext cx="10766739" cy="444879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57577" y="318316"/>
            <a:ext cx="78712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EG" dirty="0">
                <a:solidFill>
                  <a:schemeClr val="bg1"/>
                </a:solidFill>
              </a:rPr>
              <a:t>تم من خلال هذه الشاشة تعريف بيانات زرعه و يتم ذالك بتعريف البيانات التاليه:</a:t>
            </a:r>
          </a:p>
          <a:p>
            <a:pPr algn="r"/>
            <a:r>
              <a:rPr lang="ar-EG" b="1" dirty="0">
                <a:solidFill>
                  <a:schemeClr val="bg1"/>
                </a:solidFill>
              </a:rPr>
              <a:t>اسم الزرعة - الصنف  المزروع - الصنف السابق - مساحة الزرعة - تاريخ الزرعة - تاريخ الحصاد المتوقع - كمية الحصاد المتوقعة - مركز التكلفة</a:t>
            </a:r>
            <a:endParaRPr lang="ar-E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79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   </a:t>
            </a: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التقارير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Heptagon 15"/>
          <p:cNvSpPr/>
          <p:nvPr/>
        </p:nvSpPr>
        <p:spPr>
          <a:xfrm>
            <a:off x="10160428" y="1863533"/>
            <a:ext cx="1751738" cy="1853567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bg1"/>
                </a:solidFill>
              </a:rPr>
              <a:t>تقرير الاصناف التوقعى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2" name="Heptagon 21"/>
          <p:cNvSpPr/>
          <p:nvPr/>
        </p:nvSpPr>
        <p:spPr>
          <a:xfrm>
            <a:off x="8278446" y="1879524"/>
            <a:ext cx="1751738" cy="1853567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 تعرير خطة مكافحة عامة للفدان </a:t>
            </a:r>
            <a:endParaRPr lang="en-US" sz="2000" dirty="0"/>
          </a:p>
        </p:txBody>
      </p:sp>
      <p:sp>
        <p:nvSpPr>
          <p:cNvPr id="28" name="Heptagon 27"/>
          <p:cNvSpPr/>
          <p:nvPr/>
        </p:nvSpPr>
        <p:spPr>
          <a:xfrm>
            <a:off x="4315337" y="4409472"/>
            <a:ext cx="1751738" cy="1853567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bg1"/>
                </a:solidFill>
              </a:rPr>
              <a:t> تقرير مقارنة تكلفة الزراعية المعيارى بالفعلى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9" name="Heptagon 28"/>
          <p:cNvSpPr/>
          <p:nvPr/>
        </p:nvSpPr>
        <p:spPr>
          <a:xfrm>
            <a:off x="2238452" y="4409472"/>
            <a:ext cx="1751738" cy="1853567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bg1"/>
                </a:solidFill>
              </a:rPr>
              <a:t> تقرير التكلفة المعيارية للزراعة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0" name="Heptagon 29"/>
          <p:cNvSpPr/>
          <p:nvPr/>
        </p:nvSpPr>
        <p:spPr>
          <a:xfrm>
            <a:off x="346797" y="4409472"/>
            <a:ext cx="1751738" cy="1853567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bg1"/>
                </a:solidFill>
              </a:rPr>
              <a:t>تقرير التكلفة التقديرية للفدان </a:t>
            </a:r>
            <a:r>
              <a:rPr lang="ar-EG" sz="2400" dirty="0" smtClean="0"/>
              <a:t> </a:t>
            </a:r>
            <a:endParaRPr lang="en-US" sz="2400" dirty="0"/>
          </a:p>
        </p:txBody>
      </p:sp>
      <p:sp>
        <p:nvSpPr>
          <p:cNvPr id="31" name="Heptagon 30"/>
          <p:cNvSpPr/>
          <p:nvPr/>
        </p:nvSpPr>
        <p:spPr>
          <a:xfrm>
            <a:off x="346797" y="1857311"/>
            <a:ext cx="1751738" cy="1853567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 تقرير خطة تسميد للزراعة التوقعى </a:t>
            </a:r>
            <a:endParaRPr lang="en-US" sz="2000" dirty="0"/>
          </a:p>
        </p:txBody>
      </p:sp>
      <p:sp>
        <p:nvSpPr>
          <p:cNvPr id="32" name="Heptagon 31"/>
          <p:cNvSpPr/>
          <p:nvPr/>
        </p:nvSpPr>
        <p:spPr>
          <a:xfrm>
            <a:off x="2253556" y="1863533"/>
            <a:ext cx="1751738" cy="1853567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bg1"/>
                </a:solidFill>
              </a:rPr>
              <a:t> تقرير خطة تسميد عامة للفدان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3" name="Heptagon 32"/>
          <p:cNvSpPr/>
          <p:nvPr/>
        </p:nvSpPr>
        <p:spPr>
          <a:xfrm>
            <a:off x="4315337" y="1879524"/>
            <a:ext cx="1751738" cy="1853567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/>
              <a:t> تقرير خطة مكافحة عامة للزراعة </a:t>
            </a:r>
            <a:endParaRPr lang="en-US" sz="2000" dirty="0"/>
          </a:p>
        </p:txBody>
      </p:sp>
      <p:sp>
        <p:nvSpPr>
          <p:cNvPr id="34" name="Heptagon 33"/>
          <p:cNvSpPr/>
          <p:nvPr/>
        </p:nvSpPr>
        <p:spPr>
          <a:xfrm>
            <a:off x="6377118" y="1879524"/>
            <a:ext cx="1751738" cy="1853567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bg1"/>
                </a:solidFill>
              </a:rPr>
              <a:t>تقرير خطة مكافحة عامة للزراعة توقعى</a:t>
            </a:r>
            <a:r>
              <a:rPr lang="ar-EG" sz="2400" dirty="0" smtClean="0"/>
              <a:t> </a:t>
            </a:r>
            <a:endParaRPr lang="en-US" sz="2400" dirty="0"/>
          </a:p>
        </p:txBody>
      </p:sp>
      <p:sp>
        <p:nvSpPr>
          <p:cNvPr id="35" name="Heptagon 34"/>
          <p:cNvSpPr/>
          <p:nvPr/>
        </p:nvSpPr>
        <p:spPr>
          <a:xfrm>
            <a:off x="10160428" y="4409474"/>
            <a:ext cx="1751738" cy="1853567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 smtClean="0">
                <a:solidFill>
                  <a:schemeClr val="bg1"/>
                </a:solidFill>
              </a:rPr>
              <a:t>تقرير خطة تسميد للزراعة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6" name="Heptagon 35"/>
          <p:cNvSpPr/>
          <p:nvPr/>
        </p:nvSpPr>
        <p:spPr>
          <a:xfrm>
            <a:off x="8278446" y="4409474"/>
            <a:ext cx="1751738" cy="1853567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/>
              <a:t> </a:t>
            </a:r>
            <a:r>
              <a:rPr lang="ar-EG" sz="2000" dirty="0" smtClean="0"/>
              <a:t>تقرير امر شغل مكافحة </a:t>
            </a:r>
            <a:endParaRPr lang="en-US" sz="2000" dirty="0"/>
          </a:p>
        </p:txBody>
      </p:sp>
      <p:sp>
        <p:nvSpPr>
          <p:cNvPr id="37" name="Heptagon 36"/>
          <p:cNvSpPr/>
          <p:nvPr/>
        </p:nvSpPr>
        <p:spPr>
          <a:xfrm>
            <a:off x="6377118" y="4409473"/>
            <a:ext cx="1751738" cy="1853567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2000" dirty="0">
                <a:solidFill>
                  <a:schemeClr val="bg1"/>
                </a:solidFill>
              </a:rPr>
              <a:t> </a:t>
            </a:r>
            <a:r>
              <a:rPr lang="ar-EG" sz="2000" dirty="0" smtClean="0">
                <a:solidFill>
                  <a:schemeClr val="bg1"/>
                </a:solidFill>
              </a:rPr>
              <a:t>تقرير سجل استخدام المبيدات 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950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b="1" dirty="0" smtClean="0">
                <a:solidFill>
                  <a:prstClr val="white"/>
                </a:solidFill>
                <a:latin typeface="Calibri" panose="020F0502020204030204"/>
              </a:rPr>
              <a:t>تقرير خطة مكافحة عامة للفدان</a:t>
            </a:r>
            <a:endParaRPr lang="en-US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177" y="1669432"/>
            <a:ext cx="9097645" cy="277216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177" y="4441594"/>
            <a:ext cx="9097645" cy="19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846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b="1" dirty="0" smtClean="0">
                <a:solidFill>
                  <a:prstClr val="white"/>
                </a:solidFill>
                <a:latin typeface="Calibri" panose="020F0502020204030204"/>
              </a:rPr>
              <a:t>تقرير خطة مكافحة عامة للزراعة </a:t>
            </a:r>
            <a:endParaRPr lang="en-US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651" y="1806599"/>
            <a:ext cx="9116697" cy="24949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918" y="4301544"/>
            <a:ext cx="9263430" cy="188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565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تقرير خطة تسميد عامة للفدان </a:t>
            </a:r>
            <a:endParaRPr lang="ar-EG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915" y="1733478"/>
            <a:ext cx="9977245" cy="295316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916" y="3748144"/>
            <a:ext cx="9977244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79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تقرير امر شغل مكافحة 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38" y="1705063"/>
            <a:ext cx="10122794" cy="257210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38" y="4023262"/>
            <a:ext cx="10122794" cy="218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72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تقرير سجل استخدام المبيدات </a:t>
            </a:r>
            <a:endParaRPr lang="en-US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55" y="1732947"/>
            <a:ext cx="10470523" cy="26201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54" y="3995231"/>
            <a:ext cx="10470524" cy="219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357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</a:pPr>
            <a:r>
              <a:rPr lang="ar-EG" b="1" dirty="0" smtClean="0">
                <a:solidFill>
                  <a:prstClr val="white"/>
                </a:solidFill>
                <a:latin typeface="Calibri" panose="020F0502020204030204"/>
              </a:rPr>
              <a:t>تقرير مقارنة تكلفة الزراعة المعيارى بالفعلى </a:t>
            </a:r>
            <a:endParaRPr lang="en-US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431" y="1995434"/>
            <a:ext cx="9662327" cy="173379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430" y="3729226"/>
            <a:ext cx="9662328" cy="24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306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56" y="0"/>
            <a:ext cx="4063144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  <a:cs typeface="Arial" panose="020B0604020202020204" pitchFamily="34" charset="0"/>
              </a:rPr>
              <a:t>تقرير التكلفة المعيارية للزراعة </a:t>
            </a:r>
            <a:endParaRPr lang="ar-EG" sz="3200" b="1" dirty="0">
              <a:solidFill>
                <a:prstClr val="white"/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 txBox="1">
            <a:spLocks/>
          </p:cNvSpPr>
          <p:nvPr/>
        </p:nvSpPr>
        <p:spPr>
          <a:xfrm>
            <a:off x="-2" y="234136"/>
            <a:ext cx="8128857" cy="1273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ar-EG" sz="2000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841" y="1794099"/>
            <a:ext cx="8945223" cy="197941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841" y="3554569"/>
            <a:ext cx="8945223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856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/>
            <a:r>
              <a:rPr lang="ar-EG" dirty="0" smtClean="0"/>
              <a:t>عملاءنا فى مجال الزراعة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753" y="1393641"/>
            <a:ext cx="2491944" cy="1535564"/>
          </a:xfrm>
          <a:prstGeom prst="rect">
            <a:avLst/>
          </a:prstGeom>
        </p:spPr>
      </p:pic>
      <p:pic>
        <p:nvPicPr>
          <p:cNvPr id="6" name="Picture 49" descr="C:\Users\Mr.Rami\Downloads\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3794" y="1194194"/>
            <a:ext cx="1562065" cy="3038452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="" xmlns:a16="http://schemas.microsoft.com/office/drawing/2014/main" id="{3560F281-4FF6-4617-A809-AC9C15ECF18A}"/>
              </a:ext>
            </a:extLst>
          </p:cNvPr>
          <p:cNvSpPr txBox="1">
            <a:spLocks/>
          </p:cNvSpPr>
          <p:nvPr/>
        </p:nvSpPr>
        <p:spPr>
          <a:xfrm>
            <a:off x="3852742" y="6376987"/>
            <a:ext cx="3372873" cy="357187"/>
          </a:xfrm>
          <a:prstGeom prst="rect">
            <a:avLst/>
          </a:prstGeom>
          <a:solidFill>
            <a:schemeClr val="bg1"/>
          </a:solidFill>
        </p:spPr>
        <p:txBody>
          <a:bodyPr vert="horz" lIns="180000" tIns="180000" rIns="180000" bIns="18000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0" b="1" i="0" u="none" strike="noStrike" kern="1200" cap="none" spc="-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rbel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0393" y="1456391"/>
            <a:ext cx="2320961" cy="1872597"/>
          </a:xfrm>
          <a:prstGeom prst="rect">
            <a:avLst/>
          </a:prstGeom>
        </p:spPr>
      </p:pic>
      <p:pic>
        <p:nvPicPr>
          <p:cNvPr id="11" name="Content Placeholder 10"/>
          <p:cNvPicPr>
            <a:picLocks noGrp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321985" y="4058375"/>
            <a:ext cx="1720051" cy="1418929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1771411" y="2043662"/>
            <a:ext cx="2943226" cy="881484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</p:spPr>
        <p:txBody>
          <a:bodyPr vert="horz" lIns="18000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ar-EG" sz="2400" b="0" dirty="0" smtClean="0">
                <a:latin typeface="Arial" panose="020B0604020202020204" pitchFamily="34" charset="0"/>
                <a:cs typeface="Arial" panose="020B0604020202020204" pitchFamily="34" charset="0"/>
              </a:rPr>
              <a:t>لحاء للانتاج الزراعى</a:t>
            </a:r>
          </a:p>
          <a:p>
            <a:pPr algn="r"/>
            <a:r>
              <a:rPr lang="ar-EG" sz="2400" b="0" dirty="0">
                <a:latin typeface="Arial" panose="020B0604020202020204" pitchFamily="34" charset="0"/>
                <a:cs typeface="Arial" panose="020B0604020202020204" pitchFamily="34" charset="0"/>
              </a:rPr>
              <a:t>جال الصحراء </a:t>
            </a:r>
            <a:r>
              <a:rPr lang="ar-EG" sz="2400" b="0" dirty="0" smtClean="0">
                <a:latin typeface="Arial" panose="020B0604020202020204" pitchFamily="34" charset="0"/>
                <a:cs typeface="Arial" panose="020B0604020202020204" pitchFamily="34" charset="0"/>
              </a:rPr>
              <a:t>للانتاج الزراعي</a:t>
            </a:r>
          </a:p>
          <a:p>
            <a:pPr algn="r"/>
            <a:r>
              <a:rPr lang="ar-EG" sz="2400" b="0" dirty="0">
                <a:latin typeface="Arial" panose="020B0604020202020204" pitchFamily="34" charset="0"/>
                <a:cs typeface="Arial" panose="020B0604020202020204" pitchFamily="34" charset="0"/>
              </a:rPr>
              <a:t>لحاء للتجارة والتسويق </a:t>
            </a:r>
            <a:r>
              <a:rPr lang="ar-EG" sz="2400" b="0" dirty="0" smtClean="0">
                <a:latin typeface="Arial" panose="020B0604020202020204" pitchFamily="34" charset="0"/>
                <a:cs typeface="Arial" panose="020B0604020202020204" pitchFamily="34" charset="0"/>
              </a:rPr>
              <a:t>الزراعي</a:t>
            </a:r>
          </a:p>
          <a:p>
            <a:pPr algn="r"/>
            <a:r>
              <a:rPr lang="ar-EG" sz="2400" b="0" dirty="0">
                <a:latin typeface="Arial" panose="020B0604020202020204" pitchFamily="34" charset="0"/>
                <a:cs typeface="Arial" panose="020B0604020202020204" pitchFamily="34" charset="0"/>
              </a:rPr>
              <a:t>لحاء للتخزين </a:t>
            </a:r>
            <a:r>
              <a:rPr lang="ar-EG" sz="2400" b="0" dirty="0" smtClean="0">
                <a:latin typeface="Arial" panose="020B0604020202020204" pitchFamily="34" charset="0"/>
                <a:cs typeface="Arial" panose="020B0604020202020204" pitchFamily="34" charset="0"/>
              </a:rPr>
              <a:t>والتوريد</a:t>
            </a:r>
          </a:p>
          <a:p>
            <a:pPr algn="r"/>
            <a:r>
              <a:rPr lang="ar-EG" sz="2400" b="0" dirty="0">
                <a:latin typeface="Arial" panose="020B0604020202020204" pitchFamily="34" charset="0"/>
                <a:cs typeface="Arial" panose="020B0604020202020204" pitchFamily="34" charset="0"/>
              </a:rPr>
              <a:t>لحاء للمنتجات </a:t>
            </a:r>
            <a:r>
              <a:rPr lang="ar-EG" sz="2400" b="0" dirty="0" smtClean="0">
                <a:latin typeface="Arial" panose="020B0604020202020204" pitchFamily="34" charset="0"/>
                <a:cs typeface="Arial" panose="020B0604020202020204" pitchFamily="34" charset="0"/>
              </a:rPr>
              <a:t>الغذائية</a:t>
            </a:r>
          </a:p>
          <a:p>
            <a:pPr algn="r"/>
            <a:r>
              <a:rPr lang="ar-EG" sz="2400" b="0" dirty="0">
                <a:latin typeface="Arial" panose="020B0604020202020204" pitchFamily="34" charset="0"/>
                <a:cs typeface="Arial" panose="020B0604020202020204" pitchFamily="34" charset="0"/>
              </a:rPr>
              <a:t>لحاء </a:t>
            </a:r>
            <a:r>
              <a:rPr lang="ar-EG" sz="2400" b="0" dirty="0" smtClean="0">
                <a:latin typeface="Arial" panose="020B0604020202020204" pitchFamily="34" charset="0"/>
                <a:cs typeface="Arial" panose="020B0604020202020204" pitchFamily="34" charset="0"/>
              </a:rPr>
              <a:t>للنقل</a:t>
            </a:r>
          </a:p>
          <a:p>
            <a:pPr algn="r"/>
            <a:r>
              <a:rPr lang="ar-EG" sz="2400" b="0" dirty="0" smtClean="0">
                <a:latin typeface="Arial" panose="020B0604020202020204" pitchFamily="34" charset="0"/>
                <a:cs typeface="Arial" panose="020B0604020202020204" pitchFamily="34" charset="0"/>
              </a:rPr>
              <a:t>ينبوع الشمال للنتاج الزراعى</a:t>
            </a:r>
            <a:endParaRPr lang="en-US" sz="24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5017618" y="5884447"/>
            <a:ext cx="2076131" cy="695740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</p:spPr>
        <p:txBody>
          <a:bodyPr vert="horz" lIns="18000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ar-EG" sz="2400" b="0" dirty="0" smtClean="0">
                <a:latin typeface="Arial" panose="020B0604020202020204" pitchFamily="34" charset="0"/>
                <a:cs typeface="Arial" panose="020B0604020202020204" pitchFamily="34" charset="0"/>
              </a:rPr>
              <a:t>العطارللانتاج الزراعى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079517" y="3098482"/>
            <a:ext cx="2076131" cy="695740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</p:spPr>
        <p:txBody>
          <a:bodyPr vert="horz" lIns="18000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ar-EG" sz="2400" b="0" dirty="0" smtClean="0">
                <a:latin typeface="Arial" panose="020B0604020202020204" pitchFamily="34" charset="0"/>
                <a:cs typeface="Arial" panose="020B0604020202020204" pitchFamily="34" charset="0"/>
              </a:rPr>
              <a:t>جرين هوب للمنتجات الزراعية</a:t>
            </a:r>
          </a:p>
        </p:txBody>
      </p:sp>
      <p:pic>
        <p:nvPicPr>
          <p:cNvPr id="16" name="Picture 15"/>
          <p:cNvPicPr/>
          <p:nvPr/>
        </p:nvPicPr>
        <p:blipFill>
          <a:blip r:embed="rId6"/>
          <a:stretch>
            <a:fillRect/>
          </a:stretch>
        </p:blipFill>
        <p:spPr>
          <a:xfrm>
            <a:off x="9644473" y="4338527"/>
            <a:ext cx="1911623" cy="138610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660" y="4530594"/>
            <a:ext cx="2533615" cy="1766603"/>
          </a:xfrm>
          <a:prstGeom prst="rect">
            <a:avLst/>
          </a:prstGeom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9314776" y="1845500"/>
            <a:ext cx="2317222" cy="695740"/>
          </a:xfrm>
          <a:prstGeom prst="rect">
            <a:avLst/>
          </a:prstGeom>
          <a:noFill/>
        </p:spPr>
        <p:txBody>
          <a:bodyPr vert="horz" lIns="18000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ar-EG" sz="2400" b="0" dirty="0">
                <a:latin typeface="Arial" panose="020B0604020202020204" pitchFamily="34" charset="0"/>
                <a:cs typeface="Arial" panose="020B0604020202020204" pitchFamily="34" charset="0"/>
              </a:rPr>
              <a:t>رخاء للاستثمار الزراعي </a:t>
            </a:r>
            <a:r>
              <a:rPr lang="ar-EG" sz="2400" b="0" dirty="0" smtClean="0">
                <a:latin typeface="Arial" panose="020B0604020202020204" pitchFamily="34" charset="0"/>
                <a:cs typeface="Arial" panose="020B0604020202020204" pitchFamily="34" charset="0"/>
              </a:rPr>
              <a:t>والتنمية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6707" y="1127740"/>
            <a:ext cx="4519046" cy="559373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582111" y="5094551"/>
            <a:ext cx="1727641" cy="695740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</p:spPr>
        <p:txBody>
          <a:bodyPr vert="horz" lIns="18000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ar-EG" sz="2400" b="0" dirty="0" smtClean="0">
                <a:latin typeface="Arial" panose="020B0604020202020204" pitchFamily="34" charset="0"/>
                <a:cs typeface="Arial" panose="020B0604020202020204" pitchFamily="34" charset="0"/>
              </a:rPr>
              <a:t>شركة</a:t>
            </a:r>
          </a:p>
          <a:p>
            <a:pPr algn="ctr"/>
            <a:r>
              <a:rPr lang="ar-EG" sz="2400" b="0" dirty="0" smtClean="0">
                <a:latin typeface="Arial" panose="020B0604020202020204" pitchFamily="34" charset="0"/>
                <a:cs typeface="Arial" panose="020B0604020202020204" pitchFamily="34" charset="0"/>
              </a:rPr>
              <a:t>بيد نجد الزراعية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66845" y="1127739"/>
            <a:ext cx="2301477" cy="559373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7330393" y="1140439"/>
            <a:ext cx="4519046" cy="559373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7383145" y="4683711"/>
            <a:ext cx="2317222" cy="695740"/>
          </a:xfrm>
          <a:prstGeom prst="rect">
            <a:avLst/>
          </a:prstGeom>
          <a:noFill/>
        </p:spPr>
        <p:txBody>
          <a:bodyPr vert="horz" lIns="18000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 spc="-1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ar-EG" sz="2400" b="0" dirty="0" smtClean="0">
                <a:latin typeface="Arial" panose="020B0604020202020204" pitchFamily="34" charset="0"/>
                <a:cs typeface="Arial" panose="020B0604020202020204" pitchFamily="34" charset="0"/>
              </a:rPr>
              <a:t>فيض النعم للانتاج الزراعى والحيوانى</a:t>
            </a:r>
          </a:p>
        </p:txBody>
      </p:sp>
    </p:spTree>
    <p:extLst>
      <p:ext uri="{BB962C8B-B14F-4D97-AF65-F5344CB8AC3E}">
        <p14:creationId xmlns:p14="http://schemas.microsoft.com/office/powerpoint/2010/main" val="2141447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297CFFF8-833A-BDEA-5404-DD2CE940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559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</a:pPr>
            <a:r>
              <a:rPr lang="ar-EG" sz="3200" b="1" dirty="0" smtClean="0">
                <a:solidFill>
                  <a:prstClr val="white"/>
                </a:solidFill>
                <a:latin typeface="Calibri" panose="020F0502020204030204"/>
              </a:rPr>
              <a:t>عملائنا</a:t>
            </a:r>
            <a:endParaRPr lang="ar-EG" sz="32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0" name="Picture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41039" y="5647932"/>
            <a:ext cx="1046728" cy="88480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012" y="5656624"/>
            <a:ext cx="1121761" cy="80474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250" y="5656624"/>
            <a:ext cx="1353429" cy="944962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529242" y="1723543"/>
            <a:ext cx="5080123" cy="1075690"/>
            <a:chOff x="-571500" y="401322"/>
            <a:chExt cx="4486275" cy="1076290"/>
          </a:xfrm>
        </p:grpSpPr>
        <p:pic>
          <p:nvPicPr>
            <p:cNvPr id="18" name="Picture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-571500" y="467962"/>
              <a:ext cx="1247775" cy="1009650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5825" y="522634"/>
              <a:ext cx="1619250" cy="944563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7450" y="401322"/>
              <a:ext cx="1457325" cy="1065571"/>
            </a:xfrm>
            <a:prstGeom prst="rect">
              <a:avLst/>
            </a:prstGeom>
          </p:spPr>
        </p:pic>
      </p:grpSp>
      <p:pic>
        <p:nvPicPr>
          <p:cNvPr id="22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0012" y="1723543"/>
            <a:ext cx="5797274" cy="185110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3739" y="3118829"/>
            <a:ext cx="2177152" cy="67085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9947" y="3195069"/>
            <a:ext cx="1725318" cy="524301"/>
          </a:xfrm>
          <a:prstGeom prst="rect">
            <a:avLst/>
          </a:prstGeom>
        </p:spPr>
      </p:pic>
      <p:pic>
        <p:nvPicPr>
          <p:cNvPr id="25" name="Picture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131641" y="4228707"/>
            <a:ext cx="1038073" cy="770169"/>
          </a:xfrm>
          <a:prstGeom prst="rect">
            <a:avLst/>
          </a:prstGeom>
        </p:spPr>
      </p:pic>
      <p:pic>
        <p:nvPicPr>
          <p:cNvPr id="26" name="Picture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820591" y="5703812"/>
            <a:ext cx="1020763" cy="891264"/>
          </a:xfrm>
          <a:prstGeom prst="rect">
            <a:avLst/>
          </a:prstGeom>
        </p:spPr>
      </p:pic>
      <p:pic>
        <p:nvPicPr>
          <p:cNvPr id="27" name="Picture 2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296297" y="5874360"/>
            <a:ext cx="1391627" cy="658378"/>
          </a:xfrm>
          <a:prstGeom prst="rect">
            <a:avLst/>
          </a:prstGeom>
        </p:spPr>
      </p:pic>
      <p:pic>
        <p:nvPicPr>
          <p:cNvPr id="28" name="Picture 27"/>
          <p:cNvPicPr/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4947" y="4284587"/>
            <a:ext cx="1375612" cy="648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2250" y="4004247"/>
            <a:ext cx="5371525" cy="189146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33234" y="4234206"/>
            <a:ext cx="1219306" cy="89619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179473" y="5082276"/>
            <a:ext cx="1309312" cy="78068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92983" y="5387392"/>
            <a:ext cx="847417" cy="106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19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25776A7-704F-61F8-EF64-F87B34DE26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283" y="643467"/>
            <a:ext cx="5503434" cy="557106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Wave 1"/>
          <p:cNvSpPr/>
          <p:nvPr/>
        </p:nvSpPr>
        <p:spPr>
          <a:xfrm>
            <a:off x="167425" y="6277706"/>
            <a:ext cx="1906073" cy="418088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Mohamed </a:t>
            </a:r>
            <a:r>
              <a:rPr lang="en-US" dirty="0" err="1" smtClean="0"/>
              <a:t>Younis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19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3552</TotalTime>
  <Words>305</Words>
  <Application>Microsoft Office PowerPoint</Application>
  <PresentationFormat>Widescreen</PresentationFormat>
  <Paragraphs>58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Corbel</vt:lpstr>
      <vt:lpstr>Times New Roman</vt:lpstr>
      <vt:lpstr>Office Theme</vt:lpstr>
      <vt:lpstr>Agriculture System Walkthrough </vt:lpstr>
      <vt:lpstr>خصائص برنامج الزراعة </vt:lpstr>
      <vt:lpstr>البيانات الاساسية </vt:lpstr>
      <vt:lpstr>تعريف الوحدات </vt:lpstr>
      <vt:lpstr>تعريف الصنف </vt:lpstr>
      <vt:lpstr>تعريف بيانات الزراعة </vt:lpstr>
      <vt:lpstr>   التقارير</vt:lpstr>
      <vt:lpstr>تقرير خطة مكافحة عامة للفدان</vt:lpstr>
      <vt:lpstr>تقرير خطة مكافحة عامة للزراعة </vt:lpstr>
      <vt:lpstr>تقرير خطة تسميد عامة للفدان </vt:lpstr>
      <vt:lpstr>تقرير امر شغل مكافحة </vt:lpstr>
      <vt:lpstr>تقرير سجل استخدام المبيدات </vt:lpstr>
      <vt:lpstr>تقرير مقارنة تكلفة الزراعة المعيارى بالفعلى </vt:lpstr>
      <vt:lpstr>تقرير التكلفة المعيارية للزراعة </vt:lpstr>
      <vt:lpstr>عملاءنا فى مجال الزراعة</vt:lpstr>
      <vt:lpstr>عملائنا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</dc:title>
  <dc:creator>Adham Bahgat</dc:creator>
  <cp:lastModifiedBy>lenovo</cp:lastModifiedBy>
  <cp:revision>187</cp:revision>
  <dcterms:created xsi:type="dcterms:W3CDTF">2023-07-10T11:59:00Z</dcterms:created>
  <dcterms:modified xsi:type="dcterms:W3CDTF">2026-04-14T10:42:34Z</dcterms:modified>
</cp:coreProperties>
</file>