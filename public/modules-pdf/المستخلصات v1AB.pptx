
<file path=[Content_Types].xml><?xml version="1.0" encoding="utf-8"?>
<Types xmlns="http://schemas.openxmlformats.org/package/2006/content-types">
  <Default Extension="png" ContentType="image/png"/>
  <Default Extension="jfif" ContentType="image/jpeg"/>
  <Default Extension="jpeg" ContentType="image/jpeg"/>
  <Default Extension="webp"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8" r:id="rId2"/>
    <p:sldId id="404" r:id="rId3"/>
    <p:sldId id="397" r:id="rId4"/>
    <p:sldId id="399" r:id="rId5"/>
    <p:sldId id="400" r:id="rId6"/>
    <p:sldId id="401" r:id="rId7"/>
    <p:sldId id="402" r:id="rId8"/>
    <p:sldId id="403" r:id="rId9"/>
    <p:sldId id="405" r:id="rId10"/>
    <p:sldId id="406" r:id="rId11"/>
    <p:sldId id="407" r:id="rId12"/>
    <p:sldId id="408" r:id="rId13"/>
    <p:sldId id="409" r:id="rId14"/>
    <p:sldId id="410" r:id="rId15"/>
    <p:sldId id="412" r:id="rId16"/>
    <p:sldId id="411" r:id="rId17"/>
    <p:sldId id="413" r:id="rId18"/>
    <p:sldId id="414" r:id="rId19"/>
    <p:sldId id="415" r:id="rId20"/>
    <p:sldId id="416" r:id="rId21"/>
    <p:sldId id="417" r:id="rId22"/>
    <p:sldId id="418" r:id="rId23"/>
    <p:sldId id="419" r:id="rId24"/>
    <p:sldId id="420" r:id="rId25"/>
    <p:sldId id="37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0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434" autoAdjust="0"/>
  </p:normalViewPr>
  <p:slideViewPr>
    <p:cSldViewPr snapToGrid="0">
      <p:cViewPr varScale="1">
        <p:scale>
          <a:sx n="74" d="100"/>
          <a:sy n="74" d="100"/>
        </p:scale>
        <p:origin x="576" y="54"/>
      </p:cViewPr>
      <p:guideLst/>
    </p:cSldViewPr>
  </p:slideViewPr>
  <p:notesTextViewPr>
    <p:cViewPr>
      <p:scale>
        <a:sx n="1" d="1"/>
        <a:sy n="1" d="1"/>
      </p:scale>
      <p:origin x="0" y="0"/>
    </p:cViewPr>
  </p:notesTextViewPr>
  <p:sorterViewPr>
    <p:cViewPr>
      <p:scale>
        <a:sx n="100" d="100"/>
        <a:sy n="100" d="100"/>
      </p:scale>
      <p:origin x="0" y="-429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9ED44EC-1A01-ABB5-EFFB-DB27E4846A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7534AEB1-8620-0ACC-257F-797DAE0AED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6868F41E-A921-5F51-E73E-F5664F01C16E}"/>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5" name="Footer Placeholder 4">
            <a:extLst>
              <a:ext uri="{FF2B5EF4-FFF2-40B4-BE49-F238E27FC236}">
                <a16:creationId xmlns:a16="http://schemas.microsoft.com/office/drawing/2014/main" xmlns="" id="{FE9D1526-A853-BC3A-5A89-C35D474C2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959CAF6-944B-D7B5-D951-EDAB090F02DD}"/>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1414524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026CA1-7721-428F-200E-94DA932B9222}"/>
              </a:ext>
            </a:extLst>
          </p:cNvPr>
          <p:cNvSpPr>
            <a:spLocks noGrp="1"/>
          </p:cNvSpPr>
          <p:nvPr>
            <p:ph type="title"/>
          </p:nvPr>
        </p:nvSpPr>
        <p:spPr>
          <a:xfrm>
            <a:off x="838200" y="136525"/>
            <a:ext cx="10515600" cy="453581"/>
          </a:xfrm>
        </p:spPr>
        <p:txBody>
          <a:bodyPr/>
          <a:lstStyle>
            <a:lvl1pPr algn="r">
              <a:defRPr/>
            </a:lvl1pPr>
          </a:lstStyle>
          <a:p>
            <a:r>
              <a:rPr lang="en-US"/>
              <a:t>Click to edit Master title style</a:t>
            </a:r>
          </a:p>
        </p:txBody>
      </p:sp>
      <p:sp>
        <p:nvSpPr>
          <p:cNvPr id="3" name="Content Placeholder 2">
            <a:extLst>
              <a:ext uri="{FF2B5EF4-FFF2-40B4-BE49-F238E27FC236}">
                <a16:creationId xmlns:a16="http://schemas.microsoft.com/office/drawing/2014/main" xmlns="" id="{B033821F-A462-B2FD-DC6B-D98F54F1F054}"/>
              </a:ext>
            </a:extLst>
          </p:cNvPr>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80A6907-A5F5-D930-5D41-5F623C066EE6}"/>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5" name="Footer Placeholder 4">
            <a:extLst>
              <a:ext uri="{FF2B5EF4-FFF2-40B4-BE49-F238E27FC236}">
                <a16:creationId xmlns:a16="http://schemas.microsoft.com/office/drawing/2014/main" xmlns="" id="{C9255E8D-E2E6-83F2-2FF8-B9ED679AA5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3E98712-BD0B-29F3-FEC3-6EFF90D460A2}"/>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1211052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38B249-BA77-A00C-5C06-BD28B68EE1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510B4BFC-9E5C-E585-6A72-33955E45297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8383919-24D7-2823-92E8-CD2BEA99752E}"/>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5" name="Footer Placeholder 4">
            <a:extLst>
              <a:ext uri="{FF2B5EF4-FFF2-40B4-BE49-F238E27FC236}">
                <a16:creationId xmlns:a16="http://schemas.microsoft.com/office/drawing/2014/main" xmlns="" id="{B7240178-215C-25DE-A12C-4389E9CAE4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4C5EBDA-0D7E-2512-FFC4-44E42DE188E4}"/>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306048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90A86D4-D600-FF8D-7190-2D9E5D586D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B6863AD1-92AA-490D-54A1-EC5BEBA6804B}"/>
              </a:ext>
            </a:extLst>
          </p:cNvPr>
          <p:cNvSpPr>
            <a:spLocks noGrp="1"/>
          </p:cNvSpPr>
          <p:nvPr>
            <p:ph sz="half" idx="1"/>
          </p:nvPr>
        </p:nvSpPr>
        <p:spPr>
          <a:xfrm>
            <a:off x="838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4F583411-8210-917C-C7C4-46882981BC97}"/>
              </a:ext>
            </a:extLst>
          </p:cNvPr>
          <p:cNvSpPr>
            <a:spLocks noGrp="1"/>
          </p:cNvSpPr>
          <p:nvPr>
            <p:ph sz="half" idx="2"/>
          </p:nvPr>
        </p:nvSpPr>
        <p:spPr>
          <a:xfrm>
            <a:off x="6172200" y="1825625"/>
            <a:ext cx="5181600" cy="435133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EE533D6D-0184-D4C2-AB9F-5E5E9C048EB0}"/>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6" name="Footer Placeholder 5">
            <a:extLst>
              <a:ext uri="{FF2B5EF4-FFF2-40B4-BE49-F238E27FC236}">
                <a16:creationId xmlns:a16="http://schemas.microsoft.com/office/drawing/2014/main" xmlns="" id="{75370299-A6D4-8D00-BDBC-DB322CA62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5C4056FA-EDAF-B0BB-EF8C-CC663C5E4257}"/>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376431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F7E13F-3858-05D3-DAED-DA588813FB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E9A8DD13-5A92-32A8-5298-BF9234A6A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D496866D-1936-5DF3-927C-12D6C5A647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45619F5E-990E-407E-F0C3-067B679932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2B8514DA-A2F0-F6C2-DCE3-302891516F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1E449795-2AF9-123B-2A1E-DD315B3AB218}"/>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8" name="Footer Placeholder 7">
            <a:extLst>
              <a:ext uri="{FF2B5EF4-FFF2-40B4-BE49-F238E27FC236}">
                <a16:creationId xmlns:a16="http://schemas.microsoft.com/office/drawing/2014/main" xmlns="" id="{B6261F7B-0C88-664E-B398-F230FAC876D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7FEF4B68-8C9C-3232-C775-CA0A4B21B75F}"/>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2192914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5819E6-7206-174B-F6FC-37448200650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83CDC2E8-62C5-DD06-459F-BABF6CB39AEF}"/>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4" name="Footer Placeholder 3">
            <a:extLst>
              <a:ext uri="{FF2B5EF4-FFF2-40B4-BE49-F238E27FC236}">
                <a16:creationId xmlns:a16="http://schemas.microsoft.com/office/drawing/2014/main" xmlns="" id="{C14DED7F-6122-AB14-9857-0F6141ED530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BAE75C9D-C418-4E6F-FBAF-FDDE9220F5A8}"/>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4264003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31D4F83-DAD7-FEC7-652E-2B817A53432C}"/>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3" name="Footer Placeholder 2">
            <a:extLst>
              <a:ext uri="{FF2B5EF4-FFF2-40B4-BE49-F238E27FC236}">
                <a16:creationId xmlns:a16="http://schemas.microsoft.com/office/drawing/2014/main" xmlns="" id="{0AE02390-9766-F3B7-2B38-5BA8D3296C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8D6B2E95-40A1-2509-9EE8-F3362EFF1777}"/>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3638493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2F654E-D48D-03EC-F174-EE05C553F6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E4B68A96-8D3F-CCBA-897A-70CE76A612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71BABF03-B1CF-BF75-A4FC-95C93BCD2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2E7E1D1-85A7-2E3A-E206-E97B617026E4}"/>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6" name="Footer Placeholder 5">
            <a:extLst>
              <a:ext uri="{FF2B5EF4-FFF2-40B4-BE49-F238E27FC236}">
                <a16:creationId xmlns:a16="http://schemas.microsoft.com/office/drawing/2014/main" xmlns="" id="{826212C0-A41D-4186-0B06-9D4AB04632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4D301B8-71B7-215C-7465-267F4DBE390C}"/>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2357639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3869C0-A901-75F3-4FEE-43F017F3B6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132706BD-ED55-7767-C72C-5F2FF4065F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C64A71B3-61F7-6013-69E4-577E1E0373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1DBA3EB4-8415-CF73-79EB-3E8E6DF741A3}"/>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6" name="Footer Placeholder 5">
            <a:extLst>
              <a:ext uri="{FF2B5EF4-FFF2-40B4-BE49-F238E27FC236}">
                <a16:creationId xmlns:a16="http://schemas.microsoft.com/office/drawing/2014/main" xmlns="" id="{6072BE67-9388-F50B-444B-7699816E14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0352D74-9A9B-0F53-CEBF-3FEAA80B8881}"/>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3231675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53B6E4-D076-D212-90F0-BE82462E47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E4ED9DB8-AC0E-90C7-D96E-8FA65FC9BA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7BF4D24B-7204-DE68-06B1-5804A4DB2AE8}"/>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5" name="Footer Placeholder 4">
            <a:extLst>
              <a:ext uri="{FF2B5EF4-FFF2-40B4-BE49-F238E27FC236}">
                <a16:creationId xmlns:a16="http://schemas.microsoft.com/office/drawing/2014/main" xmlns="" id="{C91FA536-C6CA-F2B0-DED6-84F01F1744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C0C4B2D-287B-1A9E-3320-7DC09EE2A5DB}"/>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2266398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71FE684-BCCC-5900-57B6-D3D7C54FB4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5579590F-0EE4-8274-86D6-95A5F2936A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6C7D94D6-AEE0-583A-CCAD-ADC1BB72A56A}"/>
              </a:ext>
            </a:extLst>
          </p:cNvPr>
          <p:cNvSpPr>
            <a:spLocks noGrp="1"/>
          </p:cNvSpPr>
          <p:nvPr>
            <p:ph type="dt" sz="half" idx="10"/>
          </p:nvPr>
        </p:nvSpPr>
        <p:spPr/>
        <p:txBody>
          <a:bodyPr/>
          <a:lstStyle/>
          <a:p>
            <a:fld id="{6A0043DF-70A6-4D01-AD52-DC25902F12E4}" type="datetimeFigureOut">
              <a:rPr lang="en-US" smtClean="0"/>
              <a:t>4/14/2026</a:t>
            </a:fld>
            <a:endParaRPr lang="en-US"/>
          </a:p>
        </p:txBody>
      </p:sp>
      <p:sp>
        <p:nvSpPr>
          <p:cNvPr id="5" name="Footer Placeholder 4">
            <a:extLst>
              <a:ext uri="{FF2B5EF4-FFF2-40B4-BE49-F238E27FC236}">
                <a16:creationId xmlns:a16="http://schemas.microsoft.com/office/drawing/2014/main" xmlns="" id="{224DF07A-389E-D9FD-98E8-288ADA0EB5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89F6DC5-247B-93EC-0EFB-827C6FF0F9A7}"/>
              </a:ext>
            </a:extLst>
          </p:cNvPr>
          <p:cNvSpPr>
            <a:spLocks noGrp="1"/>
          </p:cNvSpPr>
          <p:nvPr>
            <p:ph type="sldNum" sz="quarter" idx="12"/>
          </p:nvPr>
        </p:nvSpPr>
        <p:spPr/>
        <p:txBody>
          <a:bodyPr/>
          <a:lstStyle/>
          <a:p>
            <a:fld id="{DFFB846D-5EC1-4041-A481-846FBFFBF4E8}" type="slidenum">
              <a:rPr lang="en-US" smtClean="0"/>
              <a:t>‹#›</a:t>
            </a:fld>
            <a:endParaRPr lang="en-US"/>
          </a:p>
        </p:txBody>
      </p:sp>
    </p:spTree>
    <p:extLst>
      <p:ext uri="{BB962C8B-B14F-4D97-AF65-F5344CB8AC3E}">
        <p14:creationId xmlns:p14="http://schemas.microsoft.com/office/powerpoint/2010/main" val="2718993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0750C7D-AB7B-D44F-E7E3-CF4A7245D3EE}"/>
              </a:ext>
            </a:extLst>
          </p:cNvPr>
          <p:cNvSpPr>
            <a:spLocks noGrp="1"/>
          </p:cNvSpPr>
          <p:nvPr>
            <p:ph type="title"/>
          </p:nvPr>
        </p:nvSpPr>
        <p:spPr>
          <a:xfrm>
            <a:off x="838200" y="226897"/>
            <a:ext cx="10515600" cy="315911"/>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xmlns="" id="{5FA1CDF3-FAD1-B31E-2938-0728618FFEAA}"/>
              </a:ext>
            </a:extLst>
          </p:cNvPr>
          <p:cNvSpPr>
            <a:spLocks noGrp="1"/>
          </p:cNvSpPr>
          <p:nvPr>
            <p:ph type="body" idx="1"/>
          </p:nvPr>
        </p:nvSpPr>
        <p:spPr>
          <a:xfrm>
            <a:off x="838200" y="1531010"/>
            <a:ext cx="10515600" cy="46459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B937F55-4AA0-29D8-2438-C2AFA8FDE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0043DF-70A6-4D01-AD52-DC25902F12E4}" type="datetimeFigureOut">
              <a:rPr lang="en-US" smtClean="0"/>
              <a:t>4/14/2026</a:t>
            </a:fld>
            <a:endParaRPr lang="en-US"/>
          </a:p>
        </p:txBody>
      </p:sp>
      <p:sp>
        <p:nvSpPr>
          <p:cNvPr id="5" name="Footer Placeholder 4">
            <a:extLst>
              <a:ext uri="{FF2B5EF4-FFF2-40B4-BE49-F238E27FC236}">
                <a16:creationId xmlns:a16="http://schemas.microsoft.com/office/drawing/2014/main" xmlns="" id="{006A7A83-A7E1-40F3-CC93-736E011A1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E87A676-C818-496C-D2FD-F2155129E3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FB846D-5EC1-4041-A481-846FBFFBF4E8}" type="slidenum">
              <a:rPr lang="en-US" smtClean="0"/>
              <a:t>‹#›</a:t>
            </a:fld>
            <a:endParaRPr lang="en-US"/>
          </a:p>
        </p:txBody>
      </p:sp>
      <p:pic>
        <p:nvPicPr>
          <p:cNvPr id="7" name="Picture 6">
            <a:extLst>
              <a:ext uri="{FF2B5EF4-FFF2-40B4-BE49-F238E27FC236}">
                <a16:creationId xmlns:a16="http://schemas.microsoft.com/office/drawing/2014/main" xmlns="" id="{D77EA58C-83D3-9F62-C79D-9FAF20DEC68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1171855" y="6026820"/>
            <a:ext cx="821090" cy="831180"/>
          </a:xfrm>
          <a:prstGeom prst="rect">
            <a:avLst/>
          </a:prstGeom>
        </p:spPr>
      </p:pic>
      <p:sp>
        <p:nvSpPr>
          <p:cNvPr id="9" name="Rectangle 8">
            <a:extLst>
              <a:ext uri="{FF2B5EF4-FFF2-40B4-BE49-F238E27FC236}">
                <a16:creationId xmlns:a16="http://schemas.microsoft.com/office/drawing/2014/main" xmlns="" id="{187961BB-6029-E984-CD15-B58BF624CBFB}"/>
              </a:ext>
            </a:extLst>
          </p:cNvPr>
          <p:cNvSpPr/>
          <p:nvPr userDrawn="1"/>
        </p:nvSpPr>
        <p:spPr>
          <a:xfrm>
            <a:off x="11373293" y="68977"/>
            <a:ext cx="87214" cy="429182"/>
          </a:xfrm>
          <a:prstGeom prst="rect">
            <a:avLst/>
          </a:prstGeom>
          <a:solidFill>
            <a:srgbClr val="0070C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757126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jfif"/><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jfif"/><Relationship Id="rId5" Type="http://schemas.openxmlformats.org/officeDocument/2006/relationships/image" Target="../media/image23.jfif"/><Relationship Id="rId4" Type="http://schemas.openxmlformats.org/officeDocument/2006/relationships/image" Target="../media/image22.webp"/></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jpe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xmlns="" id="{6F5A5072-7B47-4D32-B52A-4EBBF590B8A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9715DAF0-AE1B-46C9-8A6B-DB2AA05AB91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6016219D-510E-4184-9090-6D5578A87BD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xmlns="" id="{AFF4A713-7B75-4B21-90D7-5AB19547C72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xmlns="" id="{DC631C0B-6DA6-4E57-8231-CE32B3434A7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xmlns="" id="{C29501E6-A978-4A61-9689-9085AF97A53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xmlns="" id="{7D348B17-CDF0-F2AA-6CF5-25F6DC98350E}"/>
              </a:ext>
            </a:extLst>
          </p:cNvPr>
          <p:cNvSpPr>
            <a:spLocks noGrp="1"/>
          </p:cNvSpPr>
          <p:nvPr>
            <p:ph type="ctrTitle"/>
          </p:nvPr>
        </p:nvSpPr>
        <p:spPr>
          <a:xfrm>
            <a:off x="1314824" y="735106"/>
            <a:ext cx="10053763" cy="2928470"/>
          </a:xfrm>
        </p:spPr>
        <p:txBody>
          <a:bodyPr anchor="b">
            <a:normAutofit/>
          </a:bodyPr>
          <a:lstStyle/>
          <a:p>
            <a:pPr algn="l"/>
            <a:r>
              <a:rPr lang="en-US" sz="4000" dirty="0">
                <a:solidFill>
                  <a:srgbClr val="FFFFFF"/>
                </a:solidFill>
              </a:rPr>
              <a:t>Contracting System Walkthrough</a:t>
            </a:r>
            <a:br>
              <a:rPr lang="en-US" sz="4000" dirty="0">
                <a:solidFill>
                  <a:srgbClr val="FFFFFF"/>
                </a:solidFill>
              </a:rPr>
            </a:br>
            <a:r>
              <a:rPr lang="en-US" sz="3200" dirty="0">
                <a:solidFill>
                  <a:srgbClr val="FFFF00"/>
                </a:solidFill>
              </a:rPr>
              <a:t>(Few System Extracts) </a:t>
            </a:r>
            <a:endParaRPr lang="en-US" sz="4000" dirty="0">
              <a:solidFill>
                <a:srgbClr val="FFFF00"/>
              </a:solidFill>
            </a:endParaRPr>
          </a:p>
        </p:txBody>
      </p:sp>
      <p:sp>
        <p:nvSpPr>
          <p:cNvPr id="3" name="Subtitle 2">
            <a:extLst>
              <a:ext uri="{FF2B5EF4-FFF2-40B4-BE49-F238E27FC236}">
                <a16:creationId xmlns:a16="http://schemas.microsoft.com/office/drawing/2014/main" xmlns="" id="{08671DC8-05D9-0158-F96D-62C2B2F0A46D}"/>
              </a:ext>
            </a:extLst>
          </p:cNvPr>
          <p:cNvSpPr>
            <a:spLocks noGrp="1"/>
          </p:cNvSpPr>
          <p:nvPr>
            <p:ph type="subTitle" idx="1"/>
          </p:nvPr>
        </p:nvSpPr>
        <p:spPr>
          <a:xfrm>
            <a:off x="1350682" y="4870824"/>
            <a:ext cx="10005951" cy="1458258"/>
          </a:xfrm>
        </p:spPr>
        <p:txBody>
          <a:bodyPr anchor="ctr">
            <a:normAutofit/>
          </a:bodyPr>
          <a:lstStyle/>
          <a:p>
            <a:pPr algn="l" rtl="1"/>
            <a:r>
              <a:rPr lang="ar-EG" dirty="0"/>
              <a:t>برنامج</a:t>
            </a:r>
            <a:r>
              <a:rPr lang="en-US" dirty="0"/>
              <a:t> </a:t>
            </a:r>
            <a:r>
              <a:rPr lang="en-US" b="1" dirty="0"/>
              <a:t>4S</a:t>
            </a:r>
            <a:r>
              <a:rPr lang="en-US" dirty="0"/>
              <a:t> </a:t>
            </a:r>
            <a:r>
              <a:rPr lang="ar-EG" dirty="0"/>
              <a:t>للمقاولات (المستخلصات)</a:t>
            </a:r>
            <a:endParaRPr lang="en-US" dirty="0"/>
          </a:p>
          <a:p>
            <a:pPr algn="l" rtl="1"/>
            <a:endParaRPr lang="en-US" dirty="0"/>
          </a:p>
          <a:p>
            <a:pPr algn="l" rtl="1"/>
            <a:r>
              <a:rPr lang="en-US" sz="1800" dirty="0"/>
              <a:t>December </a:t>
            </a:r>
            <a:r>
              <a:rPr lang="en-US" sz="1800" dirty="0" smtClean="0"/>
              <a:t>2025</a:t>
            </a:r>
            <a:endParaRPr lang="en-US" sz="1800" dirty="0"/>
          </a:p>
        </p:txBody>
      </p:sp>
    </p:spTree>
    <p:extLst>
      <p:ext uri="{BB962C8B-B14F-4D97-AF65-F5344CB8AC3E}">
        <p14:creationId xmlns:p14="http://schemas.microsoft.com/office/powerpoint/2010/main" val="4198081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FBA26F-857B-59DA-6E2A-90E1F4250EE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xmlns="" id="{18C54B6C-40B5-6810-5C14-4E54CE12B346}"/>
              </a:ext>
            </a:extLst>
          </p:cNvPr>
          <p:cNvSpPr>
            <a:spLocks noGrp="1"/>
          </p:cNvSpPr>
          <p:nvPr>
            <p:ph idx="1"/>
          </p:nvPr>
        </p:nvSpPr>
        <p:spPr/>
        <p:txBody>
          <a:bodyPr>
            <a:normAutofit/>
          </a:bodyPr>
          <a:lstStyle/>
          <a:p>
            <a:pPr algn="r" rtl="1"/>
            <a:r>
              <a:rPr lang="ar-EG" sz="2800" dirty="0"/>
              <a:t>خصائص برنامج المستخلصات من </a:t>
            </a:r>
            <a:r>
              <a:rPr lang="en-US" sz="2800" dirty="0"/>
              <a:t>4S</a:t>
            </a:r>
            <a:endParaRPr lang="ar-EG" sz="2800" dirty="0"/>
          </a:p>
          <a:p>
            <a:pPr algn="r" rtl="1"/>
            <a:endParaRPr lang="ar-EG" sz="2800" dirty="0"/>
          </a:p>
          <a:p>
            <a:pPr algn="r" rtl="1"/>
            <a:r>
              <a:rPr lang="ar-EG" sz="2800" dirty="0">
                <a:cs typeface="+mj-cs"/>
              </a:rPr>
              <a:t>البيانات </a:t>
            </a:r>
            <a:r>
              <a:rPr lang="ar-EG" sz="2800" dirty="0"/>
              <a:t>الأساسية لبرنامج المستخلصات</a:t>
            </a:r>
          </a:p>
          <a:p>
            <a:pPr algn="r" rtl="1"/>
            <a:endParaRPr lang="ar-EG" sz="2800" dirty="0"/>
          </a:p>
          <a:p>
            <a:pPr algn="r" rtl="1"/>
            <a:r>
              <a:rPr lang="ar-EG" sz="2800" dirty="0"/>
              <a:t>حركات المستخلصات</a:t>
            </a:r>
          </a:p>
          <a:p>
            <a:pPr algn="r" rtl="1"/>
            <a:endParaRPr lang="ar-EG" sz="2800" dirty="0"/>
          </a:p>
          <a:p>
            <a:pPr algn="r" rtl="1"/>
            <a:r>
              <a:rPr lang="ar-EG" sz="2800" dirty="0"/>
              <a:t>تقارير</a:t>
            </a:r>
          </a:p>
          <a:p>
            <a:pPr algn="r" rtl="1"/>
            <a:endParaRPr lang="en-US" sz="2800" dirty="0"/>
          </a:p>
        </p:txBody>
      </p:sp>
    </p:spTree>
    <p:extLst>
      <p:ext uri="{BB962C8B-B14F-4D97-AF65-F5344CB8AC3E}">
        <p14:creationId xmlns:p14="http://schemas.microsoft.com/office/powerpoint/2010/main" val="428628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F2859-6754-1285-AD26-06E549C94019}"/>
              </a:ext>
            </a:extLst>
          </p:cNvPr>
          <p:cNvSpPr>
            <a:spLocks noGrp="1"/>
          </p:cNvSpPr>
          <p:nvPr>
            <p:ph type="title"/>
          </p:nvPr>
        </p:nvSpPr>
        <p:spPr/>
        <p:txBody>
          <a:bodyPr/>
          <a:lstStyle/>
          <a:p>
            <a:r>
              <a:rPr lang="ar-EG" dirty="0"/>
              <a:t>خصائص برنامج المستخلصات من </a:t>
            </a:r>
            <a:r>
              <a:rPr lang="en-US" dirty="0"/>
              <a:t>4S</a:t>
            </a:r>
          </a:p>
        </p:txBody>
      </p:sp>
      <p:sp>
        <p:nvSpPr>
          <p:cNvPr id="3" name="Content Placeholder 2">
            <a:extLst>
              <a:ext uri="{FF2B5EF4-FFF2-40B4-BE49-F238E27FC236}">
                <a16:creationId xmlns:a16="http://schemas.microsoft.com/office/drawing/2014/main" xmlns="" id="{6ECD8982-E5BA-3DE1-667C-A2CAD739A4F0}"/>
              </a:ext>
            </a:extLst>
          </p:cNvPr>
          <p:cNvSpPr>
            <a:spLocks noGrp="1"/>
          </p:cNvSpPr>
          <p:nvPr>
            <p:ph idx="1"/>
          </p:nvPr>
        </p:nvSpPr>
        <p:spPr/>
        <p:txBody>
          <a:bodyPr/>
          <a:lstStyle/>
          <a:p>
            <a:pPr algn="r" rtl="1"/>
            <a:r>
              <a:rPr lang="ar-EG" sz="2400" dirty="0">
                <a:cs typeface="+mj-cs"/>
              </a:rPr>
              <a:t>إمكانية تقسيم المقاولون على حسب تصنيفهم .</a:t>
            </a:r>
          </a:p>
          <a:p>
            <a:pPr algn="r" rtl="1"/>
            <a:r>
              <a:rPr lang="ar-EG" sz="2400" dirty="0">
                <a:cs typeface="+mj-cs"/>
              </a:rPr>
              <a:t>إمكانية عمل أرصدة لكل مقاول قبل و بعد أى عملية.</a:t>
            </a:r>
          </a:p>
          <a:p>
            <a:pPr algn="r" rtl="1"/>
            <a:r>
              <a:rPr lang="ar-EG" sz="2400" dirty="0">
                <a:cs typeface="+mj-cs"/>
              </a:rPr>
              <a:t>استخراج تقرير إجمالى للمقاولون.</a:t>
            </a:r>
          </a:p>
          <a:p>
            <a:pPr algn="r" rtl="1"/>
            <a:r>
              <a:rPr lang="ar-EG" sz="2400" dirty="0">
                <a:cs typeface="+mj-cs"/>
              </a:rPr>
              <a:t>إمكانية عمل أرصدة لكل مشروع قبل و بعد أى عملية.</a:t>
            </a:r>
          </a:p>
          <a:p>
            <a:pPr algn="r" rtl="1"/>
            <a:r>
              <a:rPr lang="ar-EG" sz="2400" dirty="0">
                <a:cs typeface="+mj-cs"/>
              </a:rPr>
              <a:t>تسجيل البنود الخاصه بالعقود مع تصنيفها</a:t>
            </a:r>
          </a:p>
          <a:p>
            <a:pPr algn="r" rtl="1"/>
            <a:r>
              <a:rPr lang="ar-EG" sz="2400" dirty="0">
                <a:cs typeface="+mj-cs"/>
              </a:rPr>
              <a:t>تسجيل العقود الكميه مع شروط  تعاقدها</a:t>
            </a:r>
          </a:p>
          <a:p>
            <a:pPr algn="r" rtl="1"/>
            <a:r>
              <a:rPr lang="ar-EG" sz="2400" dirty="0">
                <a:cs typeface="+mj-cs"/>
              </a:rPr>
              <a:t>تسجيل المستخلصات مع ربطها بالعقود مع خصم الدفعات المقدمه منها  واى مصاريف اخرى</a:t>
            </a:r>
          </a:p>
          <a:p>
            <a:pPr algn="r" rtl="1"/>
            <a:r>
              <a:rPr lang="ar-EG" sz="2400" dirty="0">
                <a:cs typeface="+mj-cs"/>
              </a:rPr>
              <a:t>وكذلك خصم البنود التى تم الانتهاء منها</a:t>
            </a:r>
          </a:p>
          <a:p>
            <a:pPr algn="r" rtl="1"/>
            <a:r>
              <a:rPr lang="ar-EG" sz="2400" dirty="0">
                <a:cs typeface="+mj-cs"/>
              </a:rPr>
              <a:t>تقسيم الكميه فى مستخلص الكميه على حسب التوريد والتركيب والتسليم</a:t>
            </a:r>
          </a:p>
          <a:p>
            <a:pPr algn="r" rtl="1"/>
            <a:r>
              <a:rPr lang="ar-EG" sz="2400" dirty="0">
                <a:cs typeface="+mj-cs"/>
              </a:rPr>
              <a:t> تسجيل عقود النسبه مع شروط  تعاقدها</a:t>
            </a:r>
            <a:endParaRPr lang="en-US" dirty="0"/>
          </a:p>
        </p:txBody>
      </p:sp>
    </p:spTree>
    <p:extLst>
      <p:ext uri="{BB962C8B-B14F-4D97-AF65-F5344CB8AC3E}">
        <p14:creationId xmlns:p14="http://schemas.microsoft.com/office/powerpoint/2010/main" val="1787613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6F1B3D-0D76-193B-E156-DFC2ACE45B4A}"/>
              </a:ext>
            </a:extLst>
          </p:cNvPr>
          <p:cNvSpPr>
            <a:spLocks noGrp="1"/>
          </p:cNvSpPr>
          <p:nvPr>
            <p:ph type="title"/>
          </p:nvPr>
        </p:nvSpPr>
        <p:spPr/>
        <p:txBody>
          <a:bodyPr/>
          <a:lstStyle/>
          <a:p>
            <a:r>
              <a:rPr lang="ar-EG" dirty="0"/>
              <a:t>خصائص برنامج المستخلصات من  </a:t>
            </a:r>
            <a:r>
              <a:rPr lang="en-US" dirty="0"/>
              <a:t>4S</a:t>
            </a:r>
          </a:p>
        </p:txBody>
      </p:sp>
      <p:sp>
        <p:nvSpPr>
          <p:cNvPr id="3" name="Content Placeholder 2">
            <a:extLst>
              <a:ext uri="{FF2B5EF4-FFF2-40B4-BE49-F238E27FC236}">
                <a16:creationId xmlns:a16="http://schemas.microsoft.com/office/drawing/2014/main" xmlns="" id="{C83164DE-6B64-0D1D-5AFE-79222C793D82}"/>
              </a:ext>
            </a:extLst>
          </p:cNvPr>
          <p:cNvSpPr>
            <a:spLocks noGrp="1"/>
          </p:cNvSpPr>
          <p:nvPr>
            <p:ph idx="1"/>
          </p:nvPr>
        </p:nvSpPr>
        <p:spPr/>
        <p:txBody>
          <a:bodyPr>
            <a:normAutofit/>
          </a:bodyPr>
          <a:lstStyle/>
          <a:p>
            <a:pPr algn="r" rtl="1"/>
            <a:r>
              <a:rPr lang="ar-EG" dirty="0"/>
              <a:t>تسجيل المستخلصات على عقود النسبه مع ربطها بالعقود مع خصم الدفعات المقدمه منها  واى مصاريف اخرى</a:t>
            </a:r>
          </a:p>
          <a:p>
            <a:pPr algn="r" rtl="1"/>
            <a:r>
              <a:rPr lang="ar-EG" dirty="0"/>
              <a:t>وكذلك خصم البنود التى تم الانتهاء منها</a:t>
            </a:r>
          </a:p>
          <a:p>
            <a:pPr algn="r" rtl="1"/>
            <a:r>
              <a:rPr lang="ar-EG" dirty="0"/>
              <a:t>طباعه مستخلص الكميه</a:t>
            </a:r>
          </a:p>
          <a:p>
            <a:pPr algn="r" rtl="1"/>
            <a:r>
              <a:rPr lang="ar-EG" dirty="0"/>
              <a:t> طباعه مستخلص النسبه</a:t>
            </a:r>
          </a:p>
          <a:p>
            <a:pPr algn="r" rtl="1"/>
            <a:r>
              <a:rPr lang="ar-EG" dirty="0"/>
              <a:t>استخراج كشف حساب للمقاول تفصيلي </a:t>
            </a:r>
          </a:p>
          <a:p>
            <a:pPr algn="r" rtl="1"/>
            <a:r>
              <a:rPr lang="ar-EG" dirty="0"/>
              <a:t>إمكانية متابعة الدفعات المقدمة نقدى أو شيكات.</a:t>
            </a:r>
          </a:p>
          <a:p>
            <a:pPr algn="r" rtl="1"/>
            <a:r>
              <a:rPr lang="ar-EG" dirty="0"/>
              <a:t>ربط المستخلصات  بنظام الحسابات العامة.</a:t>
            </a:r>
          </a:p>
          <a:p>
            <a:pPr algn="r" rtl="1"/>
            <a:r>
              <a:rPr lang="ar-EG" dirty="0"/>
              <a:t>تقرير المستخلصات اليومية و الشهرية و السنوية </a:t>
            </a:r>
          </a:p>
          <a:p>
            <a:pPr algn="r" rtl="1"/>
            <a:r>
              <a:rPr lang="ar-EG" dirty="0"/>
              <a:t>إمكانية تعديل السعر. فى العقود</a:t>
            </a:r>
            <a:endParaRPr lang="en-US" dirty="0"/>
          </a:p>
        </p:txBody>
      </p:sp>
    </p:spTree>
    <p:extLst>
      <p:ext uri="{BB962C8B-B14F-4D97-AF65-F5344CB8AC3E}">
        <p14:creationId xmlns:p14="http://schemas.microsoft.com/office/powerpoint/2010/main" val="3551089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9882A9-6C42-54A9-45F8-B73BE3F42F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558C6ED-E564-A09D-A259-653D6A66C6ED}"/>
              </a:ext>
            </a:extLst>
          </p:cNvPr>
          <p:cNvSpPr>
            <a:spLocks noGrp="1"/>
          </p:cNvSpPr>
          <p:nvPr>
            <p:ph type="title"/>
          </p:nvPr>
        </p:nvSpPr>
        <p:spPr/>
        <p:txBody>
          <a:bodyPr/>
          <a:lstStyle/>
          <a:p>
            <a:r>
              <a:rPr lang="ar-EG" dirty="0"/>
              <a:t>1- </a:t>
            </a:r>
            <a:r>
              <a:rPr lang="ar-EG" sz="2800" dirty="0">
                <a:cs typeface="+mj-cs"/>
              </a:rPr>
              <a:t>البيانات الأساسية لبرنامج </a:t>
            </a:r>
            <a:r>
              <a:rPr lang="ar-EG" dirty="0"/>
              <a:t>المستخلصات</a:t>
            </a:r>
            <a:endParaRPr lang="en-US" dirty="0"/>
          </a:p>
        </p:txBody>
      </p:sp>
      <p:sp>
        <p:nvSpPr>
          <p:cNvPr id="8" name="Oval 7">
            <a:extLst>
              <a:ext uri="{FF2B5EF4-FFF2-40B4-BE49-F238E27FC236}">
                <a16:creationId xmlns:a16="http://schemas.microsoft.com/office/drawing/2014/main" xmlns="" id="{207D47AD-7303-D600-1D87-E3F2F0D1B931}"/>
              </a:ext>
            </a:extLst>
          </p:cNvPr>
          <p:cNvSpPr/>
          <p:nvPr/>
        </p:nvSpPr>
        <p:spPr>
          <a:xfrm>
            <a:off x="3243127" y="3710434"/>
            <a:ext cx="1397000" cy="1130300"/>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sz="1800" dirty="0"/>
              <a:t>ربط </a:t>
            </a:r>
            <a:r>
              <a:rPr lang="ar-EG" dirty="0"/>
              <a:t>المصروف بالمقاول</a:t>
            </a:r>
            <a:endParaRPr lang="en-US" dirty="0"/>
          </a:p>
        </p:txBody>
      </p:sp>
      <p:sp>
        <p:nvSpPr>
          <p:cNvPr id="9" name="Oval 8">
            <a:extLst>
              <a:ext uri="{FF2B5EF4-FFF2-40B4-BE49-F238E27FC236}">
                <a16:creationId xmlns:a16="http://schemas.microsoft.com/office/drawing/2014/main" xmlns="" id="{5AA712EE-531C-83B0-9705-623CB94AFC3A}"/>
              </a:ext>
            </a:extLst>
          </p:cNvPr>
          <p:cNvSpPr/>
          <p:nvPr/>
        </p:nvSpPr>
        <p:spPr>
          <a:xfrm>
            <a:off x="5398370" y="5004761"/>
            <a:ext cx="1397000" cy="1130300"/>
          </a:xfrm>
          <a:prstGeom prst="ellipse">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sz="1800" dirty="0"/>
              <a:t>الخزن والبنوك</a:t>
            </a:r>
            <a:endParaRPr lang="en-US" dirty="0"/>
          </a:p>
        </p:txBody>
      </p:sp>
      <p:sp>
        <p:nvSpPr>
          <p:cNvPr id="10" name="Oval 9">
            <a:extLst>
              <a:ext uri="{FF2B5EF4-FFF2-40B4-BE49-F238E27FC236}">
                <a16:creationId xmlns:a16="http://schemas.microsoft.com/office/drawing/2014/main" xmlns="" id="{5B3BCA7A-FDD0-FA65-0CA2-6AAFAB3CC190}"/>
              </a:ext>
            </a:extLst>
          </p:cNvPr>
          <p:cNvSpPr/>
          <p:nvPr/>
        </p:nvSpPr>
        <p:spPr>
          <a:xfrm>
            <a:off x="9487816" y="5004761"/>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t>تمييز الاصناف</a:t>
            </a:r>
            <a:endParaRPr lang="en-US" dirty="0"/>
          </a:p>
        </p:txBody>
      </p:sp>
      <p:sp>
        <p:nvSpPr>
          <p:cNvPr id="16" name="Oval 15">
            <a:extLst>
              <a:ext uri="{FF2B5EF4-FFF2-40B4-BE49-F238E27FC236}">
                <a16:creationId xmlns:a16="http://schemas.microsoft.com/office/drawing/2014/main" xmlns="" id="{81EFD63F-F3A2-0AF2-0E6A-47524CB2B0AE}"/>
              </a:ext>
            </a:extLst>
          </p:cNvPr>
          <p:cNvSpPr/>
          <p:nvPr/>
        </p:nvSpPr>
        <p:spPr>
          <a:xfrm>
            <a:off x="9487816" y="3657717"/>
            <a:ext cx="1397000" cy="11303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ea typeface="Calibri" panose="020F0502020204030204" pitchFamily="34" charset="0"/>
              </a:rPr>
              <a:t>تعريف بنود المرحلة</a:t>
            </a:r>
            <a:endParaRPr lang="en-US" dirty="0"/>
          </a:p>
        </p:txBody>
      </p:sp>
      <p:sp>
        <p:nvSpPr>
          <p:cNvPr id="18" name="Oval 17">
            <a:extLst>
              <a:ext uri="{FF2B5EF4-FFF2-40B4-BE49-F238E27FC236}">
                <a16:creationId xmlns:a16="http://schemas.microsoft.com/office/drawing/2014/main" xmlns="" id="{52E72226-07E7-AA5E-5318-18A3CE93FD6B}"/>
              </a:ext>
            </a:extLst>
          </p:cNvPr>
          <p:cNvSpPr/>
          <p:nvPr/>
        </p:nvSpPr>
        <p:spPr>
          <a:xfrm>
            <a:off x="3264033" y="2327286"/>
            <a:ext cx="1397000" cy="11303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rPr>
              <a:t>تعريف المقاولين</a:t>
            </a:r>
            <a:endParaRPr lang="en-US" dirty="0"/>
          </a:p>
        </p:txBody>
      </p:sp>
      <p:sp>
        <p:nvSpPr>
          <p:cNvPr id="19" name="Oval 18">
            <a:extLst>
              <a:ext uri="{FF2B5EF4-FFF2-40B4-BE49-F238E27FC236}">
                <a16:creationId xmlns:a16="http://schemas.microsoft.com/office/drawing/2014/main" xmlns="" id="{C1B50BAD-E08A-9244-6A68-99AE2F0ABE9B}"/>
              </a:ext>
            </a:extLst>
          </p:cNvPr>
          <p:cNvSpPr/>
          <p:nvPr/>
        </p:nvSpPr>
        <p:spPr>
          <a:xfrm>
            <a:off x="9487816" y="2327286"/>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t>تعريف الاصناف</a:t>
            </a:r>
            <a:endParaRPr lang="en-US" dirty="0"/>
          </a:p>
        </p:txBody>
      </p:sp>
      <p:sp>
        <p:nvSpPr>
          <p:cNvPr id="20" name="Oval 19">
            <a:extLst>
              <a:ext uri="{FF2B5EF4-FFF2-40B4-BE49-F238E27FC236}">
                <a16:creationId xmlns:a16="http://schemas.microsoft.com/office/drawing/2014/main" xmlns="" id="{84311932-FC05-5073-6F4F-C8C3C7EF1E92}"/>
              </a:ext>
            </a:extLst>
          </p:cNvPr>
          <p:cNvSpPr/>
          <p:nvPr/>
        </p:nvSpPr>
        <p:spPr>
          <a:xfrm>
            <a:off x="7413221" y="2327286"/>
            <a:ext cx="1397000" cy="11303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cs typeface="+mj-cs"/>
              </a:rPr>
              <a:t>تعريف الموردين</a:t>
            </a:r>
            <a:endParaRPr lang="en-US" dirty="0"/>
          </a:p>
        </p:txBody>
      </p:sp>
      <p:sp>
        <p:nvSpPr>
          <p:cNvPr id="21" name="Oval 20">
            <a:extLst>
              <a:ext uri="{FF2B5EF4-FFF2-40B4-BE49-F238E27FC236}">
                <a16:creationId xmlns:a16="http://schemas.microsoft.com/office/drawing/2014/main" xmlns="" id="{A95DFCED-736A-D623-1F33-1A1519B9F5BA}"/>
              </a:ext>
            </a:extLst>
          </p:cNvPr>
          <p:cNvSpPr/>
          <p:nvPr/>
        </p:nvSpPr>
        <p:spPr>
          <a:xfrm>
            <a:off x="7413221" y="3657717"/>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t>تعريف خامات البند</a:t>
            </a:r>
            <a:endParaRPr lang="en-US" dirty="0"/>
          </a:p>
        </p:txBody>
      </p:sp>
      <p:sp>
        <p:nvSpPr>
          <p:cNvPr id="22" name="Oval 21">
            <a:extLst>
              <a:ext uri="{FF2B5EF4-FFF2-40B4-BE49-F238E27FC236}">
                <a16:creationId xmlns:a16="http://schemas.microsoft.com/office/drawing/2014/main" xmlns="" id="{53B02EF3-DFFF-1E50-5719-86E89817601C}"/>
              </a:ext>
            </a:extLst>
          </p:cNvPr>
          <p:cNvSpPr/>
          <p:nvPr/>
        </p:nvSpPr>
        <p:spPr>
          <a:xfrm>
            <a:off x="7443092" y="5004761"/>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ea typeface="Calibri" panose="020F0502020204030204" pitchFamily="34" charset="0"/>
                <a:cs typeface="+mj-cs"/>
              </a:rPr>
              <a:t>مسئولى المبيعات</a:t>
            </a:r>
            <a:endParaRPr lang="en-US" dirty="0"/>
          </a:p>
        </p:txBody>
      </p:sp>
      <p:sp>
        <p:nvSpPr>
          <p:cNvPr id="23" name="Oval 22">
            <a:extLst>
              <a:ext uri="{FF2B5EF4-FFF2-40B4-BE49-F238E27FC236}">
                <a16:creationId xmlns:a16="http://schemas.microsoft.com/office/drawing/2014/main" xmlns="" id="{4A77A585-C15C-0660-599C-25F2D76C42C6}"/>
              </a:ext>
            </a:extLst>
          </p:cNvPr>
          <p:cNvSpPr/>
          <p:nvPr/>
        </p:nvSpPr>
        <p:spPr>
          <a:xfrm>
            <a:off x="5338627" y="3657717"/>
            <a:ext cx="1397000" cy="11303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ea typeface="Calibri" panose="020F0502020204030204" pitchFamily="34" charset="0"/>
                <a:cs typeface="+mj-cs"/>
              </a:rPr>
              <a:t>تعريف </a:t>
            </a:r>
            <a:r>
              <a:rPr lang="ar-EG" sz="1600" b="1" dirty="0">
                <a:latin typeface="Calibri" panose="020F0502020204030204" pitchFamily="34" charset="0"/>
                <a:ea typeface="Calibri" panose="020F0502020204030204" pitchFamily="34" charset="0"/>
                <a:cs typeface="+mj-cs"/>
              </a:rPr>
              <a:t>المصروفات</a:t>
            </a:r>
            <a:endParaRPr lang="en-US" sz="1600" b="1" dirty="0"/>
          </a:p>
        </p:txBody>
      </p:sp>
      <p:sp>
        <p:nvSpPr>
          <p:cNvPr id="24" name="Oval 23">
            <a:extLst>
              <a:ext uri="{FF2B5EF4-FFF2-40B4-BE49-F238E27FC236}">
                <a16:creationId xmlns:a16="http://schemas.microsoft.com/office/drawing/2014/main" xmlns="" id="{4DD6B82E-8EF5-9E5F-825D-F2AE0E66B775}"/>
              </a:ext>
            </a:extLst>
          </p:cNvPr>
          <p:cNvSpPr/>
          <p:nvPr/>
        </p:nvSpPr>
        <p:spPr>
          <a:xfrm>
            <a:off x="1189439" y="3657717"/>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cs typeface="+mj-cs"/>
              </a:rPr>
              <a:t>مراكز التكلفة</a:t>
            </a:r>
            <a:endParaRPr lang="en-US" dirty="0"/>
          </a:p>
        </p:txBody>
      </p:sp>
      <p:sp>
        <p:nvSpPr>
          <p:cNvPr id="25" name="Oval 24">
            <a:extLst>
              <a:ext uri="{FF2B5EF4-FFF2-40B4-BE49-F238E27FC236}">
                <a16:creationId xmlns:a16="http://schemas.microsoft.com/office/drawing/2014/main" xmlns="" id="{A80BA751-5D58-B909-98D8-A4B6B830AFB9}"/>
              </a:ext>
            </a:extLst>
          </p:cNvPr>
          <p:cNvSpPr/>
          <p:nvPr/>
        </p:nvSpPr>
        <p:spPr>
          <a:xfrm>
            <a:off x="3353648" y="5004761"/>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rPr>
              <a:t>تصنيف الموردين</a:t>
            </a:r>
            <a:endParaRPr lang="en-US" dirty="0"/>
          </a:p>
        </p:txBody>
      </p:sp>
      <p:sp>
        <p:nvSpPr>
          <p:cNvPr id="26" name="Oval 25">
            <a:extLst>
              <a:ext uri="{FF2B5EF4-FFF2-40B4-BE49-F238E27FC236}">
                <a16:creationId xmlns:a16="http://schemas.microsoft.com/office/drawing/2014/main" xmlns="" id="{A1759B84-8A8A-9036-3D1E-B6FA86FEC41D}"/>
              </a:ext>
            </a:extLst>
          </p:cNvPr>
          <p:cNvSpPr/>
          <p:nvPr/>
        </p:nvSpPr>
        <p:spPr>
          <a:xfrm>
            <a:off x="1189439" y="5004761"/>
            <a:ext cx="1516487"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ea typeface="Calibri" panose="020F0502020204030204" pitchFamily="34" charset="0"/>
                <a:cs typeface="+mj-cs"/>
              </a:rPr>
              <a:t>الخصومات والإضافات</a:t>
            </a:r>
            <a:endParaRPr lang="en-US" dirty="0"/>
          </a:p>
        </p:txBody>
      </p:sp>
      <p:sp>
        <p:nvSpPr>
          <p:cNvPr id="27" name="Oval 26">
            <a:extLst>
              <a:ext uri="{FF2B5EF4-FFF2-40B4-BE49-F238E27FC236}">
                <a16:creationId xmlns:a16="http://schemas.microsoft.com/office/drawing/2014/main" xmlns="" id="{75FE5D8C-D5C1-142E-E515-202C75211889}"/>
              </a:ext>
            </a:extLst>
          </p:cNvPr>
          <p:cNvSpPr/>
          <p:nvPr/>
        </p:nvSpPr>
        <p:spPr>
          <a:xfrm>
            <a:off x="1189439" y="2327286"/>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ea typeface="Calibri" panose="020F0502020204030204" pitchFamily="34" charset="0"/>
                <a:cs typeface="+mj-cs"/>
              </a:rPr>
              <a:t>وحدات الاصناف</a:t>
            </a:r>
            <a:endParaRPr lang="en-US" dirty="0"/>
          </a:p>
        </p:txBody>
      </p:sp>
      <p:sp>
        <p:nvSpPr>
          <p:cNvPr id="28" name="Oval 27">
            <a:extLst>
              <a:ext uri="{FF2B5EF4-FFF2-40B4-BE49-F238E27FC236}">
                <a16:creationId xmlns:a16="http://schemas.microsoft.com/office/drawing/2014/main" xmlns="" id="{64385A2F-8374-D0D7-8D3B-63FB3EFDF48C}"/>
              </a:ext>
            </a:extLst>
          </p:cNvPr>
          <p:cNvSpPr/>
          <p:nvPr/>
        </p:nvSpPr>
        <p:spPr>
          <a:xfrm>
            <a:off x="5338627" y="2327286"/>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rPr>
              <a:t>تعريف الجهات</a:t>
            </a:r>
            <a:endParaRPr lang="en-US" dirty="0"/>
          </a:p>
        </p:txBody>
      </p:sp>
    </p:spTree>
    <p:extLst>
      <p:ext uri="{BB962C8B-B14F-4D97-AF65-F5344CB8AC3E}">
        <p14:creationId xmlns:p14="http://schemas.microsoft.com/office/powerpoint/2010/main" val="1478928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5A5B06E-C62A-18C6-1D83-DE500A03A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C4283F2-E948-11AE-C190-DE17DAD275F1}"/>
              </a:ext>
            </a:extLst>
          </p:cNvPr>
          <p:cNvSpPr>
            <a:spLocks noGrp="1"/>
          </p:cNvSpPr>
          <p:nvPr>
            <p:ph type="title"/>
          </p:nvPr>
        </p:nvSpPr>
        <p:spPr/>
        <p:txBody>
          <a:bodyPr/>
          <a:lstStyle/>
          <a:p>
            <a:r>
              <a:rPr lang="ar-EG" dirty="0"/>
              <a:t>1- </a:t>
            </a:r>
            <a:r>
              <a:rPr lang="ar-EG" sz="2800" dirty="0">
                <a:cs typeface="+mj-cs"/>
              </a:rPr>
              <a:t>البيانات الأساسية لبرنامج </a:t>
            </a:r>
            <a:r>
              <a:rPr lang="ar-EG" dirty="0"/>
              <a:t>المستخلصات</a:t>
            </a:r>
            <a:br>
              <a:rPr lang="ar-EG" dirty="0"/>
            </a:br>
            <a:r>
              <a:rPr lang="ar-EG" dirty="0">
                <a:solidFill>
                  <a:schemeClr val="accent1">
                    <a:lumMod val="75000"/>
                  </a:schemeClr>
                </a:solidFill>
              </a:rPr>
              <a:t>تعريف الموردين</a:t>
            </a:r>
            <a:endParaRPr lang="en-US" dirty="0">
              <a:solidFill>
                <a:schemeClr val="accent1">
                  <a:lumMod val="75000"/>
                </a:schemeClr>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979" y="1301400"/>
            <a:ext cx="9465972" cy="5001323"/>
          </a:xfrm>
          <a:prstGeom prst="rect">
            <a:avLst/>
          </a:prstGeom>
          <a:ln>
            <a:noFill/>
          </a:ln>
          <a:effectLst>
            <a:outerShdw blurRad="292100" dist="139700" dir="2700000" algn="tl" rotWithShape="0">
              <a:srgbClr val="333333">
                <a:alpha val="65000"/>
              </a:srgbClr>
            </a:outerShdw>
          </a:effectLst>
        </p:spPr>
      </p:pic>
      <p:sp>
        <p:nvSpPr>
          <p:cNvPr id="14" name="Rounded Rectangle 13"/>
          <p:cNvSpPr/>
          <p:nvPr/>
        </p:nvSpPr>
        <p:spPr>
          <a:xfrm>
            <a:off x="1735801" y="2095878"/>
            <a:ext cx="3844421" cy="31427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20"/>
          <p:cNvSpPr/>
          <p:nvPr/>
        </p:nvSpPr>
        <p:spPr>
          <a:xfrm>
            <a:off x="1413830" y="2556526"/>
            <a:ext cx="4262907" cy="105989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21"/>
          <p:cNvSpPr/>
          <p:nvPr/>
        </p:nvSpPr>
        <p:spPr>
          <a:xfrm>
            <a:off x="2123797" y="5033093"/>
            <a:ext cx="2226416" cy="49631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18180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507B54-117F-AED3-C9C8-4B473F5F3D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50CD819-F882-6978-1388-797F6F2A1ACF}"/>
              </a:ext>
            </a:extLst>
          </p:cNvPr>
          <p:cNvSpPr>
            <a:spLocks noGrp="1"/>
          </p:cNvSpPr>
          <p:nvPr>
            <p:ph type="title"/>
          </p:nvPr>
        </p:nvSpPr>
        <p:spPr>
          <a:xfrm>
            <a:off x="838200" y="355468"/>
            <a:ext cx="10515600" cy="453581"/>
          </a:xfrm>
        </p:spPr>
        <p:txBody>
          <a:bodyPr/>
          <a:lstStyle/>
          <a:p>
            <a:r>
              <a:rPr lang="ar-EG" dirty="0"/>
              <a:t>1- </a:t>
            </a:r>
            <a:r>
              <a:rPr lang="ar-EG" sz="2800" dirty="0">
                <a:cs typeface="+mj-cs"/>
              </a:rPr>
              <a:t>البيانات الأساسية لبرنامج </a:t>
            </a:r>
            <a:r>
              <a:rPr lang="ar-EG" dirty="0"/>
              <a:t>المستخلصات</a:t>
            </a:r>
            <a:br>
              <a:rPr lang="ar-EG" dirty="0"/>
            </a:br>
            <a:r>
              <a:rPr lang="ar-EG" dirty="0">
                <a:solidFill>
                  <a:schemeClr val="accent1">
                    <a:lumMod val="75000"/>
                  </a:schemeClr>
                </a:solidFill>
              </a:rPr>
              <a:t>تعريف المقاولين </a:t>
            </a:r>
            <a:endParaRPr lang="en-US" dirty="0">
              <a:solidFill>
                <a:schemeClr val="accent1">
                  <a:lumMod val="75000"/>
                </a:schemeClr>
              </a:solidFill>
            </a:endParaRPr>
          </a:p>
        </p:txBody>
      </p:sp>
      <p:grpSp>
        <p:nvGrpSpPr>
          <p:cNvPr id="6" name="Group 5">
            <a:extLst>
              <a:ext uri="{FF2B5EF4-FFF2-40B4-BE49-F238E27FC236}">
                <a16:creationId xmlns:a16="http://schemas.microsoft.com/office/drawing/2014/main" xmlns="" id="{3535E9F5-ABED-95FD-F206-E36C39FAF332}"/>
              </a:ext>
            </a:extLst>
          </p:cNvPr>
          <p:cNvGrpSpPr/>
          <p:nvPr/>
        </p:nvGrpSpPr>
        <p:grpSpPr>
          <a:xfrm>
            <a:off x="347730" y="283335"/>
            <a:ext cx="5537915" cy="6104586"/>
            <a:chOff x="872196" y="1603715"/>
            <a:chExt cx="9903657" cy="5135534"/>
          </a:xfrm>
        </p:grpSpPr>
        <p:pic>
          <p:nvPicPr>
            <p:cNvPr id="7" name="Picture 6">
              <a:extLst>
                <a:ext uri="{FF2B5EF4-FFF2-40B4-BE49-F238E27FC236}">
                  <a16:creationId xmlns:a16="http://schemas.microsoft.com/office/drawing/2014/main" xmlns="" id="{494F7D06-68CD-56F6-728E-36AFB82411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2197" y="1603715"/>
              <a:ext cx="9903656" cy="3615399"/>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xmlns="" id="{68B5EDFA-B062-A538-5D74-BB8969F8D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2196" y="4881488"/>
              <a:ext cx="9903655" cy="1857761"/>
            </a:xfrm>
            <a:prstGeom prst="rect">
              <a:avLst/>
            </a:prstGeom>
            <a:ln>
              <a:noFill/>
            </a:ln>
            <a:effectLst>
              <a:outerShdw blurRad="292100" dist="139700" dir="2700000" algn="tl" rotWithShape="0">
                <a:srgbClr val="333333">
                  <a:alpha val="65000"/>
                </a:srgbClr>
              </a:outerShdw>
            </a:effectLst>
          </p:spPr>
        </p:pic>
        <p:sp>
          <p:nvSpPr>
            <p:cNvPr id="9" name="Rounded Rectangle 15">
              <a:extLst>
                <a:ext uri="{FF2B5EF4-FFF2-40B4-BE49-F238E27FC236}">
                  <a16:creationId xmlns:a16="http://schemas.microsoft.com/office/drawing/2014/main" xmlns="" id="{85CAE2D1-E573-347D-D000-C908250322E4}"/>
                </a:ext>
              </a:extLst>
            </p:cNvPr>
            <p:cNvSpPr/>
            <p:nvPr/>
          </p:nvSpPr>
          <p:spPr>
            <a:xfrm>
              <a:off x="1961882" y="2289039"/>
              <a:ext cx="4134118" cy="21271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2"/>
          <p:cNvSpPr/>
          <p:nvPr/>
        </p:nvSpPr>
        <p:spPr>
          <a:xfrm>
            <a:off x="6838682" y="1141086"/>
            <a:ext cx="4752303" cy="4801314"/>
          </a:xfrm>
          <a:prstGeom prst="rect">
            <a:avLst/>
          </a:prstGeom>
        </p:spPr>
        <p:txBody>
          <a:bodyPr wrap="square">
            <a:spAutoFit/>
          </a:bodyPr>
          <a:lstStyle/>
          <a:p>
            <a:pPr marL="285750" indent="-285750" algn="r" rtl="1">
              <a:buFont typeface="Arial" panose="020B0604020202020204" pitchFamily="34" charset="0"/>
              <a:buChar char="•"/>
            </a:pPr>
            <a:r>
              <a:rPr lang="ar-EG" dirty="0" smtClean="0"/>
              <a:t>الاسم  </a:t>
            </a:r>
            <a:r>
              <a:rPr lang="ar-EG" dirty="0"/>
              <a:t>:  يتم تسجيل إسم المقاول باللغه العربيه  </a:t>
            </a:r>
            <a:r>
              <a:rPr lang="ar-EG" dirty="0" smtClean="0"/>
              <a:t>والإنجليزيه  </a:t>
            </a:r>
            <a:endParaRPr lang="ar-EG" dirty="0"/>
          </a:p>
          <a:p>
            <a:pPr marL="285750" indent="-285750" algn="r" rtl="1">
              <a:buFont typeface="Arial" panose="020B0604020202020204" pitchFamily="34" charset="0"/>
              <a:buChar char="•"/>
            </a:pPr>
            <a:r>
              <a:rPr lang="ar-EG" dirty="0" smtClean="0"/>
              <a:t>المدير </a:t>
            </a:r>
            <a:r>
              <a:rPr lang="ar-EG" dirty="0"/>
              <a:t>المسؤل : يتم تسجيل بيانات المدير المسؤل </a:t>
            </a:r>
          </a:p>
          <a:p>
            <a:pPr marL="285750" indent="-285750" algn="r" rtl="1">
              <a:buFont typeface="Arial" panose="020B0604020202020204" pitchFamily="34" charset="0"/>
              <a:buChar char="•"/>
            </a:pPr>
            <a:r>
              <a:rPr lang="ar-EG" dirty="0" smtClean="0"/>
              <a:t>العنوان  </a:t>
            </a:r>
            <a:r>
              <a:rPr lang="ar-EG" dirty="0"/>
              <a:t>:  يتم تسجيل عنوان المقاول  باللغه العربيه  </a:t>
            </a:r>
            <a:r>
              <a:rPr lang="ar-EG" dirty="0" smtClean="0"/>
              <a:t>والإنجليزيه  </a:t>
            </a:r>
            <a:endParaRPr lang="ar-EG" dirty="0"/>
          </a:p>
          <a:p>
            <a:pPr marL="285750" indent="-285750" algn="r" rtl="1">
              <a:buFont typeface="Arial" panose="020B0604020202020204" pitchFamily="34" charset="0"/>
              <a:buChar char="•"/>
            </a:pPr>
            <a:r>
              <a:rPr lang="ar-EG" dirty="0" smtClean="0"/>
              <a:t>تاريخ </a:t>
            </a:r>
            <a:r>
              <a:rPr lang="ar-EG" dirty="0"/>
              <a:t>التعريف : المقصود به تاريخ تعريف المقاول علي البرنامج  </a:t>
            </a:r>
          </a:p>
          <a:p>
            <a:pPr marL="285750" indent="-285750" algn="r" rtl="1">
              <a:buFont typeface="Arial" panose="020B0604020202020204" pitchFamily="34" charset="0"/>
              <a:buChar char="•"/>
            </a:pPr>
            <a:r>
              <a:rPr lang="ar-EG" dirty="0" smtClean="0"/>
              <a:t>البريد </a:t>
            </a:r>
            <a:r>
              <a:rPr lang="ar-EG" dirty="0"/>
              <a:t>الإلكتروني : يتم تسجيل الايميل الخاص بالمقاول  </a:t>
            </a:r>
          </a:p>
          <a:p>
            <a:pPr marL="285750" indent="-285750" algn="r" rtl="1">
              <a:buFont typeface="Arial" panose="020B0604020202020204" pitchFamily="34" charset="0"/>
              <a:buChar char="•"/>
            </a:pPr>
            <a:r>
              <a:rPr lang="ar-EG" dirty="0" smtClean="0"/>
              <a:t>الفاكس </a:t>
            </a:r>
            <a:r>
              <a:rPr lang="ar-EG" dirty="0"/>
              <a:t>: يتم تسجيل بيانات الفاكس الخاص بالمقاول  </a:t>
            </a:r>
          </a:p>
          <a:p>
            <a:pPr marL="285750" indent="-285750" algn="r" rtl="1">
              <a:buFont typeface="Arial" panose="020B0604020202020204" pitchFamily="34" charset="0"/>
              <a:buChar char="•"/>
            </a:pPr>
            <a:r>
              <a:rPr lang="ar-EG" dirty="0" smtClean="0"/>
              <a:t>س </a:t>
            </a:r>
            <a:r>
              <a:rPr lang="ar-EG" dirty="0"/>
              <a:t>ج رقم : يتم تسجيل رقم السجل التجاري  </a:t>
            </a:r>
          </a:p>
          <a:p>
            <a:pPr marL="285750" indent="-285750" algn="r" rtl="1">
              <a:buFont typeface="Arial" panose="020B0604020202020204" pitchFamily="34" charset="0"/>
              <a:buChar char="•"/>
            </a:pPr>
            <a:r>
              <a:rPr lang="ar-EG" dirty="0" smtClean="0"/>
              <a:t>المأموريه </a:t>
            </a:r>
            <a:r>
              <a:rPr lang="ar-EG" dirty="0"/>
              <a:t>التابع لها : يتم تسجيل المأموريه التابع لها المقاول  </a:t>
            </a:r>
          </a:p>
          <a:p>
            <a:pPr marL="285750" indent="-285750" algn="r" rtl="1">
              <a:buFont typeface="Arial" panose="020B0604020202020204" pitchFamily="34" charset="0"/>
              <a:buChar char="•"/>
            </a:pPr>
            <a:r>
              <a:rPr lang="ar-EG" dirty="0" smtClean="0"/>
              <a:t>التليفون </a:t>
            </a:r>
            <a:r>
              <a:rPr lang="ar-EG" dirty="0"/>
              <a:t>: تسجيل تليفون المقاول  </a:t>
            </a:r>
          </a:p>
          <a:p>
            <a:pPr marL="285750" indent="-285750" algn="r" rtl="1">
              <a:buFont typeface="Arial" panose="020B0604020202020204" pitchFamily="34" charset="0"/>
              <a:buChar char="•"/>
            </a:pPr>
            <a:r>
              <a:rPr lang="ar-EG" dirty="0" smtClean="0"/>
              <a:t>البطاقة </a:t>
            </a:r>
            <a:r>
              <a:rPr lang="ar-EG" dirty="0"/>
              <a:t>الضريبيه :  يتم تسجيل الرقم الضريبي للمقاول  </a:t>
            </a:r>
          </a:p>
          <a:p>
            <a:pPr marL="285750" indent="-285750" algn="r" rtl="1">
              <a:buFont typeface="Arial" panose="020B0604020202020204" pitchFamily="34" charset="0"/>
              <a:buChar char="•"/>
            </a:pPr>
            <a:r>
              <a:rPr lang="ar-EG" dirty="0" smtClean="0"/>
              <a:t>رقم </a:t>
            </a:r>
            <a:r>
              <a:rPr lang="ar-EG" dirty="0"/>
              <a:t>تسجيل ب ض  : رقم تسجيل البطاقة الضريبيه  </a:t>
            </a:r>
          </a:p>
          <a:p>
            <a:pPr marL="285750" indent="-285750" algn="r" rtl="1">
              <a:buFont typeface="Arial" panose="020B0604020202020204" pitchFamily="34" charset="0"/>
              <a:buChar char="•"/>
            </a:pPr>
            <a:r>
              <a:rPr lang="ar-EG" dirty="0" smtClean="0"/>
              <a:t>رقم </a:t>
            </a:r>
            <a:r>
              <a:rPr lang="ar-EG" dirty="0"/>
              <a:t>الملف الضريبي  :  يتم تسجيل رقم الملقف الضريبي  </a:t>
            </a:r>
            <a:endParaRPr lang="ar-EG" dirty="0" smtClean="0"/>
          </a:p>
          <a:p>
            <a:pPr marL="285750" indent="-285750" algn="r" rtl="1">
              <a:buFont typeface="Arial" panose="020B0604020202020204" pitchFamily="34" charset="0"/>
              <a:buChar char="•"/>
            </a:pPr>
            <a:r>
              <a:rPr lang="ar-EG" dirty="0"/>
              <a:t>فاكس 2 : في حالة وجود رقم فاكس أخر  </a:t>
            </a:r>
          </a:p>
          <a:p>
            <a:pPr marL="285750" indent="-285750" algn="r" rtl="1">
              <a:buFont typeface="Arial" panose="020B0604020202020204" pitchFamily="34" charset="0"/>
              <a:buChar char="•"/>
            </a:pPr>
            <a:r>
              <a:rPr lang="ar-EG" dirty="0"/>
              <a:t>تليفون 2 : في حالة وجود رقم تليفون أخر  </a:t>
            </a:r>
          </a:p>
          <a:p>
            <a:pPr marL="285750" indent="-285750" algn="r" rtl="1">
              <a:buFont typeface="Arial" panose="020B0604020202020204" pitchFamily="34" charset="0"/>
              <a:buChar char="•"/>
            </a:pPr>
            <a:endParaRPr lang="ar-EG" dirty="0"/>
          </a:p>
        </p:txBody>
      </p:sp>
    </p:spTree>
    <p:extLst>
      <p:ext uri="{BB962C8B-B14F-4D97-AF65-F5344CB8AC3E}">
        <p14:creationId xmlns:p14="http://schemas.microsoft.com/office/powerpoint/2010/main" val="12459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1- </a:t>
            </a:r>
            <a:r>
              <a:rPr lang="ar-EG" sz="2800" dirty="0">
                <a:cs typeface="+mj-cs"/>
              </a:rPr>
              <a:t>البيانات الأساسية لبرنامج </a:t>
            </a:r>
            <a:r>
              <a:rPr lang="ar-EG" dirty="0"/>
              <a:t>المستخلصات</a:t>
            </a:r>
            <a:br>
              <a:rPr lang="ar-EG" dirty="0"/>
            </a:br>
            <a:r>
              <a:rPr lang="ar-EG" dirty="0">
                <a:solidFill>
                  <a:schemeClr val="accent1">
                    <a:lumMod val="75000"/>
                  </a:schemeClr>
                </a:solidFill>
              </a:rPr>
              <a:t>تعريف الأصناف</a:t>
            </a:r>
            <a:endParaRPr lang="en-US" dirty="0">
              <a:solidFill>
                <a:schemeClr val="accent1">
                  <a:lumMod val="75000"/>
                </a:schemeClr>
              </a:solidFill>
            </a:endParaRPr>
          </a:p>
        </p:txBody>
      </p:sp>
      <p:pic>
        <p:nvPicPr>
          <p:cNvPr id="5" name="Picture 4"/>
          <p:cNvPicPr>
            <a:picLocks noChangeAspect="1"/>
          </p:cNvPicPr>
          <p:nvPr/>
        </p:nvPicPr>
        <p:blipFill>
          <a:blip r:embed="rId2"/>
          <a:stretch>
            <a:fillRect/>
          </a:stretch>
        </p:blipFill>
        <p:spPr>
          <a:xfrm>
            <a:off x="514353" y="136525"/>
            <a:ext cx="5072474" cy="6441086"/>
          </a:xfrm>
          <a:prstGeom prst="rect">
            <a:avLst/>
          </a:prstGeom>
        </p:spPr>
      </p:pic>
      <p:sp>
        <p:nvSpPr>
          <p:cNvPr id="6" name="Rectangle 5"/>
          <p:cNvSpPr/>
          <p:nvPr/>
        </p:nvSpPr>
        <p:spPr>
          <a:xfrm>
            <a:off x="6478074" y="1053750"/>
            <a:ext cx="5125792" cy="5047536"/>
          </a:xfrm>
          <a:prstGeom prst="rect">
            <a:avLst/>
          </a:prstGeom>
        </p:spPr>
        <p:txBody>
          <a:bodyPr wrap="square">
            <a:spAutoFit/>
          </a:bodyPr>
          <a:lstStyle/>
          <a:p>
            <a:pPr algn="r" rtl="1"/>
            <a:r>
              <a:rPr lang="ar-EG" sz="1400" dirty="0" smtClean="0"/>
              <a:t>يقوم المستخدم بتعريف اسم الصنف بالعربى والانجليزى ويتم تعريف كل مايخص الصنف من :-</a:t>
            </a:r>
            <a:endParaRPr lang="ar-EG" sz="1400" dirty="0"/>
          </a:p>
          <a:p>
            <a:pPr algn="r" rtl="1"/>
            <a:r>
              <a:rPr lang="ar-EG" sz="1400" b="1" u="sng" dirty="0" smtClean="0"/>
              <a:t>سعر </a:t>
            </a:r>
            <a:r>
              <a:rPr lang="ar-EG" sz="1400" b="1" u="sng" dirty="0"/>
              <a:t>الشراء </a:t>
            </a:r>
            <a:r>
              <a:rPr lang="ar-EG" sz="1400" b="1" u="sng" dirty="0" smtClean="0"/>
              <a:t> </a:t>
            </a:r>
            <a:r>
              <a:rPr lang="ar-EG" sz="1400" dirty="0"/>
              <a:t>وهو سعر شراء الصنف ويندرج تحته ثلاثة أسعار وهي:  </a:t>
            </a:r>
          </a:p>
          <a:p>
            <a:pPr algn="r" rtl="1"/>
            <a:r>
              <a:rPr lang="ar-EG" sz="1400" dirty="0" smtClean="0"/>
              <a:t>              </a:t>
            </a:r>
            <a:r>
              <a:rPr lang="ar-EG" sz="1400" b="1" dirty="0" smtClean="0">
                <a:solidFill>
                  <a:srgbClr val="FF0000"/>
                </a:solidFill>
              </a:rPr>
              <a:t>سعر </a:t>
            </a:r>
            <a:r>
              <a:rPr lang="ar-EG" sz="1400" b="1" dirty="0">
                <a:solidFill>
                  <a:srgbClr val="FF0000"/>
                </a:solidFill>
              </a:rPr>
              <a:t>أول </a:t>
            </a:r>
            <a:r>
              <a:rPr lang="ar-EG" sz="1400" b="1" dirty="0" smtClean="0">
                <a:solidFill>
                  <a:srgbClr val="FF0000"/>
                </a:solidFill>
              </a:rPr>
              <a:t>المدة - السعر </a:t>
            </a:r>
            <a:r>
              <a:rPr lang="ar-EG" sz="1400" b="1" dirty="0">
                <a:solidFill>
                  <a:srgbClr val="FF0000"/>
                </a:solidFill>
              </a:rPr>
              <a:t>الحالي </a:t>
            </a:r>
            <a:r>
              <a:rPr lang="ar-EG" sz="1400" b="1" dirty="0" smtClean="0">
                <a:solidFill>
                  <a:srgbClr val="FF0000"/>
                </a:solidFill>
              </a:rPr>
              <a:t>- السعر </a:t>
            </a:r>
            <a:r>
              <a:rPr lang="ar-EG" sz="1400" b="1" dirty="0">
                <a:solidFill>
                  <a:srgbClr val="FF0000"/>
                </a:solidFill>
              </a:rPr>
              <a:t>المتوسط </a:t>
            </a:r>
          </a:p>
          <a:p>
            <a:pPr algn="r" rtl="1"/>
            <a:r>
              <a:rPr lang="ar-EG" sz="1400" b="1" u="sng" dirty="0" smtClean="0"/>
              <a:t>حدود </a:t>
            </a:r>
            <a:r>
              <a:rPr lang="ar-EG" sz="1400" b="1" u="sng" dirty="0"/>
              <a:t>الصنف </a:t>
            </a:r>
          </a:p>
          <a:p>
            <a:pPr marL="285750" indent="-285750" algn="r" rtl="1">
              <a:buFont typeface="Arial" panose="020B0604020202020204" pitchFamily="34" charset="0"/>
              <a:buChar char="•"/>
            </a:pPr>
            <a:r>
              <a:rPr lang="ar-EG" sz="1400" b="1" dirty="0" smtClean="0">
                <a:solidFill>
                  <a:srgbClr val="FF0000"/>
                </a:solidFill>
              </a:rPr>
              <a:t>الحد </a:t>
            </a:r>
            <a:r>
              <a:rPr lang="ar-EG" sz="1400" b="1" dirty="0">
                <a:solidFill>
                  <a:srgbClr val="FF0000"/>
                </a:solidFill>
              </a:rPr>
              <a:t>الأدنى</a:t>
            </a:r>
            <a:r>
              <a:rPr lang="ar-EG" sz="1400" dirty="0"/>
              <a:t> </a:t>
            </a:r>
            <a:r>
              <a:rPr lang="ar-EG" sz="1400" dirty="0" smtClean="0"/>
              <a:t> </a:t>
            </a:r>
            <a:r>
              <a:rPr lang="ar-EG" sz="1400" dirty="0"/>
              <a:t>وهو إقل كمية من الصنف يمكن أن تتواجد في المخزن </a:t>
            </a:r>
          </a:p>
          <a:p>
            <a:pPr marL="285750" indent="-285750" algn="r" rtl="1">
              <a:buFont typeface="Arial" panose="020B0604020202020204" pitchFamily="34" charset="0"/>
              <a:buChar char="•"/>
            </a:pPr>
            <a:r>
              <a:rPr lang="ar-EG" sz="1400" b="1" dirty="0" smtClean="0">
                <a:solidFill>
                  <a:srgbClr val="FF0000"/>
                </a:solidFill>
              </a:rPr>
              <a:t>الحد </a:t>
            </a:r>
            <a:r>
              <a:rPr lang="ar-EG" sz="1400" b="1" dirty="0">
                <a:solidFill>
                  <a:srgbClr val="FF0000"/>
                </a:solidFill>
              </a:rPr>
              <a:t>الأقصى </a:t>
            </a:r>
            <a:r>
              <a:rPr lang="ar-EG" sz="1400" dirty="0" smtClean="0"/>
              <a:t>وهو </a:t>
            </a:r>
            <a:r>
              <a:rPr lang="ar-EG" sz="1400" dirty="0"/>
              <a:t>أقصى كمية من الصنف يمكن أن تتواجد في المخزن </a:t>
            </a:r>
          </a:p>
          <a:p>
            <a:pPr marL="285750" indent="-285750" algn="r" rtl="1">
              <a:buFont typeface="Arial" panose="020B0604020202020204" pitchFamily="34" charset="0"/>
              <a:buChar char="•"/>
            </a:pPr>
            <a:r>
              <a:rPr lang="ar-EG" sz="1400" b="1" dirty="0" smtClean="0">
                <a:solidFill>
                  <a:srgbClr val="FF0000"/>
                </a:solidFill>
              </a:rPr>
              <a:t>حد الطلب </a:t>
            </a:r>
            <a:r>
              <a:rPr lang="ar-EG" sz="1400" dirty="0"/>
              <a:t>وهو الكمية التي لابد أن يقوم عندها أمين المخزن بطلب كميات أخرى من الصنف وهو أكبر من الحد الأدنى وعلى أقصى تقدير  يكون = الحد الأدنى </a:t>
            </a:r>
          </a:p>
          <a:p>
            <a:pPr algn="r" rtl="1"/>
            <a:r>
              <a:rPr lang="ar-EG" sz="1400" b="1" u="sng" dirty="0" smtClean="0"/>
              <a:t>تاريخ </a:t>
            </a:r>
            <a:r>
              <a:rPr lang="ar-EG" sz="1400" b="1" u="sng" dirty="0"/>
              <a:t>الصنف </a:t>
            </a:r>
            <a:r>
              <a:rPr lang="ar-EG" sz="1400" b="1" dirty="0" smtClean="0"/>
              <a:t>     </a:t>
            </a:r>
            <a:r>
              <a:rPr lang="ar-EG" sz="1400" dirty="0" smtClean="0"/>
              <a:t>تاريخ </a:t>
            </a:r>
            <a:r>
              <a:rPr lang="ar-EG" sz="1400" dirty="0"/>
              <a:t>تعريف الصنف </a:t>
            </a:r>
          </a:p>
          <a:p>
            <a:pPr algn="r" rtl="1"/>
            <a:r>
              <a:rPr lang="ar-EG" sz="1400" b="1" u="sng" dirty="0" smtClean="0"/>
              <a:t>تاريخ </a:t>
            </a:r>
            <a:r>
              <a:rPr lang="ar-EG" sz="1400" b="1" u="sng" dirty="0"/>
              <a:t>آخر حركة</a:t>
            </a:r>
            <a:r>
              <a:rPr lang="ar-EG" sz="1400" b="1" dirty="0"/>
              <a:t> </a:t>
            </a:r>
            <a:r>
              <a:rPr lang="ar-EG" sz="1400" b="1" dirty="0" smtClean="0"/>
              <a:t> </a:t>
            </a:r>
            <a:r>
              <a:rPr lang="ar-EG" sz="1400" dirty="0"/>
              <a:t>وهو تاريخ آخر حركة مخزنية تمت على الصنف </a:t>
            </a:r>
            <a:r>
              <a:rPr lang="ar-EG" sz="1400" dirty="0" smtClean="0"/>
              <a:t>(صرف-إضافة </a:t>
            </a:r>
            <a:r>
              <a:rPr lang="ar-EG" sz="1400" dirty="0"/>
              <a:t>- </a:t>
            </a:r>
            <a:r>
              <a:rPr lang="ar-EG" sz="1400" dirty="0" smtClean="0"/>
              <a:t>..) </a:t>
            </a:r>
            <a:endParaRPr lang="ar-EG" sz="1400" dirty="0"/>
          </a:p>
          <a:p>
            <a:pPr algn="r" rtl="1"/>
            <a:r>
              <a:rPr lang="ar-EG" sz="1400" b="1" u="sng" dirty="0" smtClean="0"/>
              <a:t>كميات </a:t>
            </a:r>
            <a:r>
              <a:rPr lang="ar-EG" sz="1400" b="1" u="sng" dirty="0"/>
              <a:t>تحت </a:t>
            </a:r>
            <a:r>
              <a:rPr lang="ar-EG" sz="1400" b="1" u="sng" dirty="0" smtClean="0"/>
              <a:t>الطلب</a:t>
            </a:r>
            <a:r>
              <a:rPr lang="ar-EG" sz="1400" b="1" dirty="0" smtClean="0"/>
              <a:t>  </a:t>
            </a:r>
            <a:r>
              <a:rPr lang="ar-EG" sz="1400" dirty="0" smtClean="0"/>
              <a:t>هي </a:t>
            </a:r>
            <a:r>
              <a:rPr lang="ar-EG" sz="1400" dirty="0"/>
              <a:t>الكميات المطلوبة للمخزن أو لعميل والموجودة ضمن طلبات شراء سابقة </a:t>
            </a:r>
          </a:p>
          <a:p>
            <a:pPr algn="r" rtl="1"/>
            <a:r>
              <a:rPr lang="ar-EG" sz="1400" b="1" u="sng" dirty="0" smtClean="0"/>
              <a:t>الحجز</a:t>
            </a:r>
            <a:r>
              <a:rPr lang="ar-EG" sz="1400" dirty="0" smtClean="0"/>
              <a:t>   هي </a:t>
            </a:r>
            <a:r>
              <a:rPr lang="ar-EG" sz="1400" dirty="0"/>
              <a:t>الكميات التي تم حجزها لمصلحة عميل معين </a:t>
            </a:r>
          </a:p>
          <a:p>
            <a:pPr algn="r" rtl="1"/>
            <a:r>
              <a:rPr lang="ar-EG" sz="1400" b="1" u="sng" dirty="0" smtClean="0"/>
              <a:t>الشراء</a:t>
            </a:r>
            <a:r>
              <a:rPr lang="ar-EG" sz="1400" dirty="0" smtClean="0"/>
              <a:t>  هي </a:t>
            </a:r>
            <a:r>
              <a:rPr lang="ar-EG" sz="1400" dirty="0"/>
              <a:t>الكميات المطلوبة للمخزن أو لعميل والموجودة ضمن أوامر شراء سابقة </a:t>
            </a:r>
          </a:p>
          <a:p>
            <a:pPr algn="r" rtl="1"/>
            <a:r>
              <a:rPr lang="ar-EG" sz="1400" b="1" u="sng" dirty="0" smtClean="0"/>
              <a:t>سعر </a:t>
            </a:r>
            <a:r>
              <a:rPr lang="ar-EG" sz="1400" b="1" u="sng" dirty="0"/>
              <a:t>المستهلك </a:t>
            </a:r>
            <a:r>
              <a:rPr lang="ar-EG" sz="1400" dirty="0" smtClean="0"/>
              <a:t> هو </a:t>
            </a:r>
            <a:r>
              <a:rPr lang="ar-EG" sz="1400" dirty="0"/>
              <a:t>السعر الذي يتم التعامل به مع المستهلك </a:t>
            </a:r>
          </a:p>
          <a:p>
            <a:pPr algn="r" rtl="1"/>
            <a:r>
              <a:rPr lang="ar-EG" sz="1400" b="1" u="sng" dirty="0" smtClean="0"/>
              <a:t>سعر </a:t>
            </a:r>
            <a:r>
              <a:rPr lang="ar-EG" sz="1400" b="1" u="sng" dirty="0"/>
              <a:t>جملة </a:t>
            </a:r>
            <a:r>
              <a:rPr lang="ar-EG" sz="1400" dirty="0" smtClean="0"/>
              <a:t>     هو </a:t>
            </a:r>
            <a:r>
              <a:rPr lang="ar-EG" sz="1400" dirty="0"/>
              <a:t>السعر الذي يتم التعامل به مع تجار الجملة </a:t>
            </a:r>
          </a:p>
          <a:p>
            <a:pPr algn="r" rtl="1"/>
            <a:r>
              <a:rPr lang="ar-EG" sz="1400" b="1" u="sng" dirty="0" smtClean="0"/>
              <a:t>سعر فرع</a:t>
            </a:r>
            <a:r>
              <a:rPr lang="ar-EG" sz="1400" b="1" dirty="0" smtClean="0"/>
              <a:t>       </a:t>
            </a:r>
            <a:r>
              <a:rPr lang="ar-EG" sz="1400" dirty="0" smtClean="0"/>
              <a:t>هو </a:t>
            </a:r>
            <a:r>
              <a:rPr lang="ar-EG" sz="1400" dirty="0"/>
              <a:t>السعر الذي يتم التعامل به في الفرع </a:t>
            </a:r>
          </a:p>
          <a:p>
            <a:pPr algn="r" rtl="1"/>
            <a:r>
              <a:rPr lang="ar-EG" sz="1400" b="1" u="sng" dirty="0" smtClean="0"/>
              <a:t>له مرحله</a:t>
            </a:r>
            <a:r>
              <a:rPr lang="ar-EG" sz="1400" b="1" dirty="0" smtClean="0"/>
              <a:t>     </a:t>
            </a:r>
            <a:r>
              <a:rPr lang="ar-EG" sz="1400" dirty="0" smtClean="0"/>
              <a:t>عند </a:t>
            </a:r>
            <a:r>
              <a:rPr lang="ar-EG" sz="1400" dirty="0"/>
              <a:t>الضغط عليها يتم استخدام المراحل لهذا الصنف في المستخلصات  </a:t>
            </a:r>
          </a:p>
          <a:p>
            <a:pPr algn="r" rtl="1"/>
            <a:r>
              <a:rPr lang="ar-EG" sz="1400" dirty="0" smtClean="0"/>
              <a:t>رصيد </a:t>
            </a:r>
            <a:r>
              <a:rPr lang="ar-EG" sz="1400" dirty="0"/>
              <a:t>الصنف في </a:t>
            </a:r>
            <a:r>
              <a:rPr lang="ar-EG" sz="1400" dirty="0" smtClean="0"/>
              <a:t>المخازن </a:t>
            </a:r>
            <a:r>
              <a:rPr lang="ar-EG" sz="1400" dirty="0"/>
              <a:t>المختلفة  </a:t>
            </a:r>
          </a:p>
          <a:p>
            <a:pPr algn="r" rtl="1"/>
            <a:r>
              <a:rPr lang="ar-EG" sz="1400" b="1" dirty="0" smtClean="0"/>
              <a:t>أسم </a:t>
            </a:r>
            <a:r>
              <a:rPr lang="ar-EG" sz="1400" b="1" dirty="0"/>
              <a:t>المخزن  </a:t>
            </a:r>
            <a:r>
              <a:rPr lang="ar-EG" sz="1400" b="1" dirty="0" smtClean="0"/>
              <a:t> </a:t>
            </a:r>
            <a:r>
              <a:rPr lang="ar-EG" sz="1400" dirty="0"/>
              <a:t>المخزن التابع له الصنف  </a:t>
            </a:r>
          </a:p>
          <a:p>
            <a:pPr algn="r" rtl="1"/>
            <a:r>
              <a:rPr lang="ar-EG" sz="1400" dirty="0" smtClean="0"/>
              <a:t>كمية </a:t>
            </a:r>
            <a:r>
              <a:rPr lang="ar-EG" sz="1400" dirty="0"/>
              <a:t>أول المدة للصنف في المخزن </a:t>
            </a:r>
          </a:p>
          <a:p>
            <a:pPr algn="r" rtl="1"/>
            <a:r>
              <a:rPr lang="ar-EG" sz="1400" dirty="0" smtClean="0"/>
              <a:t>الكمية </a:t>
            </a:r>
            <a:r>
              <a:rPr lang="ar-EG" sz="1400" dirty="0"/>
              <a:t>الحالية للصنف في </a:t>
            </a:r>
            <a:r>
              <a:rPr lang="ar-EG" sz="1400" dirty="0" smtClean="0"/>
              <a:t>المخزن</a:t>
            </a:r>
            <a:endParaRPr lang="ar-EG" sz="1400" dirty="0"/>
          </a:p>
        </p:txBody>
      </p:sp>
      <p:sp>
        <p:nvSpPr>
          <p:cNvPr id="8" name="Rectangle 7"/>
          <p:cNvSpPr/>
          <p:nvPr/>
        </p:nvSpPr>
        <p:spPr>
          <a:xfrm>
            <a:off x="618186" y="1970468"/>
            <a:ext cx="4816699" cy="1378039"/>
          </a:xfrm>
          <a:prstGeom prst="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27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smtClean="0"/>
              <a:t>1- </a:t>
            </a:r>
            <a:r>
              <a:rPr lang="ar-EG" sz="2800" dirty="0" smtClean="0">
                <a:cs typeface="+mj-cs"/>
              </a:rPr>
              <a:t>البيانات الأساسية لبرنامج </a:t>
            </a:r>
            <a:r>
              <a:rPr lang="ar-EG" dirty="0" smtClean="0"/>
              <a:t>المستخلصات</a:t>
            </a:r>
            <a:br>
              <a:rPr lang="ar-EG" dirty="0" smtClean="0"/>
            </a:br>
            <a:r>
              <a:rPr lang="ar-EG" dirty="0">
                <a:solidFill>
                  <a:schemeClr val="accent1">
                    <a:lumMod val="75000"/>
                  </a:schemeClr>
                </a:solidFill>
              </a:rPr>
              <a:t>تعريف بنود المرحلة</a:t>
            </a:r>
          </a:p>
        </p:txBody>
      </p:sp>
      <p:sp>
        <p:nvSpPr>
          <p:cNvPr id="6" name="Rectangle 5"/>
          <p:cNvSpPr/>
          <p:nvPr/>
        </p:nvSpPr>
        <p:spPr>
          <a:xfrm>
            <a:off x="1957589" y="1053750"/>
            <a:ext cx="9646277" cy="338554"/>
          </a:xfrm>
          <a:prstGeom prst="rect">
            <a:avLst/>
          </a:prstGeom>
        </p:spPr>
        <p:txBody>
          <a:bodyPr wrap="square">
            <a:spAutoFit/>
          </a:bodyPr>
          <a:lstStyle/>
          <a:p>
            <a:pPr marL="285750" indent="-285750" algn="r" rtl="1">
              <a:buFont typeface="Arial" panose="020B0604020202020204" pitchFamily="34" charset="0"/>
              <a:buChar char="•"/>
            </a:pPr>
            <a:r>
              <a:rPr lang="ar-SA" sz="1600" b="1" dirty="0"/>
              <a:t>تستخدم هذه الشاشه لتسجيل بنود المراحل الخاصه بالأصناف في مجموعة بنود الأعمال حيث أن تلك البنود سيتم ربطها فيما بعد بالاصناف </a:t>
            </a:r>
            <a:endParaRPr lang="ar-EG" sz="16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2752" y="1852241"/>
            <a:ext cx="8627772" cy="435435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70370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1- </a:t>
            </a:r>
            <a:r>
              <a:rPr lang="ar-EG" sz="2800" dirty="0">
                <a:cs typeface="+mj-cs"/>
              </a:rPr>
              <a:t>البيانات الأساسية لبرنامج </a:t>
            </a:r>
            <a:r>
              <a:rPr lang="ar-EG" dirty="0"/>
              <a:t>المستخلصات</a:t>
            </a:r>
            <a:br>
              <a:rPr lang="ar-EG" dirty="0"/>
            </a:br>
            <a:r>
              <a:rPr lang="ar-EG" dirty="0">
                <a:solidFill>
                  <a:schemeClr val="accent1">
                    <a:lumMod val="75000"/>
                  </a:schemeClr>
                </a:solidFill>
              </a:rPr>
              <a:t>تعريف بنود الأعمال للمرحلة</a:t>
            </a:r>
          </a:p>
        </p:txBody>
      </p:sp>
      <p:sp>
        <p:nvSpPr>
          <p:cNvPr id="6" name="Rectangle 5"/>
          <p:cNvSpPr/>
          <p:nvPr/>
        </p:nvSpPr>
        <p:spPr>
          <a:xfrm>
            <a:off x="6478074" y="1053750"/>
            <a:ext cx="5125792" cy="584775"/>
          </a:xfrm>
          <a:prstGeom prst="rect">
            <a:avLst/>
          </a:prstGeom>
        </p:spPr>
        <p:txBody>
          <a:bodyPr wrap="square">
            <a:spAutoFit/>
          </a:bodyPr>
          <a:lstStyle/>
          <a:p>
            <a:pPr algn="r" rtl="1"/>
            <a:r>
              <a:rPr lang="ar-EG" sz="1600" b="1" dirty="0"/>
              <a:t>يقوم المستخدم بتعريف بنود الاعمال </a:t>
            </a:r>
            <a:r>
              <a:rPr lang="ar-EG" sz="1600" b="1" dirty="0" smtClean="0"/>
              <a:t>للمرحلة من خلال </a:t>
            </a:r>
            <a:r>
              <a:rPr lang="ar-EG" sz="1600" b="1" dirty="0"/>
              <a:t>هذه الشاشة</a:t>
            </a:r>
            <a:br>
              <a:rPr lang="ar-EG" sz="1600" b="1" dirty="0"/>
            </a:br>
            <a:endParaRPr lang="ar-EG" sz="1600" b="1"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632" y="1455313"/>
            <a:ext cx="9274398" cy="5138670"/>
          </a:xfrm>
          <a:prstGeom prst="rect">
            <a:avLst/>
          </a:prstGeom>
          <a:ln>
            <a:noFill/>
          </a:ln>
          <a:effectLst>
            <a:outerShdw blurRad="292100" dist="139700" dir="2700000" algn="tl" rotWithShape="0">
              <a:srgbClr val="333333">
                <a:alpha val="65000"/>
              </a:srgbClr>
            </a:outerShdw>
          </a:effectLst>
        </p:spPr>
      </p:pic>
      <p:sp>
        <p:nvSpPr>
          <p:cNvPr id="9" name="Rounded Rectangle 8"/>
          <p:cNvSpPr/>
          <p:nvPr/>
        </p:nvSpPr>
        <p:spPr>
          <a:xfrm>
            <a:off x="5054334" y="2057152"/>
            <a:ext cx="3709818" cy="25616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7904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1- </a:t>
            </a:r>
            <a:r>
              <a:rPr lang="ar-EG" sz="2800" dirty="0">
                <a:cs typeface="+mj-cs"/>
              </a:rPr>
              <a:t>البيانات الأساسية لبرنامج </a:t>
            </a:r>
            <a:r>
              <a:rPr lang="ar-EG" dirty="0"/>
              <a:t>المستخلصات</a:t>
            </a:r>
            <a:br>
              <a:rPr lang="ar-EG" dirty="0"/>
            </a:br>
            <a:r>
              <a:rPr lang="ar-EG" dirty="0">
                <a:solidFill>
                  <a:schemeClr val="accent1">
                    <a:lumMod val="75000"/>
                  </a:schemeClr>
                </a:solidFill>
              </a:rPr>
              <a:t>تعريف خامات بنود الأعمال</a:t>
            </a:r>
          </a:p>
        </p:txBody>
      </p:sp>
      <p:sp>
        <p:nvSpPr>
          <p:cNvPr id="6" name="Rectangle 5"/>
          <p:cNvSpPr/>
          <p:nvPr/>
        </p:nvSpPr>
        <p:spPr>
          <a:xfrm>
            <a:off x="6478074" y="1053750"/>
            <a:ext cx="5125792" cy="584775"/>
          </a:xfrm>
          <a:prstGeom prst="rect">
            <a:avLst/>
          </a:prstGeom>
        </p:spPr>
        <p:txBody>
          <a:bodyPr wrap="square">
            <a:spAutoFit/>
          </a:bodyPr>
          <a:lstStyle/>
          <a:p>
            <a:pPr algn="r" rtl="1"/>
            <a:r>
              <a:rPr lang="ar-EG" sz="1600" b="1" dirty="0" smtClean="0"/>
              <a:t>يقوم المستخدم بتعريف خامات البند من خلال هذه الشاشة</a:t>
            </a:r>
            <a:br>
              <a:rPr lang="ar-EG" sz="1600" b="1" dirty="0" smtClean="0"/>
            </a:br>
            <a:endParaRPr lang="ar-EG" sz="1600" b="1"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8794" y="1634912"/>
            <a:ext cx="9517487" cy="4906060"/>
          </a:xfrm>
          <a:prstGeom prst="rect">
            <a:avLst/>
          </a:prstGeom>
          <a:ln>
            <a:noFill/>
          </a:ln>
          <a:effectLst>
            <a:outerShdw blurRad="292100" dist="139700" dir="2700000" algn="tl" rotWithShape="0">
              <a:srgbClr val="333333">
                <a:alpha val="65000"/>
              </a:srgbClr>
            </a:outerShdw>
          </a:effectLst>
        </p:spPr>
      </p:pic>
      <p:sp>
        <p:nvSpPr>
          <p:cNvPr id="10" name="Rounded Rectangle 9"/>
          <p:cNvSpPr/>
          <p:nvPr/>
        </p:nvSpPr>
        <p:spPr>
          <a:xfrm>
            <a:off x="1609859" y="2314468"/>
            <a:ext cx="3844421" cy="31427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1519708" y="4101446"/>
            <a:ext cx="8479845" cy="157813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6661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1- </a:t>
            </a:r>
            <a:r>
              <a:rPr lang="ar-EG" sz="2800" dirty="0">
                <a:cs typeface="+mj-cs"/>
              </a:rPr>
              <a:t>البيانات الأساسية لبرنامج </a:t>
            </a:r>
            <a:r>
              <a:rPr lang="ar-EG" dirty="0"/>
              <a:t>المستخلصات</a:t>
            </a:r>
            <a:br>
              <a:rPr lang="ar-EG" dirty="0"/>
            </a:br>
            <a:r>
              <a:rPr lang="ar-EG" dirty="0">
                <a:solidFill>
                  <a:schemeClr val="accent1">
                    <a:lumMod val="75000"/>
                  </a:schemeClr>
                </a:solidFill>
              </a:rPr>
              <a:t>تعريف المصروفات</a:t>
            </a:r>
          </a:p>
        </p:txBody>
      </p:sp>
      <p:sp>
        <p:nvSpPr>
          <p:cNvPr id="6" name="Rectangle 5"/>
          <p:cNvSpPr/>
          <p:nvPr/>
        </p:nvSpPr>
        <p:spPr>
          <a:xfrm>
            <a:off x="2428740" y="950718"/>
            <a:ext cx="8925060" cy="830997"/>
          </a:xfrm>
          <a:prstGeom prst="rect">
            <a:avLst/>
          </a:prstGeom>
        </p:spPr>
        <p:txBody>
          <a:bodyPr wrap="square">
            <a:spAutoFit/>
          </a:bodyPr>
          <a:lstStyle/>
          <a:p>
            <a:pPr algn="r" rtl="1"/>
            <a:r>
              <a:rPr lang="ar-EG" sz="1600" b="1" dirty="0"/>
              <a:t>يقوم المستخدم بتعريف المصروفات من خلال هذه الشاشة</a:t>
            </a:r>
          </a:p>
          <a:p>
            <a:pPr algn="r" rtl="1"/>
            <a:r>
              <a:rPr lang="ar-EG" sz="1600" b="1" dirty="0"/>
              <a:t>المقصود بالمصروفات (تأمين ضمان اعمال –تأمينات اجتماعية مقاولين – دفعات مقدمة - .....) </a:t>
            </a:r>
            <a:r>
              <a:rPr lang="ar-EG" sz="1600" b="1" dirty="0" smtClean="0"/>
              <a:t/>
            </a:r>
            <a:br>
              <a:rPr lang="ar-EG" sz="1600" b="1" dirty="0" smtClean="0"/>
            </a:br>
            <a:endParaRPr lang="ar-EG" sz="1600" b="1"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9251" y="1794924"/>
            <a:ext cx="8989453" cy="4029637"/>
          </a:xfrm>
          <a:prstGeom prst="rect">
            <a:avLst/>
          </a:prstGeom>
          <a:ln>
            <a:noFill/>
          </a:ln>
          <a:effectLst>
            <a:outerShdw blurRad="292100" dist="139700" dir="2700000" algn="tl" rotWithShape="0">
              <a:srgbClr val="333333">
                <a:alpha val="65000"/>
              </a:srgbClr>
            </a:outerShdw>
          </a:effectLst>
        </p:spPr>
      </p:pic>
      <p:sp>
        <p:nvSpPr>
          <p:cNvPr id="9" name="Rounded Rectangle 8"/>
          <p:cNvSpPr/>
          <p:nvPr/>
        </p:nvSpPr>
        <p:spPr>
          <a:xfrm>
            <a:off x="4861255" y="2580995"/>
            <a:ext cx="3267601" cy="1192515"/>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6227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1- </a:t>
            </a:r>
            <a:r>
              <a:rPr lang="ar-EG" sz="2800" dirty="0">
                <a:cs typeface="+mj-cs"/>
              </a:rPr>
              <a:t>البيانات الأساسية لبرنامج </a:t>
            </a:r>
            <a:r>
              <a:rPr lang="ar-EG" dirty="0"/>
              <a:t>المستخلصات</a:t>
            </a:r>
            <a:br>
              <a:rPr lang="ar-EG" dirty="0"/>
            </a:br>
            <a:r>
              <a:rPr lang="ar-EG" dirty="0">
                <a:solidFill>
                  <a:schemeClr val="accent1">
                    <a:lumMod val="75000"/>
                  </a:schemeClr>
                </a:solidFill>
              </a:rPr>
              <a:t>ربط المصروف بالمقاول</a:t>
            </a:r>
          </a:p>
        </p:txBody>
      </p:sp>
      <p:sp>
        <p:nvSpPr>
          <p:cNvPr id="6" name="Rectangle 5"/>
          <p:cNvSpPr/>
          <p:nvPr/>
        </p:nvSpPr>
        <p:spPr>
          <a:xfrm>
            <a:off x="643944" y="1053750"/>
            <a:ext cx="10959922" cy="338554"/>
          </a:xfrm>
          <a:prstGeom prst="rect">
            <a:avLst/>
          </a:prstGeom>
        </p:spPr>
        <p:txBody>
          <a:bodyPr wrap="square">
            <a:spAutoFit/>
          </a:bodyPr>
          <a:lstStyle/>
          <a:p>
            <a:pPr algn="r" rtl="1"/>
            <a:r>
              <a:rPr lang="ar-EG" sz="1600" b="1" dirty="0"/>
              <a:t>تستخدم هذه الشاشة لربط المقاول بالمصروفات المتعدده الخاصه به من </a:t>
            </a:r>
            <a:r>
              <a:rPr lang="ar-EG" sz="1600" b="1" dirty="0" smtClean="0"/>
              <a:t>حيث(تأمينات </a:t>
            </a:r>
            <a:r>
              <a:rPr lang="ar-EG" sz="1600" b="1" dirty="0"/>
              <a:t>إجتماعيه – ضرائب – خصومات أخري </a:t>
            </a:r>
            <a:r>
              <a:rPr lang="ar-EG" sz="1600" b="1" dirty="0" smtClean="0"/>
              <a:t>– </a:t>
            </a:r>
            <a:r>
              <a:rPr lang="ar-EG" sz="1600" b="1" dirty="0"/>
              <a:t>دفعه مقدمه - </a:t>
            </a:r>
            <a:r>
              <a:rPr lang="ar-EG" sz="1600" b="1" dirty="0" smtClean="0"/>
              <a:t>..................)</a:t>
            </a:r>
            <a:endParaRPr lang="ar-EG" sz="1600" b="1" dirty="0"/>
          </a:p>
        </p:txBody>
      </p:sp>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93" y="2114117"/>
            <a:ext cx="5604377" cy="3583007"/>
          </a:xfrm>
          <a:prstGeom prst="rect">
            <a:avLst/>
          </a:prstGeom>
          <a:ln>
            <a:noFill/>
          </a:ln>
          <a:effectLst>
            <a:outerShdw blurRad="292100" dist="139700" dir="2700000" algn="tl" rotWithShape="0">
              <a:srgbClr val="333333">
                <a:alpha val="65000"/>
              </a:srgbClr>
            </a:outerShdw>
          </a:effectLst>
        </p:spPr>
      </p:pic>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25014"/>
            <a:ext cx="5488308" cy="3817328"/>
          </a:xfrm>
          <a:prstGeom prst="rect">
            <a:avLst/>
          </a:prstGeom>
          <a:ln>
            <a:noFill/>
          </a:ln>
          <a:effectLst>
            <a:outerShdw blurRad="292100" dist="139700" dir="2700000" algn="tl" rotWithShape="0">
              <a:srgbClr val="333333">
                <a:alpha val="65000"/>
              </a:srgbClr>
            </a:outerShdw>
          </a:effectLst>
        </p:spPr>
      </p:pic>
      <p:sp>
        <p:nvSpPr>
          <p:cNvPr id="21" name="Rounded Rectangle 20"/>
          <p:cNvSpPr/>
          <p:nvPr/>
        </p:nvSpPr>
        <p:spPr>
          <a:xfrm>
            <a:off x="1262130" y="2209931"/>
            <a:ext cx="3626325" cy="30031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6425369" y="3401737"/>
            <a:ext cx="3626325" cy="300313"/>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p:nvSpPr>
        <p:spPr>
          <a:xfrm>
            <a:off x="4546241" y="2895488"/>
            <a:ext cx="1017535" cy="2101515"/>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p:nvSpPr>
        <p:spPr>
          <a:xfrm>
            <a:off x="1841678" y="2840959"/>
            <a:ext cx="1052848" cy="2156044"/>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ounded Rectangle 24"/>
          <p:cNvSpPr/>
          <p:nvPr/>
        </p:nvSpPr>
        <p:spPr>
          <a:xfrm>
            <a:off x="4307608" y="5918036"/>
            <a:ext cx="1124623" cy="694292"/>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dirty="0">
                <a:solidFill>
                  <a:schemeClr val="tx1"/>
                </a:solidFill>
              </a:rPr>
              <a:t>كود المقاول</a:t>
            </a:r>
            <a:endParaRPr lang="en-US" dirty="0">
              <a:solidFill>
                <a:schemeClr val="tx1"/>
              </a:solidFill>
            </a:endParaRPr>
          </a:p>
        </p:txBody>
      </p:sp>
      <p:sp>
        <p:nvSpPr>
          <p:cNvPr id="26" name="Rounded Rectangle 25"/>
          <p:cNvSpPr/>
          <p:nvPr/>
        </p:nvSpPr>
        <p:spPr>
          <a:xfrm>
            <a:off x="1882086" y="5918036"/>
            <a:ext cx="1124623" cy="69429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dirty="0">
                <a:solidFill>
                  <a:schemeClr val="tx1"/>
                </a:solidFill>
              </a:rPr>
              <a:t>كود المصروف</a:t>
            </a:r>
            <a:endParaRPr lang="en-US" dirty="0">
              <a:solidFill>
                <a:schemeClr val="tx1"/>
              </a:solidFill>
            </a:endParaRPr>
          </a:p>
        </p:txBody>
      </p:sp>
    </p:spTree>
    <p:extLst>
      <p:ext uri="{BB962C8B-B14F-4D97-AF65-F5344CB8AC3E}">
        <p14:creationId xmlns:p14="http://schemas.microsoft.com/office/powerpoint/2010/main" val="2985543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smtClean="0"/>
              <a:t>2- </a:t>
            </a:r>
            <a:r>
              <a:rPr lang="ar-EG" sz="2800" dirty="0" smtClean="0">
                <a:cs typeface="+mj-cs"/>
              </a:rPr>
              <a:t>حركات برنامج المستخلصات</a:t>
            </a:r>
            <a:r>
              <a:rPr lang="ar-EG" dirty="0"/>
              <a:t/>
            </a:r>
            <a:br>
              <a:rPr lang="ar-EG" dirty="0"/>
            </a:br>
            <a:endParaRPr lang="ar-EG" dirty="0">
              <a:solidFill>
                <a:schemeClr val="accent1">
                  <a:lumMod val="75000"/>
                </a:schemeClr>
              </a:solidFill>
            </a:endParaRPr>
          </a:p>
        </p:txBody>
      </p:sp>
      <p:sp>
        <p:nvSpPr>
          <p:cNvPr id="8" name="Rounded Rectangle 7"/>
          <p:cNvSpPr/>
          <p:nvPr/>
        </p:nvSpPr>
        <p:spPr>
          <a:xfrm>
            <a:off x="8715713" y="3124385"/>
            <a:ext cx="2235511" cy="1234505"/>
          </a:xfrm>
          <a:prstGeom prst="roundRect">
            <a:avLst/>
          </a:prstGeom>
          <a:solidFill>
            <a:schemeClr val="accent2"/>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000" b="1" dirty="0">
                <a:solidFill>
                  <a:schemeClr val="bg1"/>
                </a:solidFill>
              </a:rPr>
              <a:t>عقد مقاول</a:t>
            </a:r>
            <a:endParaRPr lang="en-US" sz="2000" b="1" dirty="0">
              <a:solidFill>
                <a:schemeClr val="bg1"/>
              </a:solidFill>
            </a:endParaRPr>
          </a:p>
        </p:txBody>
      </p:sp>
      <p:sp>
        <p:nvSpPr>
          <p:cNvPr id="10" name="Rounded Rectangle 9"/>
          <p:cNvSpPr/>
          <p:nvPr/>
        </p:nvSpPr>
        <p:spPr>
          <a:xfrm>
            <a:off x="664518" y="4674432"/>
            <a:ext cx="2235511" cy="1234505"/>
          </a:xfrm>
          <a:prstGeom prst="roundRect">
            <a:avLst/>
          </a:prstGeom>
          <a:solidFill>
            <a:schemeClr val="accent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000" b="1" dirty="0">
                <a:solidFill>
                  <a:schemeClr val="bg1"/>
                </a:solidFill>
              </a:rPr>
              <a:t>رد أعمال</a:t>
            </a:r>
            <a:endParaRPr lang="en-US" sz="2000" b="1" dirty="0">
              <a:solidFill>
                <a:schemeClr val="bg1"/>
              </a:solidFill>
            </a:endParaRPr>
          </a:p>
        </p:txBody>
      </p:sp>
      <p:sp>
        <p:nvSpPr>
          <p:cNvPr id="11" name="Rounded Rectangle 10"/>
          <p:cNvSpPr/>
          <p:nvPr/>
        </p:nvSpPr>
        <p:spPr>
          <a:xfrm>
            <a:off x="8715713" y="1574340"/>
            <a:ext cx="2235511" cy="1234505"/>
          </a:xfrm>
          <a:prstGeom prst="roundRect">
            <a:avLst/>
          </a:prstGeom>
          <a:solidFill>
            <a:schemeClr val="accent2"/>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000" b="1" dirty="0">
                <a:solidFill>
                  <a:schemeClr val="bg1"/>
                </a:solidFill>
              </a:rPr>
              <a:t>الموازنة</a:t>
            </a:r>
            <a:endParaRPr lang="en-US" sz="2000" b="1" dirty="0">
              <a:solidFill>
                <a:schemeClr val="bg1"/>
              </a:solidFill>
            </a:endParaRPr>
          </a:p>
        </p:txBody>
      </p:sp>
      <p:sp>
        <p:nvSpPr>
          <p:cNvPr id="12" name="Rounded Rectangle 11"/>
          <p:cNvSpPr/>
          <p:nvPr/>
        </p:nvSpPr>
        <p:spPr>
          <a:xfrm>
            <a:off x="664517" y="1574340"/>
            <a:ext cx="2235511" cy="1234505"/>
          </a:xfrm>
          <a:prstGeom prst="roundRect">
            <a:avLst/>
          </a:prstGeom>
          <a:solidFill>
            <a:schemeClr val="accent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000" b="1" dirty="0">
                <a:solidFill>
                  <a:schemeClr val="bg1"/>
                </a:solidFill>
              </a:rPr>
              <a:t>تخفيض مستخلص</a:t>
            </a:r>
          </a:p>
          <a:p>
            <a:pPr algn="ctr"/>
            <a:r>
              <a:rPr lang="ar-EG" sz="2000" b="1" dirty="0">
                <a:solidFill>
                  <a:schemeClr val="bg1"/>
                </a:solidFill>
              </a:rPr>
              <a:t>كمية</a:t>
            </a:r>
            <a:endParaRPr lang="en-US" sz="2000" b="1" dirty="0">
              <a:solidFill>
                <a:schemeClr val="bg1"/>
              </a:solidFill>
            </a:endParaRPr>
          </a:p>
        </p:txBody>
      </p:sp>
      <p:sp>
        <p:nvSpPr>
          <p:cNvPr id="13" name="Rounded Rectangle 12"/>
          <p:cNvSpPr/>
          <p:nvPr/>
        </p:nvSpPr>
        <p:spPr>
          <a:xfrm>
            <a:off x="664518" y="3137265"/>
            <a:ext cx="2235511" cy="1234505"/>
          </a:xfrm>
          <a:prstGeom prst="roundRect">
            <a:avLst/>
          </a:prstGeom>
          <a:solidFill>
            <a:schemeClr val="accent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000" b="1" dirty="0">
                <a:solidFill>
                  <a:schemeClr val="bg1"/>
                </a:solidFill>
              </a:rPr>
              <a:t>تخفيض مستخلص</a:t>
            </a:r>
          </a:p>
          <a:p>
            <a:pPr algn="ctr"/>
            <a:r>
              <a:rPr lang="ar-EG" sz="2000" b="1" dirty="0">
                <a:solidFill>
                  <a:schemeClr val="bg1"/>
                </a:solidFill>
              </a:rPr>
              <a:t>نسبة</a:t>
            </a:r>
            <a:endParaRPr lang="en-US" sz="2000" b="1" dirty="0">
              <a:solidFill>
                <a:schemeClr val="bg1"/>
              </a:solidFill>
            </a:endParaRPr>
          </a:p>
        </p:txBody>
      </p:sp>
      <p:sp>
        <p:nvSpPr>
          <p:cNvPr id="14" name="Rounded Rectangle 13"/>
          <p:cNvSpPr/>
          <p:nvPr/>
        </p:nvSpPr>
        <p:spPr>
          <a:xfrm>
            <a:off x="8715713" y="4674431"/>
            <a:ext cx="2235511" cy="1234505"/>
          </a:xfrm>
          <a:prstGeom prst="roundRect">
            <a:avLst/>
          </a:prstGeom>
          <a:solidFill>
            <a:schemeClr val="accent2"/>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2000" b="1" dirty="0">
                <a:solidFill>
                  <a:schemeClr val="bg1"/>
                </a:solidFill>
              </a:rPr>
              <a:t>مستخلص مقاول</a:t>
            </a:r>
            <a:endParaRPr lang="en-US" sz="2000" b="1" dirty="0">
              <a:solidFill>
                <a:schemeClr val="bg1"/>
              </a:solidFill>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167" y="1471235"/>
            <a:ext cx="5010849" cy="48203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47184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2- حركات برنامج المستخلصات</a:t>
            </a:r>
            <a:br>
              <a:rPr lang="ar-EG" dirty="0"/>
            </a:br>
            <a:r>
              <a:rPr lang="ar-EG" dirty="0">
                <a:solidFill>
                  <a:schemeClr val="accent1">
                    <a:lumMod val="75000"/>
                  </a:schemeClr>
                </a:solidFill>
              </a:rPr>
              <a:t>عقد مقاول</a:t>
            </a:r>
          </a:p>
        </p:txBody>
      </p:sp>
      <p:sp>
        <p:nvSpPr>
          <p:cNvPr id="6" name="Rectangle 5"/>
          <p:cNvSpPr/>
          <p:nvPr/>
        </p:nvSpPr>
        <p:spPr>
          <a:xfrm>
            <a:off x="7225048" y="1448873"/>
            <a:ext cx="4128752" cy="3046988"/>
          </a:xfrm>
          <a:prstGeom prst="rect">
            <a:avLst/>
          </a:prstGeom>
        </p:spPr>
        <p:txBody>
          <a:bodyPr wrap="square">
            <a:spAutoFit/>
          </a:bodyPr>
          <a:lstStyle/>
          <a:p>
            <a:pPr algn="r" rtl="1"/>
            <a:r>
              <a:rPr lang="ar-EG" sz="1600" b="1" dirty="0"/>
              <a:t>تستخدم هذه الحركة لتسجيل عقد المقاول</a:t>
            </a:r>
          </a:p>
          <a:p>
            <a:pPr algn="r" rtl="1"/>
            <a:r>
              <a:rPr lang="ar-EG" sz="1600" b="1" dirty="0"/>
              <a:t>ويوجد به البنود والأسعار ومراكز التكلفه  ويتم التسجيل بالشكل التالي :  </a:t>
            </a:r>
          </a:p>
          <a:p>
            <a:pPr marL="285750" indent="-285750" algn="r" rtl="1">
              <a:buFont typeface="Arial" panose="020B0604020202020204" pitchFamily="34" charset="0"/>
              <a:buChar char="•"/>
            </a:pPr>
            <a:r>
              <a:rPr lang="ar-EG" sz="1600" dirty="0" smtClean="0"/>
              <a:t>تحديد </a:t>
            </a:r>
            <a:r>
              <a:rPr lang="ar-EG" sz="1600" dirty="0"/>
              <a:t>المقاول  </a:t>
            </a:r>
          </a:p>
          <a:p>
            <a:pPr marL="285750" indent="-285750" algn="r" rtl="1">
              <a:buFont typeface="Arial" panose="020B0604020202020204" pitchFamily="34" charset="0"/>
              <a:buChar char="•"/>
            </a:pPr>
            <a:r>
              <a:rPr lang="ar-EG" sz="1600" dirty="0" smtClean="0"/>
              <a:t>تحديد </a:t>
            </a:r>
            <a:r>
              <a:rPr lang="ar-EG" sz="1600" dirty="0"/>
              <a:t>مجموعة الأصناف  </a:t>
            </a:r>
          </a:p>
          <a:p>
            <a:pPr marL="285750" indent="-285750" algn="r" rtl="1">
              <a:buFont typeface="Arial" panose="020B0604020202020204" pitchFamily="34" charset="0"/>
              <a:buChar char="•"/>
            </a:pPr>
            <a:r>
              <a:rPr lang="ar-EG" sz="1600" dirty="0" smtClean="0"/>
              <a:t>الدخول </a:t>
            </a:r>
            <a:r>
              <a:rPr lang="ar-EG" sz="1600" dirty="0"/>
              <a:t>علي االأصناف وتحديد بنود الأعمال والأسعار  </a:t>
            </a:r>
          </a:p>
          <a:p>
            <a:pPr marL="285750" indent="-285750" algn="r" rtl="1">
              <a:buFont typeface="Arial" panose="020B0604020202020204" pitchFamily="34" charset="0"/>
              <a:buChar char="•"/>
            </a:pPr>
            <a:r>
              <a:rPr lang="ar-EG" sz="1600" dirty="0" smtClean="0"/>
              <a:t>تحديد </a:t>
            </a:r>
            <a:r>
              <a:rPr lang="ar-EG" sz="1600" dirty="0"/>
              <a:t>نسب إنجاز البنود التي لها مراحل  </a:t>
            </a:r>
          </a:p>
          <a:p>
            <a:pPr marL="285750" indent="-285750" algn="r" rtl="1">
              <a:buFont typeface="Arial" panose="020B0604020202020204" pitchFamily="34" charset="0"/>
              <a:buChar char="•"/>
            </a:pPr>
            <a:r>
              <a:rPr lang="ar-EG" sz="1600" dirty="0" smtClean="0"/>
              <a:t>تحديد </a:t>
            </a:r>
            <a:r>
              <a:rPr lang="ar-EG" sz="1600" dirty="0"/>
              <a:t>مركز التكلفه  </a:t>
            </a:r>
          </a:p>
          <a:p>
            <a:pPr marL="285750" indent="-285750" algn="r" rtl="1">
              <a:buFont typeface="Arial" panose="020B0604020202020204" pitchFamily="34" charset="0"/>
              <a:buChar char="•"/>
            </a:pPr>
            <a:r>
              <a:rPr lang="ar-EG" sz="1600" dirty="0" smtClean="0"/>
              <a:t>مصروفات </a:t>
            </a:r>
            <a:r>
              <a:rPr lang="ar-EG" sz="1600" dirty="0"/>
              <a:t>متعدده : استدعاء حسابات المقاول وتحديد نسبة استقطاع كل حساب  </a:t>
            </a:r>
          </a:p>
          <a:p>
            <a:pPr marL="285750" indent="-285750" algn="r" rtl="1">
              <a:buFont typeface="Arial" panose="020B0604020202020204" pitchFamily="34" charset="0"/>
              <a:buChar char="•"/>
            </a:pPr>
            <a:r>
              <a:rPr lang="ar-EG" sz="1600" dirty="0" smtClean="0"/>
              <a:t>دفعات </a:t>
            </a:r>
            <a:r>
              <a:rPr lang="ar-EG" sz="1600" dirty="0"/>
              <a:t>مقدمة :  يتم تسجيل قيمة الدفعه المقدمه للمقاول </a:t>
            </a:r>
            <a:r>
              <a:rPr lang="ar-EG" sz="1600" b="1" dirty="0" smtClean="0"/>
              <a:t/>
            </a:r>
            <a:br>
              <a:rPr lang="ar-EG" sz="1600" b="1" dirty="0" smtClean="0"/>
            </a:br>
            <a:endParaRPr lang="ar-EG" sz="1600" b="1"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379" y="495165"/>
            <a:ext cx="6295358" cy="5848565"/>
          </a:xfrm>
          <a:prstGeom prst="rect">
            <a:avLst/>
          </a:prstGeom>
          <a:ln>
            <a:noFill/>
          </a:ln>
          <a:effectLst>
            <a:outerShdw blurRad="292100" dist="139700" dir="2700000" algn="tl" rotWithShape="0">
              <a:srgbClr val="333333">
                <a:alpha val="65000"/>
              </a:srgbClr>
            </a:outerShdw>
          </a:effectLst>
        </p:spPr>
      </p:pic>
      <p:sp>
        <p:nvSpPr>
          <p:cNvPr id="10" name="Rounded Rectangle 9"/>
          <p:cNvSpPr/>
          <p:nvPr/>
        </p:nvSpPr>
        <p:spPr>
          <a:xfrm>
            <a:off x="4597758" y="1886588"/>
            <a:ext cx="1299405" cy="30044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359379" y="736102"/>
            <a:ext cx="915629" cy="26844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3727938" y="821928"/>
            <a:ext cx="1250532" cy="37580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 Arrow 4"/>
          <p:cNvSpPr/>
          <p:nvPr/>
        </p:nvSpPr>
        <p:spPr>
          <a:xfrm>
            <a:off x="746975" y="1197735"/>
            <a:ext cx="193183" cy="502276"/>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eft Arrow 6"/>
          <p:cNvSpPr/>
          <p:nvPr/>
        </p:nvSpPr>
        <p:spPr>
          <a:xfrm>
            <a:off x="5247460" y="892007"/>
            <a:ext cx="649703" cy="193184"/>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eft Arrow 13"/>
          <p:cNvSpPr/>
          <p:nvPr/>
        </p:nvSpPr>
        <p:spPr>
          <a:xfrm flipH="1">
            <a:off x="3742006" y="1886588"/>
            <a:ext cx="672872" cy="300440"/>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5915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2- حركات برنامج المستخلصات</a:t>
            </a:r>
            <a:br>
              <a:rPr lang="ar-EG" dirty="0"/>
            </a:br>
            <a:r>
              <a:rPr lang="ar-EG" dirty="0">
                <a:solidFill>
                  <a:schemeClr val="accent1">
                    <a:lumMod val="75000"/>
                  </a:schemeClr>
                </a:solidFill>
              </a:rPr>
              <a:t>مستخلص مقاول</a:t>
            </a: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953" y="695459"/>
            <a:ext cx="5781542" cy="5756856"/>
          </a:xfrm>
          <a:prstGeom prst="rect">
            <a:avLst/>
          </a:prstGeom>
          <a:ln>
            <a:noFill/>
          </a:ln>
          <a:effectLst>
            <a:outerShdw blurRad="292100" dist="139700" dir="2700000" algn="tl" rotWithShape="0">
              <a:srgbClr val="333333">
                <a:alpha val="65000"/>
              </a:srgbClr>
            </a:outerShdw>
          </a:effectLst>
        </p:spPr>
      </p:pic>
      <p:sp>
        <p:nvSpPr>
          <p:cNvPr id="15" name="Rounded Rectangle 14"/>
          <p:cNvSpPr/>
          <p:nvPr/>
        </p:nvSpPr>
        <p:spPr>
          <a:xfrm>
            <a:off x="4225081" y="1673865"/>
            <a:ext cx="1316378" cy="24508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438952" y="5112857"/>
            <a:ext cx="2909555" cy="85006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p:cNvCxnSpPr>
            <a:cxnSpLocks/>
          </p:cNvCxnSpPr>
          <p:nvPr/>
        </p:nvCxnSpPr>
        <p:spPr>
          <a:xfrm flipH="1">
            <a:off x="1893729" y="1918952"/>
            <a:ext cx="2331353" cy="309093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rot="18477144">
            <a:off x="666958" y="3574224"/>
            <a:ext cx="4134118" cy="212718"/>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600" b="1" dirty="0">
                <a:solidFill>
                  <a:schemeClr val="tx1"/>
                </a:solidFill>
                <a:latin typeface="Calibri" panose="020F0502020204030204" pitchFamily="34" charset="0"/>
                <a:ea typeface="Calibri" panose="020F0502020204030204" pitchFamily="34" charset="0"/>
              </a:rPr>
              <a:t>يعتمد على عقد</a:t>
            </a:r>
            <a:endParaRPr lang="en-US" sz="1400" b="1" dirty="0">
              <a:solidFill>
                <a:schemeClr val="tx1"/>
              </a:solidFill>
            </a:endParaRPr>
          </a:p>
        </p:txBody>
      </p:sp>
      <p:sp>
        <p:nvSpPr>
          <p:cNvPr id="21" name="Rectangle 20"/>
          <p:cNvSpPr/>
          <p:nvPr/>
        </p:nvSpPr>
        <p:spPr>
          <a:xfrm>
            <a:off x="7160437" y="1093738"/>
            <a:ext cx="4193363" cy="3747308"/>
          </a:xfrm>
          <a:prstGeom prst="rect">
            <a:avLst/>
          </a:prstGeom>
        </p:spPr>
        <p:txBody>
          <a:bodyPr wrap="square">
            <a:spAutoFit/>
          </a:bodyPr>
          <a:lstStyle/>
          <a:p>
            <a:pPr marL="187960" marR="57785" indent="635" algn="r" rtl="1">
              <a:lnSpc>
                <a:spcPct val="143000"/>
              </a:lnSpc>
              <a:spcBef>
                <a:spcPts val="960"/>
              </a:spcBef>
              <a:spcAft>
                <a:spcPts val="290"/>
              </a:spcAft>
            </a:pPr>
            <a:r>
              <a:rPr lang="ar-EG" sz="1600" b="1" kern="100" dirty="0" smtClean="0">
                <a:solidFill>
                  <a:srgbClr val="212529"/>
                </a:solidFill>
                <a:latin typeface="Calibri" panose="020F0502020204030204" pitchFamily="34" charset="0"/>
                <a:ea typeface="Times New Roman" panose="02020603050405020304" pitchFamily="18" charset="0"/>
                <a:cs typeface="Times New Roman" panose="02020603050405020304" pitchFamily="18" charset="0"/>
              </a:rPr>
              <a:t>ت</a:t>
            </a:r>
            <a:r>
              <a:rPr lang="ar-SA" sz="1600" b="1" kern="100" dirty="0" smtClean="0">
                <a:solidFill>
                  <a:srgbClr val="212529"/>
                </a:solidFill>
                <a:latin typeface="Calibri" panose="020F0502020204030204" pitchFamily="34" charset="0"/>
                <a:ea typeface="Times New Roman" panose="02020603050405020304" pitchFamily="18" charset="0"/>
                <a:cs typeface="Times New Roman" panose="02020603050405020304" pitchFamily="18" charset="0"/>
              </a:rPr>
              <a:t>ستخدم </a:t>
            </a:r>
            <a:r>
              <a:rPr lang="ar-SA" sz="1600" b="1" kern="100" dirty="0">
                <a:solidFill>
                  <a:srgbClr val="212529"/>
                </a:solidFill>
                <a:latin typeface="Calibri" panose="020F0502020204030204" pitchFamily="34" charset="0"/>
                <a:ea typeface="Times New Roman" panose="02020603050405020304" pitchFamily="18" charset="0"/>
                <a:cs typeface="Times New Roman" panose="02020603050405020304" pitchFamily="18" charset="0"/>
              </a:rPr>
              <a:t>هذه الحركة لتسجيل مستخلص المقاول  ويتم التسجيل </a:t>
            </a:r>
            <a:r>
              <a:rPr lang="ar-EG" sz="1600" b="1" kern="100" dirty="0" smtClean="0">
                <a:solidFill>
                  <a:srgbClr val="212529"/>
                </a:solidFill>
                <a:latin typeface="Calibri" panose="020F0502020204030204" pitchFamily="34" charset="0"/>
                <a:ea typeface="Times New Roman" panose="02020603050405020304" pitchFamily="18" charset="0"/>
                <a:cs typeface="Times New Roman" panose="02020603050405020304" pitchFamily="18" charset="0"/>
              </a:rPr>
              <a:t>ك</a:t>
            </a:r>
            <a:r>
              <a:rPr lang="ar-SA" sz="1600" b="1" kern="100" dirty="0" smtClean="0">
                <a:solidFill>
                  <a:srgbClr val="212529"/>
                </a:solidFill>
                <a:latin typeface="Calibri" panose="020F0502020204030204" pitchFamily="34" charset="0"/>
                <a:ea typeface="Times New Roman" panose="02020603050405020304" pitchFamily="18" charset="0"/>
                <a:cs typeface="Times New Roman" panose="02020603050405020304" pitchFamily="18" charset="0"/>
              </a:rPr>
              <a:t>التالي </a:t>
            </a:r>
            <a:endParaRPr lang="en-US" sz="1400" b="1" kern="100" dirty="0">
              <a:solidFill>
                <a:srgbClr val="000000"/>
              </a:solidFill>
              <a:latin typeface="Calibri" panose="020F0502020204030204" pitchFamily="34" charset="0"/>
              <a:ea typeface="Calibri" panose="020F0502020204030204" pitchFamily="34" charset="0"/>
            </a:endParaRPr>
          </a:p>
          <a:p>
            <a:pPr marL="342900" marR="0" lvl="0" indent="-342900" algn="r" rtl="1" fontAlgn="base">
              <a:lnSpc>
                <a:spcPct val="110000"/>
              </a:lnSpc>
              <a:spcBef>
                <a:spcPts val="0"/>
              </a:spcBef>
              <a:spcAft>
                <a:spcPts val="740"/>
              </a:spcAft>
              <a:buClr>
                <a:srgbClr val="212529"/>
              </a:buClr>
              <a:buSzPts val="1200"/>
              <a:buFont typeface="+mj-lt"/>
              <a:buAutoNum type="arabicPeriod"/>
            </a:pPr>
            <a:r>
              <a:rPr lang="ar-SA" sz="1600" b="1" kern="100" dirty="0">
                <a:solidFill>
                  <a:srgbClr val="212529"/>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تحديد المقاول  </a:t>
            </a:r>
            <a:endParaRPr lang="en-US" sz="1400" b="1"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r" rtl="1" fontAlgn="base">
              <a:lnSpc>
                <a:spcPct val="110000"/>
              </a:lnSpc>
              <a:spcBef>
                <a:spcPts val="0"/>
              </a:spcBef>
              <a:spcAft>
                <a:spcPts val="740"/>
              </a:spcAft>
              <a:buClr>
                <a:srgbClr val="212529"/>
              </a:buClr>
              <a:buSzPts val="1200"/>
              <a:buFont typeface="+mj-lt"/>
              <a:buAutoNum type="arabicPeriod"/>
            </a:pPr>
            <a:r>
              <a:rPr lang="ar-SA" sz="1600" b="1" kern="100" dirty="0">
                <a:solidFill>
                  <a:srgbClr val="212529"/>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تحديد مجموعة الأصناف  </a:t>
            </a:r>
            <a:endParaRPr lang="en-US" sz="1400" b="1"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r" rtl="1" fontAlgn="base">
              <a:lnSpc>
                <a:spcPct val="110000"/>
              </a:lnSpc>
              <a:spcBef>
                <a:spcPts val="0"/>
              </a:spcBef>
              <a:spcAft>
                <a:spcPts val="740"/>
              </a:spcAft>
              <a:buClr>
                <a:srgbClr val="212529"/>
              </a:buClr>
              <a:buSzPts val="1200"/>
              <a:buFont typeface="+mj-lt"/>
              <a:buAutoNum type="arabicPeriod"/>
            </a:pPr>
            <a:r>
              <a:rPr lang="ar-SA" sz="1600" b="1" kern="100" dirty="0">
                <a:solidFill>
                  <a:srgbClr val="212529"/>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البيان : في حالة وجود أي وصف للحركة المسجله  </a:t>
            </a:r>
            <a:endParaRPr lang="en-US" sz="1400" b="1"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r" rtl="1" fontAlgn="base">
              <a:lnSpc>
                <a:spcPct val="149000"/>
              </a:lnSpc>
              <a:spcBef>
                <a:spcPts val="0"/>
              </a:spcBef>
              <a:spcAft>
                <a:spcPts val="240"/>
              </a:spcAft>
              <a:buClr>
                <a:srgbClr val="212529"/>
              </a:buClr>
              <a:buSzPts val="1200"/>
              <a:buFont typeface="+mj-lt"/>
              <a:buAutoNum type="arabicPeriod"/>
            </a:pPr>
            <a:r>
              <a:rPr lang="ar-SA" sz="1600" b="1" kern="100" dirty="0">
                <a:solidFill>
                  <a:srgbClr val="212529"/>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صرف فقط : في حالة عمل تعليه للصرف اعتماد علي نسبة الصرف السابقه وتطبق هذه الحاله علي البنود التي لها مراحل فقط  </a:t>
            </a:r>
            <a:endParaRPr lang="en-US" sz="1400" b="1"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r" rtl="1" fontAlgn="base">
              <a:lnSpc>
                <a:spcPct val="143000"/>
              </a:lnSpc>
              <a:spcBef>
                <a:spcPts val="0"/>
              </a:spcBef>
              <a:spcAft>
                <a:spcPts val="230"/>
              </a:spcAft>
              <a:buClr>
                <a:srgbClr val="212529"/>
              </a:buClr>
              <a:buSzPts val="1200"/>
              <a:buFont typeface="+mj-lt"/>
              <a:buAutoNum type="arabicPeriod"/>
            </a:pPr>
            <a:r>
              <a:rPr lang="ar-SA" sz="1600" b="1" kern="100" dirty="0">
                <a:solidFill>
                  <a:srgbClr val="212529"/>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مصروات متعدده : إحضار الحسابات الخاصه بالمقاول بنسبه كل بند اعتمادا علي بيانات العقد  </a:t>
            </a:r>
            <a:endParaRPr lang="ar-EG" sz="1600" b="1" kern="100" dirty="0">
              <a:solidFill>
                <a:srgbClr val="212529"/>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4780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2- حركات برنامج المستخلصات</a:t>
            </a:r>
            <a:br>
              <a:rPr lang="ar-EG" dirty="0"/>
            </a:br>
            <a:r>
              <a:rPr lang="ar-EG" dirty="0">
                <a:solidFill>
                  <a:schemeClr val="accent1">
                    <a:lumMod val="75000"/>
                  </a:schemeClr>
                </a:solidFill>
              </a:rPr>
              <a:t>اصناف مستخلص</a:t>
            </a: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820" y="368347"/>
            <a:ext cx="6040191" cy="6161242"/>
          </a:xfrm>
          <a:prstGeom prst="rect">
            <a:avLst/>
          </a:prstGeom>
          <a:ln>
            <a:noFill/>
          </a:ln>
          <a:effectLst>
            <a:outerShdw blurRad="292100" dist="139700" dir="2700000" algn="tl" rotWithShape="0">
              <a:srgbClr val="333333">
                <a:alpha val="65000"/>
              </a:srgbClr>
            </a:outerShdw>
          </a:effectLst>
        </p:spPr>
      </p:pic>
      <p:sp>
        <p:nvSpPr>
          <p:cNvPr id="15" name="Rounded Rectangle 14"/>
          <p:cNvSpPr/>
          <p:nvPr/>
        </p:nvSpPr>
        <p:spPr>
          <a:xfrm>
            <a:off x="231820" y="602283"/>
            <a:ext cx="809421" cy="439289"/>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3656134" y="5613389"/>
            <a:ext cx="2439866" cy="397803"/>
          </a:xfrm>
          <a:prstGeom prst="roundRect">
            <a:avLst>
              <a:gd name="adj" fmla="val 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941713" y="1164719"/>
            <a:ext cx="4412087" cy="5792098"/>
          </a:xfrm>
          <a:prstGeom prst="rect">
            <a:avLst/>
          </a:prstGeom>
        </p:spPr>
        <p:txBody>
          <a:bodyPr wrap="square">
            <a:spAutoFit/>
          </a:bodyPr>
          <a:lstStyle/>
          <a:p>
            <a:pPr marL="342900" marR="0" lvl="0" indent="-342900" algn="r" rtl="1" fontAlgn="base">
              <a:lnSpc>
                <a:spcPct val="143000"/>
              </a:lnSpc>
              <a:spcBef>
                <a:spcPts val="0"/>
              </a:spcBef>
              <a:spcAft>
                <a:spcPts val="230"/>
              </a:spcAft>
              <a:buClr>
                <a:srgbClr val="212529"/>
              </a:buClr>
              <a:buSzPts val="1200"/>
              <a:buFont typeface="+mj-lt"/>
              <a:buAutoNum type="arabicPeriod"/>
            </a:pPr>
            <a:r>
              <a:rPr lang="ar-EG"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تحديد بند الأعمال  </a:t>
            </a:r>
          </a:p>
          <a:p>
            <a:pPr marL="342900" marR="0" lvl="0" indent="-342900" algn="r" rtl="1" fontAlgn="base">
              <a:lnSpc>
                <a:spcPct val="143000"/>
              </a:lnSpc>
              <a:spcBef>
                <a:spcPts val="0"/>
              </a:spcBef>
              <a:spcAft>
                <a:spcPts val="230"/>
              </a:spcAft>
              <a:buClr>
                <a:srgbClr val="212529"/>
              </a:buClr>
              <a:buSzPts val="1200"/>
              <a:buFont typeface="+mj-lt"/>
              <a:buAutoNum type="arabicPeriod"/>
            </a:pPr>
            <a:r>
              <a:rPr lang="ar-EG"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تحديد الكميه :  كتابة كمية المقايسه  </a:t>
            </a:r>
          </a:p>
          <a:p>
            <a:pPr marL="342900" marR="0" lvl="0" indent="-342900" algn="r" rtl="1" fontAlgn="base">
              <a:lnSpc>
                <a:spcPct val="143000"/>
              </a:lnSpc>
              <a:spcBef>
                <a:spcPts val="0"/>
              </a:spcBef>
              <a:spcAft>
                <a:spcPts val="230"/>
              </a:spcAft>
              <a:buClr>
                <a:srgbClr val="212529"/>
              </a:buClr>
              <a:buSzPts val="1200"/>
              <a:buFont typeface="+mj-lt"/>
              <a:buAutoNum type="arabicPeriod"/>
            </a:pPr>
            <a:r>
              <a:rPr lang="ar-EG"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 في حالة إذا كان البند له مراحل يتم الدخول علي تابة المراحل وتسجيل نسبة الانجاز ونسبة الصرف وبالتالي سيتم احتساب الاجمالي ثم بعد ذلك الضغط علي مصروفات متعدده والضغط علي احضار الحسابات وإحضار القيم وبالتالي سيتم احتساب صافي المستخلص  </a:t>
            </a:r>
          </a:p>
          <a:p>
            <a:pPr marL="342900" marR="0" lvl="0" indent="-342900" algn="r" rtl="1" fontAlgn="base">
              <a:lnSpc>
                <a:spcPct val="143000"/>
              </a:lnSpc>
              <a:spcBef>
                <a:spcPts val="0"/>
              </a:spcBef>
              <a:spcAft>
                <a:spcPts val="230"/>
              </a:spcAft>
              <a:buClr>
                <a:srgbClr val="212529"/>
              </a:buClr>
              <a:buSzPts val="1200"/>
              <a:buFont typeface="+mj-lt"/>
              <a:buAutoNum type="arabicPeriod"/>
            </a:pPr>
            <a:r>
              <a:rPr lang="ar-EG"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rPr>
              <a:t>تحديد مركز تكلفة المستخلص </a:t>
            </a:r>
          </a:p>
          <a:p>
            <a:pPr marL="342900" marR="0" lvl="0" indent="-342900" algn="r" rtl="1" fontAlgn="base">
              <a:lnSpc>
                <a:spcPct val="143000"/>
              </a:lnSpc>
              <a:spcBef>
                <a:spcPts val="0"/>
              </a:spcBef>
              <a:spcAft>
                <a:spcPts val="230"/>
              </a:spcAft>
              <a:buClr>
                <a:srgbClr val="212529"/>
              </a:buClr>
              <a:buSzPts val="1200"/>
              <a:buFont typeface="+mj-lt"/>
              <a:buAutoNum type="arabicPeriod"/>
            </a:pPr>
            <a:r>
              <a:rPr lang="ar-SA" dirty="0" smtClean="0"/>
              <a:t> </a:t>
            </a:r>
            <a:r>
              <a:rPr lang="ar-SA" dirty="0"/>
              <a:t>في حالة اذا كان البند ليس له مراحل فبالتالي يتم كتابة الكميه الفعليه المنفذه بالفعل وبالتالي سيقوم البرنامج باحتساب نسبة التنفيذ تلقائيا والعكس صحيح  </a:t>
            </a:r>
            <a:endParaRPr lang="en-US" dirty="0"/>
          </a:p>
          <a:p>
            <a:pPr marL="342900" marR="0" lvl="0" indent="-342900" algn="r" rtl="1" fontAlgn="base">
              <a:lnSpc>
                <a:spcPct val="143000"/>
              </a:lnSpc>
              <a:spcBef>
                <a:spcPts val="0"/>
              </a:spcBef>
              <a:spcAft>
                <a:spcPts val="230"/>
              </a:spcAft>
              <a:buClr>
                <a:srgbClr val="212529"/>
              </a:buClr>
              <a:buSzPts val="1200"/>
              <a:buFont typeface="+mj-lt"/>
              <a:buAutoNum type="arabicPeriod"/>
            </a:pPr>
            <a:endParaRPr lang="ar-EG" kern="100" dirty="0" smtClean="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r" rtl="1" fontAlgn="base">
              <a:lnSpc>
                <a:spcPct val="143000"/>
              </a:lnSpc>
              <a:spcBef>
                <a:spcPts val="0"/>
              </a:spcBef>
              <a:spcAft>
                <a:spcPts val="230"/>
              </a:spcAft>
              <a:buClr>
                <a:srgbClr val="212529"/>
              </a:buClr>
              <a:buSzPts val="1200"/>
              <a:buFont typeface="+mj-lt"/>
              <a:buAutoNum type="arabicPeriod"/>
            </a:pPr>
            <a:endParaRPr lang="en-US" kern="100" dirty="0">
              <a:solidFill>
                <a:srgbClr val="000000"/>
              </a:solidFill>
              <a:uFill>
                <a:solidFill>
                  <a:srgbClr val="000000"/>
                </a:solidFill>
              </a:uFill>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037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38200" y="368347"/>
            <a:ext cx="10515600" cy="453581"/>
          </a:xfrm>
        </p:spPr>
        <p:txBody>
          <a:bodyPr/>
          <a:lstStyle/>
          <a:p>
            <a:r>
              <a:rPr lang="ar-EG" dirty="0"/>
              <a:t>2- حركات برنامج المستخلصات</a:t>
            </a:r>
            <a:br>
              <a:rPr lang="ar-EG" dirty="0"/>
            </a:br>
            <a:r>
              <a:rPr lang="ar-EG" dirty="0">
                <a:solidFill>
                  <a:schemeClr val="accent1">
                    <a:lumMod val="75000"/>
                  </a:schemeClr>
                </a:solidFill>
              </a:rPr>
              <a:t>تخفيض مستخلص</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524" y="1292663"/>
            <a:ext cx="8923610" cy="4832788"/>
          </a:xfrm>
          <a:prstGeom prst="rect">
            <a:avLst/>
          </a:prstGeom>
        </p:spPr>
      </p:pic>
      <p:sp>
        <p:nvSpPr>
          <p:cNvPr id="9" name="Rounded Rectangle 8"/>
          <p:cNvSpPr/>
          <p:nvPr/>
        </p:nvSpPr>
        <p:spPr>
          <a:xfrm>
            <a:off x="7379595" y="2027454"/>
            <a:ext cx="1674253" cy="30362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545466" y="5035851"/>
            <a:ext cx="3565328" cy="643731"/>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H="1">
            <a:off x="4056846" y="2110652"/>
            <a:ext cx="3322749" cy="292498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rot="19110894">
            <a:off x="2942910" y="3899505"/>
            <a:ext cx="4060231" cy="212718"/>
          </a:xfrm>
          <a:prstGeom prst="round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EG" sz="1400" b="1" dirty="0">
                <a:solidFill>
                  <a:schemeClr val="tx1"/>
                </a:solidFill>
                <a:latin typeface="Calibri" panose="020F0502020204030204" pitchFamily="34" charset="0"/>
                <a:ea typeface="Calibri" panose="020F0502020204030204" pitchFamily="34" charset="0"/>
              </a:rPr>
              <a:t>       يعتمد على مستخلص مقاول</a:t>
            </a:r>
            <a:endParaRPr lang="en-US" sz="1200" b="1" dirty="0">
              <a:solidFill>
                <a:schemeClr val="tx1"/>
              </a:solidFill>
            </a:endParaRPr>
          </a:p>
        </p:txBody>
      </p:sp>
    </p:spTree>
    <p:extLst>
      <p:ext uri="{BB962C8B-B14F-4D97-AF65-F5344CB8AC3E}">
        <p14:creationId xmlns:p14="http://schemas.microsoft.com/office/powerpoint/2010/main" val="2596474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25321" y="381226"/>
            <a:ext cx="10515600" cy="453581"/>
          </a:xfrm>
        </p:spPr>
        <p:txBody>
          <a:bodyPr/>
          <a:lstStyle/>
          <a:p>
            <a:r>
              <a:rPr lang="ar-EG" dirty="0" smtClean="0"/>
              <a:t>3- </a:t>
            </a:r>
            <a:r>
              <a:rPr lang="ar-EG" sz="2800" dirty="0" smtClean="0">
                <a:cs typeface="+mj-cs"/>
              </a:rPr>
              <a:t>تقارير</a:t>
            </a:r>
            <a:r>
              <a:rPr lang="ar-EG" dirty="0"/>
              <a:t/>
            </a:r>
            <a:br>
              <a:rPr lang="ar-EG" dirty="0"/>
            </a:br>
            <a:endParaRPr lang="ar-EG" dirty="0">
              <a:solidFill>
                <a:schemeClr val="accent1">
                  <a:lumMod val="75000"/>
                </a:schemeClr>
              </a:solidFill>
            </a:endParaRPr>
          </a:p>
        </p:txBody>
      </p:sp>
      <p:sp>
        <p:nvSpPr>
          <p:cNvPr id="16" name="Oval 15">
            <a:extLst>
              <a:ext uri="{FF2B5EF4-FFF2-40B4-BE49-F238E27FC236}">
                <a16:creationId xmlns:a16="http://schemas.microsoft.com/office/drawing/2014/main" xmlns="" id="{207D47AD-7303-D600-1D87-E3F2F0D1B931}"/>
              </a:ext>
            </a:extLst>
          </p:cNvPr>
          <p:cNvSpPr/>
          <p:nvPr/>
        </p:nvSpPr>
        <p:spPr>
          <a:xfrm>
            <a:off x="3135243" y="2781948"/>
            <a:ext cx="1397000" cy="1130300"/>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تقرير متابعة العقود</a:t>
            </a:r>
            <a:endParaRPr lang="en-US" dirty="0"/>
          </a:p>
        </p:txBody>
      </p:sp>
      <p:sp>
        <p:nvSpPr>
          <p:cNvPr id="17" name="Oval 16">
            <a:extLst>
              <a:ext uri="{FF2B5EF4-FFF2-40B4-BE49-F238E27FC236}">
                <a16:creationId xmlns:a16="http://schemas.microsoft.com/office/drawing/2014/main" xmlns="" id="{5AA712EE-531C-83B0-9705-623CB94AFC3A}"/>
              </a:ext>
            </a:extLst>
          </p:cNvPr>
          <p:cNvSpPr/>
          <p:nvPr/>
        </p:nvSpPr>
        <p:spPr>
          <a:xfrm>
            <a:off x="5269580" y="4128992"/>
            <a:ext cx="1397000" cy="1130300"/>
          </a:xfrm>
          <a:prstGeom prst="ellipse">
            <a:avLst/>
          </a:prstGeom>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sz="1800" dirty="0"/>
              <a:t>تحليل حسابات الموردين</a:t>
            </a:r>
            <a:endParaRPr lang="en-US" dirty="0"/>
          </a:p>
        </p:txBody>
      </p:sp>
      <p:sp>
        <p:nvSpPr>
          <p:cNvPr id="18" name="Oval 17">
            <a:extLst>
              <a:ext uri="{FF2B5EF4-FFF2-40B4-BE49-F238E27FC236}">
                <a16:creationId xmlns:a16="http://schemas.microsoft.com/office/drawing/2014/main" xmlns="" id="{52E72226-07E7-AA5E-5318-18A3CE93FD6B}"/>
              </a:ext>
            </a:extLst>
          </p:cNvPr>
          <p:cNvSpPr/>
          <p:nvPr/>
        </p:nvSpPr>
        <p:spPr>
          <a:xfrm>
            <a:off x="3135243" y="1451517"/>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طباعة </a:t>
            </a:r>
            <a:r>
              <a:rPr lang="ar-EG" sz="1600" b="1" dirty="0"/>
              <a:t>المستخلص</a:t>
            </a:r>
            <a:endParaRPr lang="en-US" dirty="0"/>
          </a:p>
        </p:txBody>
      </p:sp>
      <p:sp>
        <p:nvSpPr>
          <p:cNvPr id="19" name="Oval 18">
            <a:extLst>
              <a:ext uri="{FF2B5EF4-FFF2-40B4-BE49-F238E27FC236}">
                <a16:creationId xmlns:a16="http://schemas.microsoft.com/office/drawing/2014/main" xmlns="" id="{53B02EF3-DFFF-1E50-5719-86E89817601C}"/>
              </a:ext>
            </a:extLst>
          </p:cNvPr>
          <p:cNvSpPr/>
          <p:nvPr/>
        </p:nvSpPr>
        <p:spPr>
          <a:xfrm>
            <a:off x="7314302" y="4128992"/>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t>كشف </a:t>
            </a:r>
            <a:r>
              <a:rPr lang="ar-EG" sz="1600" b="1" dirty="0"/>
              <a:t>ح/الموردين بالحركة</a:t>
            </a:r>
            <a:endParaRPr lang="en-US" b="1" dirty="0"/>
          </a:p>
        </p:txBody>
      </p:sp>
      <p:sp>
        <p:nvSpPr>
          <p:cNvPr id="20" name="Oval 19">
            <a:extLst>
              <a:ext uri="{FF2B5EF4-FFF2-40B4-BE49-F238E27FC236}">
                <a16:creationId xmlns:a16="http://schemas.microsoft.com/office/drawing/2014/main" xmlns="" id="{4A77A585-C15C-0660-599C-25F2D76C42C6}"/>
              </a:ext>
            </a:extLst>
          </p:cNvPr>
          <p:cNvSpPr/>
          <p:nvPr/>
        </p:nvSpPr>
        <p:spPr>
          <a:xfrm>
            <a:off x="5209837" y="2781948"/>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sz="1600" b="1" dirty="0"/>
              <a:t>تقرير مستخلصات عقد نسبة</a:t>
            </a:r>
            <a:endParaRPr lang="en-US" sz="1600" dirty="0"/>
          </a:p>
        </p:txBody>
      </p:sp>
      <p:sp>
        <p:nvSpPr>
          <p:cNvPr id="21" name="Oval 20">
            <a:extLst>
              <a:ext uri="{FF2B5EF4-FFF2-40B4-BE49-F238E27FC236}">
                <a16:creationId xmlns:a16="http://schemas.microsoft.com/office/drawing/2014/main" xmlns="" id="{4DD6B82E-8EF5-9E5F-825D-F2AE0E66B775}"/>
              </a:ext>
            </a:extLst>
          </p:cNvPr>
          <p:cNvSpPr/>
          <p:nvPr/>
        </p:nvSpPr>
        <p:spPr>
          <a:xfrm>
            <a:off x="1060649" y="2781948"/>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cs typeface="+mj-cs"/>
              </a:rPr>
              <a:t>رصيد الموازنة الاجمالى</a:t>
            </a:r>
            <a:endParaRPr lang="en-US" dirty="0"/>
          </a:p>
        </p:txBody>
      </p:sp>
      <p:sp>
        <p:nvSpPr>
          <p:cNvPr id="22" name="Oval 21">
            <a:extLst>
              <a:ext uri="{FF2B5EF4-FFF2-40B4-BE49-F238E27FC236}">
                <a16:creationId xmlns:a16="http://schemas.microsoft.com/office/drawing/2014/main" xmlns="" id="{A80BA751-5D58-B909-98D8-A4B6B830AFB9}"/>
              </a:ext>
            </a:extLst>
          </p:cNvPr>
          <p:cNvSpPr/>
          <p:nvPr/>
        </p:nvSpPr>
        <p:spPr>
          <a:xfrm>
            <a:off x="3224858" y="4128992"/>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rPr>
              <a:t>كشف حساب جهات</a:t>
            </a:r>
            <a:endParaRPr lang="en-US" dirty="0"/>
          </a:p>
        </p:txBody>
      </p:sp>
      <p:sp>
        <p:nvSpPr>
          <p:cNvPr id="23" name="Oval 22">
            <a:extLst>
              <a:ext uri="{FF2B5EF4-FFF2-40B4-BE49-F238E27FC236}">
                <a16:creationId xmlns:a16="http://schemas.microsoft.com/office/drawing/2014/main" xmlns="" id="{A1759B84-8A8A-9036-3D1E-B6FA86FEC41D}"/>
              </a:ext>
            </a:extLst>
          </p:cNvPr>
          <p:cNvSpPr/>
          <p:nvPr/>
        </p:nvSpPr>
        <p:spPr>
          <a:xfrm>
            <a:off x="1060649" y="4128992"/>
            <a:ext cx="1516487"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latin typeface="Calibri" panose="020F0502020204030204" pitchFamily="34" charset="0"/>
                <a:ea typeface="Calibri" panose="020F0502020204030204" pitchFamily="34" charset="0"/>
                <a:cs typeface="+mj-cs"/>
              </a:rPr>
              <a:t>شجرة الاعتماد</a:t>
            </a:r>
            <a:endParaRPr lang="en-US" dirty="0"/>
          </a:p>
        </p:txBody>
      </p:sp>
      <p:sp>
        <p:nvSpPr>
          <p:cNvPr id="24" name="Oval 23">
            <a:extLst>
              <a:ext uri="{FF2B5EF4-FFF2-40B4-BE49-F238E27FC236}">
                <a16:creationId xmlns:a16="http://schemas.microsoft.com/office/drawing/2014/main" xmlns="" id="{75FE5D8C-D5C1-142E-E515-202C75211889}"/>
              </a:ext>
            </a:extLst>
          </p:cNvPr>
          <p:cNvSpPr/>
          <p:nvPr/>
        </p:nvSpPr>
        <p:spPr>
          <a:xfrm>
            <a:off x="1060649" y="1451517"/>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تقرير بالعقود كمية</a:t>
            </a:r>
            <a:endParaRPr lang="en-US" dirty="0"/>
          </a:p>
        </p:txBody>
      </p:sp>
      <p:sp>
        <p:nvSpPr>
          <p:cNvPr id="25" name="Oval 24">
            <a:extLst>
              <a:ext uri="{FF2B5EF4-FFF2-40B4-BE49-F238E27FC236}">
                <a16:creationId xmlns:a16="http://schemas.microsoft.com/office/drawing/2014/main" xmlns="" id="{64385A2F-8374-D0D7-8D3B-63FB3EFDF48C}"/>
              </a:ext>
            </a:extLst>
          </p:cNvPr>
          <p:cNvSpPr/>
          <p:nvPr/>
        </p:nvSpPr>
        <p:spPr>
          <a:xfrm>
            <a:off x="5209837" y="1451517"/>
            <a:ext cx="1397000" cy="1130300"/>
          </a:xfrm>
          <a:prstGeom prst="ellips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حافظة حركات </a:t>
            </a:r>
            <a:r>
              <a:rPr lang="ar-EG" sz="1400" b="1" dirty="0"/>
              <a:t>المستخلصات</a:t>
            </a:r>
            <a:endParaRPr lang="en-US" dirty="0"/>
          </a:p>
        </p:txBody>
      </p:sp>
      <p:sp>
        <p:nvSpPr>
          <p:cNvPr id="26" name="Oval 25">
            <a:extLst>
              <a:ext uri="{FF2B5EF4-FFF2-40B4-BE49-F238E27FC236}">
                <a16:creationId xmlns:a16="http://schemas.microsoft.com/office/drawing/2014/main" xmlns="" id="{5B3BCA7A-FDD0-FA65-0CA2-6AAFAB3CC190}"/>
              </a:ext>
            </a:extLst>
          </p:cNvPr>
          <p:cNvSpPr/>
          <p:nvPr/>
        </p:nvSpPr>
        <p:spPr>
          <a:xfrm>
            <a:off x="9376162" y="4128992"/>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EG" dirty="0"/>
              <a:t>كشف حساب الموردين</a:t>
            </a:r>
            <a:endParaRPr lang="en-US" dirty="0"/>
          </a:p>
        </p:txBody>
      </p:sp>
      <p:sp>
        <p:nvSpPr>
          <p:cNvPr id="27" name="Oval 26">
            <a:extLst>
              <a:ext uri="{FF2B5EF4-FFF2-40B4-BE49-F238E27FC236}">
                <a16:creationId xmlns:a16="http://schemas.microsoft.com/office/drawing/2014/main" xmlns="" id="{81EFD63F-F3A2-0AF2-0E6A-47524CB2B0AE}"/>
              </a:ext>
            </a:extLst>
          </p:cNvPr>
          <p:cNvSpPr/>
          <p:nvPr/>
        </p:nvSpPr>
        <p:spPr>
          <a:xfrm>
            <a:off x="9376162" y="2781948"/>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تقرير بالعقود نسبة</a:t>
            </a:r>
            <a:endParaRPr lang="en-US" dirty="0"/>
          </a:p>
        </p:txBody>
      </p:sp>
      <p:sp>
        <p:nvSpPr>
          <p:cNvPr id="28" name="Oval 27">
            <a:extLst>
              <a:ext uri="{FF2B5EF4-FFF2-40B4-BE49-F238E27FC236}">
                <a16:creationId xmlns:a16="http://schemas.microsoft.com/office/drawing/2014/main" xmlns="" id="{C1B50BAD-E08A-9244-6A68-99AE2F0ABE9B}"/>
              </a:ext>
            </a:extLst>
          </p:cNvPr>
          <p:cNvSpPr/>
          <p:nvPr/>
        </p:nvSpPr>
        <p:spPr>
          <a:xfrm>
            <a:off x="9376162" y="1451517"/>
            <a:ext cx="1397000" cy="11303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كشف حساب مقاول </a:t>
            </a:r>
            <a:endParaRPr lang="en-US" dirty="0"/>
          </a:p>
        </p:txBody>
      </p:sp>
      <p:sp>
        <p:nvSpPr>
          <p:cNvPr id="29" name="Oval 28">
            <a:extLst>
              <a:ext uri="{FF2B5EF4-FFF2-40B4-BE49-F238E27FC236}">
                <a16:creationId xmlns:a16="http://schemas.microsoft.com/office/drawing/2014/main" xmlns="" id="{84311932-FC05-5073-6F4F-C8C3C7EF1E92}"/>
              </a:ext>
            </a:extLst>
          </p:cNvPr>
          <p:cNvSpPr/>
          <p:nvPr/>
        </p:nvSpPr>
        <p:spPr>
          <a:xfrm>
            <a:off x="7301567" y="1451517"/>
            <a:ext cx="1397000" cy="11303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ارصدة المقاولين بالحركة</a:t>
            </a:r>
            <a:endParaRPr lang="en-US" dirty="0"/>
          </a:p>
        </p:txBody>
      </p:sp>
      <p:sp>
        <p:nvSpPr>
          <p:cNvPr id="30" name="Oval 29">
            <a:extLst>
              <a:ext uri="{FF2B5EF4-FFF2-40B4-BE49-F238E27FC236}">
                <a16:creationId xmlns:a16="http://schemas.microsoft.com/office/drawing/2014/main" xmlns="" id="{A95DFCED-736A-D623-1F33-1A1519B9F5BA}"/>
              </a:ext>
            </a:extLst>
          </p:cNvPr>
          <p:cNvSpPr/>
          <p:nvPr/>
        </p:nvSpPr>
        <p:spPr>
          <a:xfrm>
            <a:off x="7301567" y="2781948"/>
            <a:ext cx="1397000" cy="11303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rtl="1"/>
            <a:r>
              <a:rPr lang="ar-EG" b="1" dirty="0"/>
              <a:t>تقرير </a:t>
            </a:r>
            <a:r>
              <a:rPr lang="ar-EG" sz="1600" b="1" dirty="0"/>
              <a:t>مستخلصات</a:t>
            </a:r>
            <a:r>
              <a:rPr lang="ar-EG" b="1" dirty="0"/>
              <a:t> عقد كمية</a:t>
            </a:r>
            <a:endParaRPr lang="en-US" dirty="0"/>
          </a:p>
        </p:txBody>
      </p:sp>
    </p:spTree>
    <p:extLst>
      <p:ext uri="{BB962C8B-B14F-4D97-AF65-F5344CB8AC3E}">
        <p14:creationId xmlns:p14="http://schemas.microsoft.com/office/powerpoint/2010/main" val="2190632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722290" y="507304"/>
            <a:ext cx="10515600" cy="453581"/>
          </a:xfrm>
        </p:spPr>
        <p:txBody>
          <a:bodyPr/>
          <a:lstStyle/>
          <a:p>
            <a:r>
              <a:rPr lang="ar-EG" dirty="0" smtClean="0"/>
              <a:t>3- </a:t>
            </a:r>
            <a:r>
              <a:rPr lang="ar-EG" dirty="0"/>
              <a:t>تقارير</a:t>
            </a:r>
            <a:r>
              <a:rPr lang="ar-EG" dirty="0">
                <a:solidFill>
                  <a:schemeClr val="accent1">
                    <a:lumMod val="75000"/>
                  </a:schemeClr>
                </a:solidFill>
              </a:rPr>
              <a:t>                                          كشف حساب مقاول </a:t>
            </a:r>
            <a:r>
              <a:rPr lang="ar-EG" dirty="0"/>
              <a:t/>
            </a:r>
            <a:br>
              <a:rPr lang="ar-EG" dirty="0"/>
            </a:br>
            <a:endParaRPr lang="ar-EG" dirty="0">
              <a:solidFill>
                <a:schemeClr val="accent1">
                  <a:lumMod val="75000"/>
                </a:schemeClr>
              </a:solidFill>
            </a:endParaRPr>
          </a:p>
        </p:txBody>
      </p:sp>
      <p:pic>
        <p:nvPicPr>
          <p:cNvPr id="32" name="Picture 3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4470" y="734095"/>
            <a:ext cx="8002714" cy="59242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095182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25321" y="381226"/>
            <a:ext cx="10515600" cy="453581"/>
          </a:xfrm>
        </p:spPr>
        <p:txBody>
          <a:bodyPr/>
          <a:lstStyle/>
          <a:p>
            <a:r>
              <a:rPr lang="ar-EG" dirty="0" smtClean="0"/>
              <a:t>3- </a:t>
            </a:r>
            <a:r>
              <a:rPr lang="ar-EG" dirty="0"/>
              <a:t>تقارير     </a:t>
            </a:r>
            <a:r>
              <a:rPr lang="ar-EG" dirty="0" smtClean="0"/>
              <a:t>                         </a:t>
            </a:r>
            <a:r>
              <a:rPr lang="ar-EG" dirty="0">
                <a:solidFill>
                  <a:schemeClr val="accent1">
                    <a:lumMod val="75000"/>
                  </a:schemeClr>
                </a:solidFill>
              </a:rPr>
              <a:t>ارصدة المقاولين بالحركة</a:t>
            </a:r>
            <a:r>
              <a:rPr lang="ar-EG" dirty="0"/>
              <a:t/>
            </a:r>
            <a:br>
              <a:rPr lang="ar-EG" dirty="0"/>
            </a:br>
            <a:endParaRPr lang="ar-EG" dirty="0">
              <a:solidFill>
                <a:schemeClr val="accent1">
                  <a:lumMod val="75000"/>
                </a:schemeClr>
              </a:solidFill>
            </a:endParaRPr>
          </a:p>
        </p:txBody>
      </p:sp>
      <p:pic>
        <p:nvPicPr>
          <p:cNvPr id="31" name="Picture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4134" y="834807"/>
            <a:ext cx="7408655" cy="57961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9103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3E20C6-6194-B051-DFEB-FF053FE9F5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490342A3-6193-9CCA-C239-43A8AC0C6FEA}"/>
              </a:ext>
            </a:extLst>
          </p:cNvPr>
          <p:cNvSpPr>
            <a:spLocks noGrp="1"/>
          </p:cNvSpPr>
          <p:nvPr>
            <p:ph type="title"/>
          </p:nvPr>
        </p:nvSpPr>
        <p:spPr>
          <a:xfrm>
            <a:off x="825321" y="381226"/>
            <a:ext cx="10515600" cy="453581"/>
          </a:xfrm>
        </p:spPr>
        <p:txBody>
          <a:bodyPr/>
          <a:lstStyle/>
          <a:p>
            <a:r>
              <a:rPr lang="ar-EG" dirty="0" smtClean="0"/>
              <a:t>3- </a:t>
            </a:r>
            <a:r>
              <a:rPr lang="ar-EG" dirty="0"/>
              <a:t>تقارير                     </a:t>
            </a:r>
            <a:r>
              <a:rPr lang="ar-EG" dirty="0" smtClean="0"/>
              <a:t>               </a:t>
            </a:r>
            <a:r>
              <a:rPr lang="ar-EG" dirty="0">
                <a:solidFill>
                  <a:schemeClr val="accent1">
                    <a:lumMod val="75000"/>
                  </a:schemeClr>
                </a:solidFill>
              </a:rPr>
              <a:t>حافظة حركات المستخلصات</a:t>
            </a:r>
            <a:r>
              <a:rPr lang="ar-EG" dirty="0"/>
              <a:t/>
            </a:r>
            <a:br>
              <a:rPr lang="ar-EG" dirty="0"/>
            </a:br>
            <a:endParaRPr lang="ar-EG" dirty="0">
              <a:solidFill>
                <a:schemeClr val="accent1">
                  <a:lumMod val="75000"/>
                </a:schemeClr>
              </a:solidFill>
            </a:endParaRPr>
          </a:p>
        </p:txBody>
      </p:sp>
      <p:pic>
        <p:nvPicPr>
          <p:cNvPr id="31" name="Picture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8808" y="834807"/>
            <a:ext cx="8370195" cy="58553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02754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xmlns="" id="{D2F42F16-BC22-CD8B-D163-3DE709EEF2AA}"/>
              </a:ext>
            </a:extLst>
          </p:cNvPr>
          <p:cNvSpPr/>
          <p:nvPr/>
        </p:nvSpPr>
        <p:spPr>
          <a:xfrm>
            <a:off x="6097723" y="943174"/>
            <a:ext cx="5503606" cy="4737020"/>
          </a:xfrm>
          <a:prstGeom prst="rect">
            <a:avLst/>
          </a:prstGeom>
          <a:solidFill>
            <a:schemeClr val="bg1"/>
          </a:solidFill>
          <a:ln>
            <a:solidFill>
              <a:srgbClr val="2E30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xmlns="" id="{5F977381-0E1E-7576-1978-4FEA2B57B4BD}"/>
              </a:ext>
            </a:extLst>
          </p:cNvPr>
          <p:cNvSpPr/>
          <p:nvPr/>
        </p:nvSpPr>
        <p:spPr>
          <a:xfrm>
            <a:off x="510723" y="4263499"/>
            <a:ext cx="5503606" cy="1416695"/>
          </a:xfrm>
          <a:prstGeom prst="rect">
            <a:avLst/>
          </a:prstGeom>
          <a:solidFill>
            <a:schemeClr val="bg1"/>
          </a:solidFill>
          <a:ln>
            <a:solidFill>
              <a:srgbClr val="2E30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2617FA99-1A73-04D0-DF25-71CAC9FFC039}"/>
              </a:ext>
            </a:extLst>
          </p:cNvPr>
          <p:cNvSpPr/>
          <p:nvPr/>
        </p:nvSpPr>
        <p:spPr>
          <a:xfrm>
            <a:off x="510502" y="934041"/>
            <a:ext cx="5503606" cy="3210431"/>
          </a:xfrm>
          <a:prstGeom prst="rect">
            <a:avLst/>
          </a:prstGeom>
          <a:solidFill>
            <a:schemeClr val="bg1"/>
          </a:solidFill>
          <a:ln>
            <a:solidFill>
              <a:srgbClr val="2E30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B779754-B273-0353-F74F-1781ECFF0F4B}"/>
              </a:ext>
            </a:extLst>
          </p:cNvPr>
          <p:cNvSpPr>
            <a:spLocks noGrp="1"/>
          </p:cNvSpPr>
          <p:nvPr>
            <p:ph type="title"/>
          </p:nvPr>
        </p:nvSpPr>
        <p:spPr>
          <a:xfrm>
            <a:off x="838200" y="97888"/>
            <a:ext cx="10515600" cy="453581"/>
          </a:xfrm>
        </p:spPr>
        <p:txBody>
          <a:bodyPr/>
          <a:lstStyle/>
          <a:p>
            <a:r>
              <a:rPr lang="ar-SA" sz="2800" dirty="0"/>
              <a:t>أمثلة من عملائنا لبرنامج </a:t>
            </a:r>
            <a:r>
              <a:rPr lang="ar-EG" sz="2800" dirty="0" smtClean="0"/>
              <a:t>المقاولات</a:t>
            </a:r>
            <a:endParaRPr lang="en-US" dirty="0"/>
          </a:p>
        </p:txBody>
      </p:sp>
      <p:sp>
        <p:nvSpPr>
          <p:cNvPr id="9" name="TextBox 8">
            <a:extLst>
              <a:ext uri="{FF2B5EF4-FFF2-40B4-BE49-F238E27FC236}">
                <a16:creationId xmlns:a16="http://schemas.microsoft.com/office/drawing/2014/main" xmlns="" id="{FB7AC390-B25C-B4C9-4AEA-7C2780F8CA44}"/>
              </a:ext>
            </a:extLst>
          </p:cNvPr>
          <p:cNvSpPr txBox="1"/>
          <p:nvPr/>
        </p:nvSpPr>
        <p:spPr>
          <a:xfrm>
            <a:off x="2086538" y="2918452"/>
            <a:ext cx="2231923" cy="369332"/>
          </a:xfrm>
          <a:prstGeom prst="rect">
            <a:avLst/>
          </a:prstGeom>
          <a:noFill/>
        </p:spPr>
        <p:txBody>
          <a:bodyPr wrap="square">
            <a:spAutoFit/>
          </a:bodyPr>
          <a:lstStyle/>
          <a:p>
            <a:pPr algn="ctr"/>
            <a:r>
              <a:rPr lang="ar-EG" sz="1800" dirty="0" smtClean="0">
                <a:cs typeface="+mj-cs"/>
              </a:rPr>
              <a:t>المراسم لتنمية الاصول</a:t>
            </a:r>
            <a:endParaRPr lang="en-US" dirty="0"/>
          </a:p>
        </p:txBody>
      </p:sp>
      <p:sp>
        <p:nvSpPr>
          <p:cNvPr id="11" name="TextBox 10">
            <a:extLst>
              <a:ext uri="{FF2B5EF4-FFF2-40B4-BE49-F238E27FC236}">
                <a16:creationId xmlns:a16="http://schemas.microsoft.com/office/drawing/2014/main" xmlns="" id="{ECDA9726-5609-CE11-A2E1-8DB5B2199D45}"/>
              </a:ext>
            </a:extLst>
          </p:cNvPr>
          <p:cNvSpPr txBox="1"/>
          <p:nvPr/>
        </p:nvSpPr>
        <p:spPr>
          <a:xfrm>
            <a:off x="1568086" y="2677888"/>
            <a:ext cx="3307730" cy="369332"/>
          </a:xfrm>
          <a:prstGeom prst="rect">
            <a:avLst/>
          </a:prstGeom>
          <a:noFill/>
        </p:spPr>
        <p:txBody>
          <a:bodyPr wrap="square">
            <a:spAutoFit/>
          </a:bodyPr>
          <a:lstStyle/>
          <a:p>
            <a:pPr algn="ctr"/>
            <a:r>
              <a:rPr lang="ar-EG" dirty="0">
                <a:cs typeface="+mj-cs"/>
              </a:rPr>
              <a:t>المراسم للتطوير العقارى</a:t>
            </a:r>
            <a:endParaRPr lang="en-US" dirty="0"/>
          </a:p>
        </p:txBody>
      </p:sp>
      <p:sp>
        <p:nvSpPr>
          <p:cNvPr id="15" name="TextBox 14">
            <a:extLst>
              <a:ext uri="{FF2B5EF4-FFF2-40B4-BE49-F238E27FC236}">
                <a16:creationId xmlns:a16="http://schemas.microsoft.com/office/drawing/2014/main" xmlns="" id="{4FEB483A-885A-32E1-F39F-30614047A953}"/>
              </a:ext>
            </a:extLst>
          </p:cNvPr>
          <p:cNvSpPr txBox="1"/>
          <p:nvPr/>
        </p:nvSpPr>
        <p:spPr>
          <a:xfrm>
            <a:off x="1890966" y="3166247"/>
            <a:ext cx="2661970" cy="369332"/>
          </a:xfrm>
          <a:prstGeom prst="rect">
            <a:avLst/>
          </a:prstGeom>
          <a:noFill/>
        </p:spPr>
        <p:txBody>
          <a:bodyPr wrap="square">
            <a:spAutoFit/>
          </a:bodyPr>
          <a:lstStyle/>
          <a:p>
            <a:pPr algn="ctr"/>
            <a:r>
              <a:rPr lang="ar-EG" sz="1800" dirty="0" smtClean="0">
                <a:cs typeface="+mj-cs"/>
              </a:rPr>
              <a:t>المراسم للتسويق</a:t>
            </a:r>
            <a:endParaRPr lang="ar-EG" sz="1800" b="1" dirty="0">
              <a:cs typeface="+mj-cs"/>
            </a:endParaRPr>
          </a:p>
        </p:txBody>
      </p:sp>
      <p:sp>
        <p:nvSpPr>
          <p:cNvPr id="17" name="TextBox 16">
            <a:extLst>
              <a:ext uri="{FF2B5EF4-FFF2-40B4-BE49-F238E27FC236}">
                <a16:creationId xmlns:a16="http://schemas.microsoft.com/office/drawing/2014/main" xmlns="" id="{9A1245F0-B57B-3E2C-6638-96813CA972A8}"/>
              </a:ext>
            </a:extLst>
          </p:cNvPr>
          <p:cNvSpPr txBox="1"/>
          <p:nvPr/>
        </p:nvSpPr>
        <p:spPr>
          <a:xfrm>
            <a:off x="1233626" y="3458035"/>
            <a:ext cx="3750498" cy="369332"/>
          </a:xfrm>
          <a:prstGeom prst="rect">
            <a:avLst/>
          </a:prstGeom>
          <a:noFill/>
        </p:spPr>
        <p:txBody>
          <a:bodyPr wrap="square">
            <a:spAutoFit/>
          </a:bodyPr>
          <a:lstStyle/>
          <a:p>
            <a:pPr algn="ctr" rtl="1"/>
            <a:r>
              <a:rPr lang="ar-EG" sz="1800" dirty="0" smtClean="0">
                <a:cs typeface="+mj-cs"/>
              </a:rPr>
              <a:t>المراسم لادارة وصيانة الأصول</a:t>
            </a:r>
            <a:endParaRPr lang="ar-EG" sz="1800" b="1" dirty="0">
              <a:cs typeface="+mj-cs"/>
            </a:endParaRPr>
          </a:p>
        </p:txBody>
      </p:sp>
      <p:sp>
        <p:nvSpPr>
          <p:cNvPr id="24" name="TextBox 23">
            <a:extLst>
              <a:ext uri="{FF2B5EF4-FFF2-40B4-BE49-F238E27FC236}">
                <a16:creationId xmlns:a16="http://schemas.microsoft.com/office/drawing/2014/main" xmlns="" id="{E71C9513-EEA1-9541-27C9-69629806FB14}"/>
              </a:ext>
            </a:extLst>
          </p:cNvPr>
          <p:cNvSpPr txBox="1"/>
          <p:nvPr/>
        </p:nvSpPr>
        <p:spPr>
          <a:xfrm>
            <a:off x="5933400" y="3114723"/>
            <a:ext cx="2848602" cy="369332"/>
          </a:xfrm>
          <a:prstGeom prst="rect">
            <a:avLst/>
          </a:prstGeom>
          <a:noFill/>
        </p:spPr>
        <p:txBody>
          <a:bodyPr wrap="square">
            <a:spAutoFit/>
          </a:bodyPr>
          <a:lstStyle/>
          <a:p>
            <a:pPr algn="ctr" rtl="1"/>
            <a:r>
              <a:rPr lang="ar-EG" dirty="0"/>
              <a:t>شركة النيل </a:t>
            </a:r>
            <a:r>
              <a:rPr lang="ar-EG" dirty="0" smtClean="0"/>
              <a:t>العامة لانشاء الطرق</a:t>
            </a:r>
            <a:endParaRPr lang="ar-EG" dirty="0"/>
          </a:p>
        </p:txBody>
      </p:sp>
      <p:sp>
        <p:nvSpPr>
          <p:cNvPr id="31" name="TextBox 30">
            <a:extLst>
              <a:ext uri="{FF2B5EF4-FFF2-40B4-BE49-F238E27FC236}">
                <a16:creationId xmlns:a16="http://schemas.microsoft.com/office/drawing/2014/main" xmlns="" id="{F19D08E7-21CE-5B48-12B4-F5AD7C01DF92}"/>
              </a:ext>
            </a:extLst>
          </p:cNvPr>
          <p:cNvSpPr txBox="1"/>
          <p:nvPr/>
        </p:nvSpPr>
        <p:spPr>
          <a:xfrm>
            <a:off x="8242042" y="1085949"/>
            <a:ext cx="1432734" cy="369332"/>
          </a:xfrm>
          <a:prstGeom prst="rect">
            <a:avLst/>
          </a:prstGeom>
          <a:effectLst>
            <a:glow rad="63500">
              <a:schemeClr val="accent5">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a:spAutoFit/>
          </a:bodyPr>
          <a:lstStyle/>
          <a:p>
            <a:pPr algn="ctr" rtl="1"/>
            <a:r>
              <a:rPr lang="ar-EG" sz="1800" dirty="0" smtClean="0">
                <a:cs typeface="+mj-cs"/>
              </a:rPr>
              <a:t>القطاع الحكومى</a:t>
            </a:r>
            <a:endParaRPr lang="ar-EG" sz="1800" dirty="0">
              <a:cs typeface="+mj-cs"/>
            </a:endParaRPr>
          </a:p>
        </p:txBody>
      </p:sp>
      <p:sp>
        <p:nvSpPr>
          <p:cNvPr id="33" name="TextBox 32">
            <a:extLst>
              <a:ext uri="{FF2B5EF4-FFF2-40B4-BE49-F238E27FC236}">
                <a16:creationId xmlns:a16="http://schemas.microsoft.com/office/drawing/2014/main" xmlns="" id="{0437E0E2-1F14-5A9F-97AD-73F636C64CE9}"/>
              </a:ext>
            </a:extLst>
          </p:cNvPr>
          <p:cNvSpPr txBox="1"/>
          <p:nvPr/>
        </p:nvSpPr>
        <p:spPr>
          <a:xfrm>
            <a:off x="8861474" y="3103118"/>
            <a:ext cx="2575907" cy="369332"/>
          </a:xfrm>
          <a:prstGeom prst="rect">
            <a:avLst/>
          </a:prstGeom>
          <a:noFill/>
        </p:spPr>
        <p:txBody>
          <a:bodyPr wrap="square">
            <a:spAutoFit/>
          </a:bodyPr>
          <a:lstStyle/>
          <a:p>
            <a:pPr algn="ctr" rtl="1"/>
            <a:r>
              <a:rPr lang="ar-EG" sz="1800" dirty="0" smtClean="0">
                <a:cs typeface="+mj-cs"/>
              </a:rPr>
              <a:t>شركة النيل للطرق والكبارى</a:t>
            </a:r>
            <a:endParaRPr lang="ar-EG" sz="1800" dirty="0">
              <a:cs typeface="+mj-cs"/>
            </a:endParaRPr>
          </a:p>
        </p:txBody>
      </p:sp>
      <p:sp>
        <p:nvSpPr>
          <p:cNvPr id="28" name="TextBox 27">
            <a:extLst>
              <a:ext uri="{FF2B5EF4-FFF2-40B4-BE49-F238E27FC236}">
                <a16:creationId xmlns:a16="http://schemas.microsoft.com/office/drawing/2014/main" xmlns="" id="{9A1245F0-B57B-3E2C-6638-96813CA972A8}"/>
              </a:ext>
            </a:extLst>
          </p:cNvPr>
          <p:cNvSpPr txBox="1"/>
          <p:nvPr/>
        </p:nvSpPr>
        <p:spPr>
          <a:xfrm>
            <a:off x="1233626" y="3739225"/>
            <a:ext cx="3827770" cy="369332"/>
          </a:xfrm>
          <a:prstGeom prst="rect">
            <a:avLst/>
          </a:prstGeom>
          <a:noFill/>
        </p:spPr>
        <p:txBody>
          <a:bodyPr wrap="square">
            <a:spAutoFit/>
          </a:bodyPr>
          <a:lstStyle/>
          <a:p>
            <a:pPr algn="ctr" rtl="1"/>
            <a:r>
              <a:rPr lang="ar-EG" sz="1800" dirty="0" smtClean="0">
                <a:cs typeface="+mj-cs"/>
              </a:rPr>
              <a:t>الاستثمارية للخرسانة الجاهزة</a:t>
            </a:r>
            <a:endParaRPr lang="ar-EG" sz="1800" b="1" dirty="0">
              <a:cs typeface="+mj-cs"/>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6671" y="1287837"/>
            <a:ext cx="3514725" cy="1304925"/>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708" y="4312203"/>
            <a:ext cx="1887318" cy="1277838"/>
          </a:xfrm>
          <a:prstGeom prst="rect">
            <a:avLst/>
          </a:prstGeom>
          <a:ln>
            <a:noFill/>
          </a:ln>
          <a:effectLst>
            <a:outerShdw blurRad="292100" dist="139700" dir="2700000" algn="tl" rotWithShape="0">
              <a:srgbClr val="333333">
                <a:alpha val="65000"/>
              </a:srgbClr>
            </a:outerShdw>
          </a:effectLst>
        </p:spPr>
      </p:pic>
      <p:sp>
        <p:nvSpPr>
          <p:cNvPr id="32" name="TextBox 31">
            <a:extLst>
              <a:ext uri="{FF2B5EF4-FFF2-40B4-BE49-F238E27FC236}">
                <a16:creationId xmlns:a16="http://schemas.microsoft.com/office/drawing/2014/main" xmlns="" id="{9A1245F0-B57B-3E2C-6638-96813CA972A8}"/>
              </a:ext>
            </a:extLst>
          </p:cNvPr>
          <p:cNvSpPr txBox="1"/>
          <p:nvPr/>
        </p:nvSpPr>
        <p:spPr>
          <a:xfrm>
            <a:off x="3287599" y="4971163"/>
            <a:ext cx="2893749" cy="369332"/>
          </a:xfrm>
          <a:prstGeom prst="rect">
            <a:avLst/>
          </a:prstGeom>
          <a:noFill/>
        </p:spPr>
        <p:txBody>
          <a:bodyPr wrap="square">
            <a:spAutoFit/>
          </a:bodyPr>
          <a:lstStyle/>
          <a:p>
            <a:pPr algn="ctr" rtl="1"/>
            <a:r>
              <a:rPr lang="ar-EG" sz="1800" dirty="0" smtClean="0">
                <a:cs typeface="+mj-cs"/>
              </a:rPr>
              <a:t>سيتى ايدج للتطوير العقارى</a:t>
            </a:r>
            <a:endParaRPr lang="ar-EG" sz="1800" b="1" dirty="0">
              <a:cs typeface="+mj-cs"/>
            </a:endParaRPr>
          </a:p>
        </p:txBody>
      </p:sp>
      <p:pic>
        <p:nvPicPr>
          <p:cNvPr id="34" name="Picture 33"/>
          <p:cNvPicPr/>
          <p:nvPr/>
        </p:nvPicPr>
        <p:blipFill>
          <a:blip r:embed="rId4">
            <a:extLst>
              <a:ext uri="{28A0092B-C50C-407E-A947-70E740481C1C}">
                <a14:useLocalDpi xmlns:a14="http://schemas.microsoft.com/office/drawing/2010/main" val="0"/>
              </a:ext>
            </a:extLst>
          </a:blip>
          <a:stretch>
            <a:fillRect/>
          </a:stretch>
        </p:blipFill>
        <p:spPr>
          <a:xfrm>
            <a:off x="6431236" y="1579478"/>
            <a:ext cx="1852930" cy="1309370"/>
          </a:xfrm>
          <a:prstGeom prst="rect">
            <a:avLst/>
          </a:prstGeom>
          <a:ln>
            <a:noFill/>
          </a:ln>
          <a:effectLst>
            <a:outerShdw blurRad="292100" dist="139700" dir="2700000" algn="tl" rotWithShape="0">
              <a:srgbClr val="333333">
                <a:alpha val="65000"/>
              </a:srgbClr>
            </a:outerShdw>
          </a:effectLst>
        </p:spPr>
      </p:pic>
      <p:pic>
        <p:nvPicPr>
          <p:cNvPr id="35" name="Picture 34"/>
          <p:cNvPicPr/>
          <p:nvPr/>
        </p:nvPicPr>
        <p:blipFill>
          <a:blip r:embed="rId5">
            <a:extLst>
              <a:ext uri="{28A0092B-C50C-407E-A947-70E740481C1C}">
                <a14:useLocalDpi xmlns:a14="http://schemas.microsoft.com/office/drawing/2010/main" val="0"/>
              </a:ext>
            </a:extLst>
          </a:blip>
          <a:stretch>
            <a:fillRect/>
          </a:stretch>
        </p:blipFill>
        <p:spPr>
          <a:xfrm>
            <a:off x="6334901" y="3623240"/>
            <a:ext cx="1907141" cy="1280518"/>
          </a:xfrm>
          <a:prstGeom prst="rect">
            <a:avLst/>
          </a:prstGeom>
          <a:ln>
            <a:noFill/>
          </a:ln>
          <a:effectLst>
            <a:outerShdw blurRad="292100" dist="139700" dir="2700000" algn="tl" rotWithShape="0">
              <a:srgbClr val="333333">
                <a:alpha val="65000"/>
              </a:srgbClr>
            </a:outerShdw>
          </a:effectLst>
        </p:spPr>
      </p:pic>
      <p:sp>
        <p:nvSpPr>
          <p:cNvPr id="39" name="TextBox 38">
            <a:extLst>
              <a:ext uri="{FF2B5EF4-FFF2-40B4-BE49-F238E27FC236}">
                <a16:creationId xmlns:a16="http://schemas.microsoft.com/office/drawing/2014/main" xmlns="" id="{E71C9513-EEA1-9541-27C9-69629806FB14}"/>
              </a:ext>
            </a:extLst>
          </p:cNvPr>
          <p:cNvSpPr txBox="1"/>
          <p:nvPr/>
        </p:nvSpPr>
        <p:spPr>
          <a:xfrm>
            <a:off x="6018251" y="5182129"/>
            <a:ext cx="2706068" cy="369332"/>
          </a:xfrm>
          <a:prstGeom prst="rect">
            <a:avLst/>
          </a:prstGeom>
          <a:noFill/>
        </p:spPr>
        <p:txBody>
          <a:bodyPr wrap="square">
            <a:spAutoFit/>
          </a:bodyPr>
          <a:lstStyle/>
          <a:p>
            <a:pPr algn="ctr" rtl="1"/>
            <a:r>
              <a:rPr lang="ar-EG" dirty="0" smtClean="0"/>
              <a:t>الشركة المصرية للصيانة الذاتية</a:t>
            </a:r>
            <a:endParaRPr lang="ar-EG" dirty="0"/>
          </a:p>
        </p:txBody>
      </p:sp>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20756" y="1573258"/>
            <a:ext cx="1792528" cy="1308614"/>
          </a:xfrm>
          <a:prstGeom prst="rect">
            <a:avLst/>
          </a:prstGeom>
          <a:ln>
            <a:noFill/>
          </a:ln>
          <a:effectLst>
            <a:outerShdw blurRad="292100" dist="139700" dir="2700000" algn="tl" rotWithShape="0">
              <a:srgbClr val="333333">
                <a:alpha val="65000"/>
              </a:srgbClr>
            </a:outerShdw>
          </a:effectLst>
        </p:spPr>
      </p:pic>
      <p:pic>
        <p:nvPicPr>
          <p:cNvPr id="8" name="Picture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20756" y="3615225"/>
            <a:ext cx="1874994" cy="1189982"/>
          </a:xfrm>
          <a:prstGeom prst="rect">
            <a:avLst/>
          </a:prstGeom>
          <a:ln>
            <a:noFill/>
          </a:ln>
          <a:effectLst>
            <a:outerShdw blurRad="292100" dist="139700" dir="2700000" algn="tl" rotWithShape="0">
              <a:srgbClr val="333333">
                <a:alpha val="65000"/>
              </a:srgbClr>
            </a:outerShdw>
          </a:effectLst>
        </p:spPr>
      </p:pic>
      <p:sp>
        <p:nvSpPr>
          <p:cNvPr id="40" name="TextBox 39">
            <a:extLst>
              <a:ext uri="{FF2B5EF4-FFF2-40B4-BE49-F238E27FC236}">
                <a16:creationId xmlns:a16="http://schemas.microsoft.com/office/drawing/2014/main" xmlns="" id="{E71C9513-EEA1-9541-27C9-69629806FB14}"/>
              </a:ext>
            </a:extLst>
          </p:cNvPr>
          <p:cNvSpPr txBox="1"/>
          <p:nvPr/>
        </p:nvSpPr>
        <p:spPr>
          <a:xfrm>
            <a:off x="8641478" y="5177835"/>
            <a:ext cx="3018818" cy="369332"/>
          </a:xfrm>
          <a:prstGeom prst="rect">
            <a:avLst/>
          </a:prstGeom>
          <a:noFill/>
          <a:effectLst>
            <a:glow rad="63500">
              <a:schemeClr val="accent5">
                <a:satMod val="175000"/>
                <a:alpha val="40000"/>
              </a:schemeClr>
            </a:glow>
          </a:effectLst>
        </p:spPr>
        <p:txBody>
          <a:bodyPr wrap="square">
            <a:spAutoFit/>
          </a:bodyPr>
          <a:lstStyle/>
          <a:p>
            <a:pPr algn="ctr" rtl="1"/>
            <a:r>
              <a:rPr lang="ar-EG" dirty="0"/>
              <a:t>شركة النيل </a:t>
            </a:r>
            <a:r>
              <a:rPr lang="ar-EG" dirty="0" smtClean="0"/>
              <a:t>العامة للطرق الصحراوية</a:t>
            </a:r>
            <a:endParaRPr lang="ar-EG" dirty="0"/>
          </a:p>
        </p:txBody>
      </p:sp>
    </p:spTree>
    <p:extLst>
      <p:ext uri="{BB962C8B-B14F-4D97-AF65-F5344CB8AC3E}">
        <p14:creationId xmlns:p14="http://schemas.microsoft.com/office/powerpoint/2010/main" val="1279619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xmlns="" id="{D2F42F16-BC22-CD8B-D163-3DE709EEF2AA}"/>
              </a:ext>
            </a:extLst>
          </p:cNvPr>
          <p:cNvSpPr/>
          <p:nvPr/>
        </p:nvSpPr>
        <p:spPr>
          <a:xfrm>
            <a:off x="6097723" y="943174"/>
            <a:ext cx="5503606" cy="4737020"/>
          </a:xfrm>
          <a:prstGeom prst="rect">
            <a:avLst/>
          </a:prstGeom>
          <a:solidFill>
            <a:schemeClr val="bg1"/>
          </a:solidFill>
          <a:ln>
            <a:solidFill>
              <a:srgbClr val="2E30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xmlns="" id="{5F977381-0E1E-7576-1978-4FEA2B57B4BD}"/>
              </a:ext>
            </a:extLst>
          </p:cNvPr>
          <p:cNvSpPr/>
          <p:nvPr/>
        </p:nvSpPr>
        <p:spPr>
          <a:xfrm>
            <a:off x="510723" y="4489569"/>
            <a:ext cx="5503606" cy="1190625"/>
          </a:xfrm>
          <a:prstGeom prst="rect">
            <a:avLst/>
          </a:prstGeom>
          <a:solidFill>
            <a:schemeClr val="bg1"/>
          </a:solidFill>
          <a:ln>
            <a:solidFill>
              <a:srgbClr val="2E30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xmlns="" id="{2617FA99-1A73-04D0-DF25-71CAC9FFC039}"/>
              </a:ext>
            </a:extLst>
          </p:cNvPr>
          <p:cNvSpPr/>
          <p:nvPr/>
        </p:nvSpPr>
        <p:spPr>
          <a:xfrm>
            <a:off x="533399" y="938783"/>
            <a:ext cx="5503606" cy="3210431"/>
          </a:xfrm>
          <a:prstGeom prst="rect">
            <a:avLst/>
          </a:prstGeom>
          <a:solidFill>
            <a:schemeClr val="bg1"/>
          </a:solidFill>
          <a:ln>
            <a:solidFill>
              <a:srgbClr val="2E309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B779754-B273-0353-F74F-1781ECFF0F4B}"/>
              </a:ext>
            </a:extLst>
          </p:cNvPr>
          <p:cNvSpPr>
            <a:spLocks noGrp="1"/>
          </p:cNvSpPr>
          <p:nvPr>
            <p:ph type="title"/>
          </p:nvPr>
        </p:nvSpPr>
        <p:spPr/>
        <p:txBody>
          <a:bodyPr/>
          <a:lstStyle/>
          <a:p>
            <a:r>
              <a:rPr lang="ar-SA" dirty="0"/>
              <a:t>أمثلة من عملائنا لبرنامج </a:t>
            </a:r>
            <a:r>
              <a:rPr lang="ar-EG"/>
              <a:t>المقاولات</a:t>
            </a:r>
            <a:endParaRPr lang="en-US" dirty="0"/>
          </a:p>
        </p:txBody>
      </p:sp>
      <p:pic>
        <p:nvPicPr>
          <p:cNvPr id="5" name="Picture 4">
            <a:extLst>
              <a:ext uri="{FF2B5EF4-FFF2-40B4-BE49-F238E27FC236}">
                <a16:creationId xmlns:a16="http://schemas.microsoft.com/office/drawing/2014/main" xmlns="" id="{25713678-A59E-1F52-9EBC-B7AA27EEF4EC}"/>
              </a:ext>
            </a:extLst>
          </p:cNvPr>
          <p:cNvPicPr>
            <a:picLocks noChangeAspect="1"/>
          </p:cNvPicPr>
          <p:nvPr/>
        </p:nvPicPr>
        <p:blipFill>
          <a:blip r:embed="rId2"/>
          <a:stretch>
            <a:fillRect/>
          </a:stretch>
        </p:blipFill>
        <p:spPr>
          <a:xfrm>
            <a:off x="1235713" y="1033518"/>
            <a:ext cx="3962862" cy="1540371"/>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xmlns="" id="{2B9FDA60-EB3B-5C33-D6BA-716E5A523DBD}"/>
              </a:ext>
            </a:extLst>
          </p:cNvPr>
          <p:cNvSpPr txBox="1"/>
          <p:nvPr/>
        </p:nvSpPr>
        <p:spPr>
          <a:xfrm>
            <a:off x="2020528" y="2464507"/>
            <a:ext cx="2384323" cy="369332"/>
          </a:xfrm>
          <a:prstGeom prst="rect">
            <a:avLst/>
          </a:prstGeom>
          <a:noFill/>
        </p:spPr>
        <p:txBody>
          <a:bodyPr wrap="square">
            <a:spAutoFit/>
          </a:bodyPr>
          <a:lstStyle/>
          <a:p>
            <a:r>
              <a:rPr lang="ar-EG" sz="1800" dirty="0">
                <a:cs typeface="+mj-cs"/>
              </a:rPr>
              <a:t>سوديك للأستثمار العقارى </a:t>
            </a:r>
            <a:endParaRPr lang="en-US" dirty="0"/>
          </a:p>
        </p:txBody>
      </p:sp>
      <p:sp>
        <p:nvSpPr>
          <p:cNvPr id="9" name="TextBox 8">
            <a:extLst>
              <a:ext uri="{FF2B5EF4-FFF2-40B4-BE49-F238E27FC236}">
                <a16:creationId xmlns:a16="http://schemas.microsoft.com/office/drawing/2014/main" xmlns="" id="{FB7AC390-B25C-B4C9-4AEA-7C2780F8CA44}"/>
              </a:ext>
            </a:extLst>
          </p:cNvPr>
          <p:cNvSpPr txBox="1"/>
          <p:nvPr/>
        </p:nvSpPr>
        <p:spPr>
          <a:xfrm>
            <a:off x="2010233" y="2752412"/>
            <a:ext cx="2231923" cy="369332"/>
          </a:xfrm>
          <a:prstGeom prst="rect">
            <a:avLst/>
          </a:prstGeom>
          <a:noFill/>
        </p:spPr>
        <p:txBody>
          <a:bodyPr wrap="square">
            <a:spAutoFit/>
          </a:bodyPr>
          <a:lstStyle/>
          <a:p>
            <a:r>
              <a:rPr lang="ar-EG" sz="1800" dirty="0">
                <a:cs typeface="+mj-cs"/>
              </a:rPr>
              <a:t>سوريال للاستثمار العقارى </a:t>
            </a:r>
            <a:endParaRPr lang="en-US" dirty="0"/>
          </a:p>
        </p:txBody>
      </p:sp>
      <p:sp>
        <p:nvSpPr>
          <p:cNvPr id="11" name="TextBox 10">
            <a:extLst>
              <a:ext uri="{FF2B5EF4-FFF2-40B4-BE49-F238E27FC236}">
                <a16:creationId xmlns:a16="http://schemas.microsoft.com/office/drawing/2014/main" xmlns="" id="{ECDA9726-5609-CE11-A2E1-8DB5B2199D45}"/>
              </a:ext>
            </a:extLst>
          </p:cNvPr>
          <p:cNvSpPr txBox="1"/>
          <p:nvPr/>
        </p:nvSpPr>
        <p:spPr>
          <a:xfrm>
            <a:off x="1399711" y="3482081"/>
            <a:ext cx="3953490" cy="369332"/>
          </a:xfrm>
          <a:prstGeom prst="rect">
            <a:avLst/>
          </a:prstGeom>
          <a:noFill/>
        </p:spPr>
        <p:txBody>
          <a:bodyPr wrap="square">
            <a:spAutoFit/>
          </a:bodyPr>
          <a:lstStyle/>
          <a:p>
            <a:r>
              <a:rPr lang="ar-EG" sz="1800" dirty="0">
                <a:cs typeface="+mj-cs"/>
              </a:rPr>
              <a:t>السادس من اكتوبر للتنمية و الاستثمار </a:t>
            </a:r>
            <a:r>
              <a:rPr lang="ar-EG" sz="1800" b="1" dirty="0">
                <a:cs typeface="+mj-cs"/>
              </a:rPr>
              <a:t>(سوديك)</a:t>
            </a:r>
            <a:endParaRPr lang="en-US" dirty="0"/>
          </a:p>
        </p:txBody>
      </p:sp>
      <p:sp>
        <p:nvSpPr>
          <p:cNvPr id="13" name="TextBox 12">
            <a:extLst>
              <a:ext uri="{FF2B5EF4-FFF2-40B4-BE49-F238E27FC236}">
                <a16:creationId xmlns:a16="http://schemas.microsoft.com/office/drawing/2014/main" xmlns="" id="{181F78B1-9DB6-4423-2745-0F5B47136B7E}"/>
              </a:ext>
            </a:extLst>
          </p:cNvPr>
          <p:cNvSpPr txBox="1"/>
          <p:nvPr/>
        </p:nvSpPr>
        <p:spPr>
          <a:xfrm>
            <a:off x="164689" y="3769767"/>
            <a:ext cx="6096000" cy="369332"/>
          </a:xfrm>
          <a:prstGeom prst="rect">
            <a:avLst/>
          </a:prstGeom>
          <a:noFill/>
        </p:spPr>
        <p:txBody>
          <a:bodyPr wrap="square">
            <a:spAutoFit/>
          </a:bodyPr>
          <a:lstStyle/>
          <a:p>
            <a:pPr algn="ctr" rtl="1"/>
            <a:r>
              <a:rPr lang="ar-EG" sz="1800" dirty="0">
                <a:cs typeface="+mj-cs"/>
              </a:rPr>
              <a:t>السادس من اكتوبر للتنمية و المشروعات العقارية سوريل </a:t>
            </a:r>
            <a:r>
              <a:rPr lang="ar-EG" sz="1800" b="1" dirty="0">
                <a:cs typeface="+mj-cs"/>
              </a:rPr>
              <a:t>(سوديك)</a:t>
            </a:r>
          </a:p>
        </p:txBody>
      </p:sp>
      <p:sp>
        <p:nvSpPr>
          <p:cNvPr id="15" name="TextBox 14">
            <a:extLst>
              <a:ext uri="{FF2B5EF4-FFF2-40B4-BE49-F238E27FC236}">
                <a16:creationId xmlns:a16="http://schemas.microsoft.com/office/drawing/2014/main" xmlns="" id="{4FEB483A-885A-32E1-F39F-30614047A953}"/>
              </a:ext>
            </a:extLst>
          </p:cNvPr>
          <p:cNvSpPr txBox="1"/>
          <p:nvPr/>
        </p:nvSpPr>
        <p:spPr>
          <a:xfrm>
            <a:off x="1472148" y="3245546"/>
            <a:ext cx="3726426" cy="369332"/>
          </a:xfrm>
          <a:prstGeom prst="rect">
            <a:avLst/>
          </a:prstGeom>
          <a:noFill/>
        </p:spPr>
        <p:txBody>
          <a:bodyPr wrap="square">
            <a:spAutoFit/>
          </a:bodyPr>
          <a:lstStyle/>
          <a:p>
            <a:r>
              <a:rPr lang="ar-EG" sz="1800" dirty="0">
                <a:cs typeface="+mj-cs"/>
              </a:rPr>
              <a:t>طابروك للتعمير للاستثمار العقارى </a:t>
            </a:r>
            <a:r>
              <a:rPr lang="ar-EG" sz="1800" b="1" dirty="0">
                <a:cs typeface="+mj-cs"/>
              </a:rPr>
              <a:t>(سوديك)</a:t>
            </a:r>
          </a:p>
        </p:txBody>
      </p:sp>
      <p:sp>
        <p:nvSpPr>
          <p:cNvPr id="17" name="TextBox 16">
            <a:extLst>
              <a:ext uri="{FF2B5EF4-FFF2-40B4-BE49-F238E27FC236}">
                <a16:creationId xmlns:a16="http://schemas.microsoft.com/office/drawing/2014/main" xmlns="" id="{9A1245F0-B57B-3E2C-6638-96813CA972A8}"/>
              </a:ext>
            </a:extLst>
          </p:cNvPr>
          <p:cNvSpPr txBox="1"/>
          <p:nvPr/>
        </p:nvSpPr>
        <p:spPr>
          <a:xfrm>
            <a:off x="1010316" y="3009011"/>
            <a:ext cx="3785136" cy="369332"/>
          </a:xfrm>
          <a:prstGeom prst="rect">
            <a:avLst/>
          </a:prstGeom>
          <a:noFill/>
        </p:spPr>
        <p:txBody>
          <a:bodyPr wrap="square">
            <a:spAutoFit/>
          </a:bodyPr>
          <a:lstStyle/>
          <a:p>
            <a:pPr algn="r" rtl="1"/>
            <a:r>
              <a:rPr lang="ar-EG" sz="1800" dirty="0">
                <a:cs typeface="+mj-cs"/>
              </a:rPr>
              <a:t>اليسر للمشروع و التنمية العقارية </a:t>
            </a:r>
            <a:r>
              <a:rPr lang="ar-EG" sz="1800" b="1" dirty="0">
                <a:cs typeface="+mj-cs"/>
              </a:rPr>
              <a:t>(سوديك)</a:t>
            </a:r>
          </a:p>
        </p:txBody>
      </p:sp>
      <p:pic>
        <p:nvPicPr>
          <p:cNvPr id="19" name="Picture 18">
            <a:extLst>
              <a:ext uri="{FF2B5EF4-FFF2-40B4-BE49-F238E27FC236}">
                <a16:creationId xmlns:a16="http://schemas.microsoft.com/office/drawing/2014/main" xmlns="" id="{010C934D-A022-AAF8-170A-42B820CA44AF}"/>
              </a:ext>
            </a:extLst>
          </p:cNvPr>
          <p:cNvPicPr>
            <a:picLocks noChangeAspect="1"/>
          </p:cNvPicPr>
          <p:nvPr/>
        </p:nvPicPr>
        <p:blipFill>
          <a:blip r:embed="rId3"/>
          <a:stretch>
            <a:fillRect/>
          </a:stretch>
        </p:blipFill>
        <p:spPr>
          <a:xfrm>
            <a:off x="745867" y="4593698"/>
            <a:ext cx="1908842" cy="865571"/>
          </a:xfrm>
          <a:prstGeom prst="rect">
            <a:avLst/>
          </a:prstGeom>
          <a:ln>
            <a:noFill/>
          </a:ln>
          <a:effectLst>
            <a:outerShdw blurRad="292100" dist="139700" dir="2700000" algn="tl" rotWithShape="0">
              <a:srgbClr val="333333">
                <a:alpha val="65000"/>
              </a:srgbClr>
            </a:outerShdw>
          </a:effectLst>
        </p:spPr>
      </p:pic>
      <p:sp>
        <p:nvSpPr>
          <p:cNvPr id="21" name="TextBox 20">
            <a:extLst>
              <a:ext uri="{FF2B5EF4-FFF2-40B4-BE49-F238E27FC236}">
                <a16:creationId xmlns:a16="http://schemas.microsoft.com/office/drawing/2014/main" xmlns="" id="{CACBC8CE-C6E0-AC4A-8BF4-FBCEAE7FDA9C}"/>
              </a:ext>
            </a:extLst>
          </p:cNvPr>
          <p:cNvSpPr txBox="1"/>
          <p:nvPr/>
        </p:nvSpPr>
        <p:spPr>
          <a:xfrm>
            <a:off x="2593025" y="4833504"/>
            <a:ext cx="2605549" cy="646331"/>
          </a:xfrm>
          <a:prstGeom prst="rect">
            <a:avLst/>
          </a:prstGeom>
          <a:noFill/>
        </p:spPr>
        <p:txBody>
          <a:bodyPr wrap="square">
            <a:spAutoFit/>
          </a:bodyPr>
          <a:lstStyle/>
          <a:p>
            <a:pPr algn="r" rtl="1"/>
            <a:r>
              <a:rPr lang="ar-EG" sz="1800" dirty="0">
                <a:cs typeface="+mj-cs"/>
              </a:rPr>
              <a:t>الافق للتنمية العقارية</a:t>
            </a:r>
          </a:p>
          <a:p>
            <a:pPr algn="r" rtl="1"/>
            <a:r>
              <a:rPr lang="ar-EG" sz="1800" dirty="0">
                <a:cs typeface="+mj-cs"/>
              </a:rPr>
              <a:t>الافق للاستثمار العقارى</a:t>
            </a:r>
          </a:p>
        </p:txBody>
      </p:sp>
      <p:sp>
        <p:nvSpPr>
          <p:cNvPr id="24" name="TextBox 23">
            <a:extLst>
              <a:ext uri="{FF2B5EF4-FFF2-40B4-BE49-F238E27FC236}">
                <a16:creationId xmlns:a16="http://schemas.microsoft.com/office/drawing/2014/main" xmlns="" id="{E71C9513-EEA1-9541-27C9-69629806FB14}"/>
              </a:ext>
            </a:extLst>
          </p:cNvPr>
          <p:cNvSpPr txBox="1"/>
          <p:nvPr/>
        </p:nvSpPr>
        <p:spPr>
          <a:xfrm>
            <a:off x="6622569" y="4816615"/>
            <a:ext cx="1651820" cy="646331"/>
          </a:xfrm>
          <a:prstGeom prst="rect">
            <a:avLst/>
          </a:prstGeom>
          <a:noFill/>
        </p:spPr>
        <p:txBody>
          <a:bodyPr wrap="square">
            <a:spAutoFit/>
          </a:bodyPr>
          <a:lstStyle/>
          <a:p>
            <a:pPr algn="ctr"/>
            <a:r>
              <a:rPr lang="ar-EG" sz="1800" dirty="0">
                <a:cs typeface="+mj-cs"/>
              </a:rPr>
              <a:t>مطاوع جروب</a:t>
            </a:r>
          </a:p>
          <a:p>
            <a:pPr algn="ctr"/>
            <a:r>
              <a:rPr lang="ar-EG" sz="1800" dirty="0">
                <a:cs typeface="+mj-cs"/>
              </a:rPr>
              <a:t> للتطوير العقارى</a:t>
            </a:r>
            <a:endParaRPr lang="en-US" dirty="0"/>
          </a:p>
        </p:txBody>
      </p:sp>
      <p:pic>
        <p:nvPicPr>
          <p:cNvPr id="1034" name="Picture 10" descr="الرئيسية - Mg Developments">
            <a:extLst>
              <a:ext uri="{FF2B5EF4-FFF2-40B4-BE49-F238E27FC236}">
                <a16:creationId xmlns:a16="http://schemas.microsoft.com/office/drawing/2014/main" xmlns="" id="{B7B8EC54-32A7-0EA5-A23C-8D13A5B05F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72204" y="3579824"/>
            <a:ext cx="1352550" cy="11906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xmlns="" id="{DCDE616E-9665-E8C2-B8E6-22ECBEA1D7E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13609" y="1463649"/>
            <a:ext cx="978208" cy="97820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nvGrpSpPr>
          <p:cNvPr id="36" name="Group 35">
            <a:extLst>
              <a:ext uri="{FF2B5EF4-FFF2-40B4-BE49-F238E27FC236}">
                <a16:creationId xmlns:a16="http://schemas.microsoft.com/office/drawing/2014/main" xmlns="" id="{690EAC9D-DB40-665A-0D8F-CB82859D8EC2}"/>
              </a:ext>
            </a:extLst>
          </p:cNvPr>
          <p:cNvGrpSpPr/>
          <p:nvPr/>
        </p:nvGrpSpPr>
        <p:grpSpPr>
          <a:xfrm>
            <a:off x="6306575" y="1152768"/>
            <a:ext cx="2414527" cy="2114388"/>
            <a:chOff x="7196401" y="957481"/>
            <a:chExt cx="2658933" cy="2127279"/>
          </a:xfrm>
        </p:grpSpPr>
        <p:pic>
          <p:nvPicPr>
            <p:cNvPr id="27" name="Picture 26">
              <a:extLst>
                <a:ext uri="{FF2B5EF4-FFF2-40B4-BE49-F238E27FC236}">
                  <a16:creationId xmlns:a16="http://schemas.microsoft.com/office/drawing/2014/main" xmlns="" id="{4F2E7580-1DCA-3B91-3329-DE0E332FC034}"/>
                </a:ext>
              </a:extLst>
            </p:cNvPr>
            <p:cNvPicPr>
              <a:picLocks noChangeAspect="1"/>
            </p:cNvPicPr>
            <p:nvPr/>
          </p:nvPicPr>
          <p:blipFill>
            <a:blip r:embed="rId6"/>
            <a:stretch>
              <a:fillRect/>
            </a:stretch>
          </p:blipFill>
          <p:spPr>
            <a:xfrm>
              <a:off x="7535118" y="957481"/>
              <a:ext cx="2095500" cy="1609725"/>
            </a:xfrm>
            <a:prstGeom prst="rect">
              <a:avLst/>
            </a:prstGeom>
            <a:ln>
              <a:noFill/>
            </a:ln>
            <a:effectLst>
              <a:outerShdw blurRad="292100" dist="139700" dir="2700000" algn="tl" rotWithShape="0">
                <a:srgbClr val="333333">
                  <a:alpha val="65000"/>
                </a:srgbClr>
              </a:outerShdw>
            </a:effectLst>
          </p:spPr>
        </p:pic>
        <p:sp>
          <p:nvSpPr>
            <p:cNvPr id="29" name="TextBox 28">
              <a:extLst>
                <a:ext uri="{FF2B5EF4-FFF2-40B4-BE49-F238E27FC236}">
                  <a16:creationId xmlns:a16="http://schemas.microsoft.com/office/drawing/2014/main" xmlns="" id="{11FBDF9D-5136-B0C7-4E4C-3EAFA3F87967}"/>
                </a:ext>
              </a:extLst>
            </p:cNvPr>
            <p:cNvSpPr txBox="1"/>
            <p:nvPr/>
          </p:nvSpPr>
          <p:spPr>
            <a:xfrm>
              <a:off x="7196401" y="2715428"/>
              <a:ext cx="2658933" cy="369332"/>
            </a:xfrm>
            <a:prstGeom prst="rect">
              <a:avLst/>
            </a:prstGeom>
            <a:noFill/>
          </p:spPr>
          <p:txBody>
            <a:bodyPr wrap="square">
              <a:spAutoFit/>
            </a:bodyPr>
            <a:lstStyle/>
            <a:p>
              <a:pPr algn="ctr" rtl="1"/>
              <a:r>
                <a:rPr lang="ar-EG" sz="1800" dirty="0">
                  <a:cs typeface="+mj-cs"/>
                </a:rPr>
                <a:t>رويال سيتى للاستثمار العقارى </a:t>
              </a:r>
            </a:p>
          </p:txBody>
        </p:sp>
      </p:grpSp>
      <p:sp>
        <p:nvSpPr>
          <p:cNvPr id="31" name="TextBox 30">
            <a:extLst>
              <a:ext uri="{FF2B5EF4-FFF2-40B4-BE49-F238E27FC236}">
                <a16:creationId xmlns:a16="http://schemas.microsoft.com/office/drawing/2014/main" xmlns="" id="{F19D08E7-21CE-5B48-12B4-F5AD7C01DF92}"/>
              </a:ext>
            </a:extLst>
          </p:cNvPr>
          <p:cNvSpPr txBox="1"/>
          <p:nvPr/>
        </p:nvSpPr>
        <p:spPr>
          <a:xfrm>
            <a:off x="10128010" y="1570630"/>
            <a:ext cx="1425678" cy="923330"/>
          </a:xfrm>
          <a:prstGeom prst="rect">
            <a:avLst/>
          </a:prstGeom>
          <a:noFill/>
        </p:spPr>
        <p:txBody>
          <a:bodyPr wrap="square">
            <a:spAutoFit/>
          </a:bodyPr>
          <a:lstStyle/>
          <a:p>
            <a:pPr algn="r" rtl="1"/>
            <a:r>
              <a:rPr lang="ar-EG" sz="1800" dirty="0">
                <a:cs typeface="+mj-cs"/>
              </a:rPr>
              <a:t>ايجبتوجروب للاستثمار العقارى</a:t>
            </a:r>
          </a:p>
        </p:txBody>
      </p:sp>
      <p:pic>
        <p:nvPicPr>
          <p:cNvPr id="1040" name="Picture 16" descr="‫شركة زيتون للتطوير العقاري Zaytoun Development - عقار مصر‬‎">
            <a:extLst>
              <a:ext uri="{FF2B5EF4-FFF2-40B4-BE49-F238E27FC236}">
                <a16:creationId xmlns:a16="http://schemas.microsoft.com/office/drawing/2014/main" xmlns="" id="{C41BF9BB-A6A3-441B-7EBF-B19943D50B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40969" y="3091915"/>
            <a:ext cx="2312831" cy="132384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xmlns="" id="{0437E0E2-1F14-5A9F-97AD-73F636C64CE9}"/>
              </a:ext>
            </a:extLst>
          </p:cNvPr>
          <p:cNvSpPr txBox="1"/>
          <p:nvPr/>
        </p:nvSpPr>
        <p:spPr>
          <a:xfrm>
            <a:off x="9583642" y="4812938"/>
            <a:ext cx="1416349" cy="646331"/>
          </a:xfrm>
          <a:prstGeom prst="rect">
            <a:avLst/>
          </a:prstGeom>
          <a:noFill/>
        </p:spPr>
        <p:txBody>
          <a:bodyPr wrap="square">
            <a:spAutoFit/>
          </a:bodyPr>
          <a:lstStyle/>
          <a:p>
            <a:pPr algn="ctr" rtl="1"/>
            <a:r>
              <a:rPr lang="ar-EG" sz="1800" dirty="0">
                <a:cs typeface="+mj-cs"/>
              </a:rPr>
              <a:t>شركة زيتون للتطوير العقارى</a:t>
            </a:r>
          </a:p>
        </p:txBody>
      </p:sp>
    </p:spTree>
    <p:extLst>
      <p:ext uri="{BB962C8B-B14F-4D97-AF65-F5344CB8AC3E}">
        <p14:creationId xmlns:p14="http://schemas.microsoft.com/office/powerpoint/2010/main" val="2644171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C25776A7-704F-61F8-EF64-F87B34DE265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4283" y="643467"/>
            <a:ext cx="5503434" cy="5571065"/>
          </a:xfrm>
          <a:prstGeom prst="rect">
            <a:avLst/>
          </a:prstGeom>
          <a:ln>
            <a:noFill/>
          </a:ln>
        </p:spPr>
      </p:pic>
      <p:sp>
        <p:nvSpPr>
          <p:cNvPr id="21" name="Isosceles Triangle 20">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1198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2849</TotalTime>
  <Words>1088</Words>
  <Application>Microsoft Office PowerPoint</Application>
  <PresentationFormat>Widescreen</PresentationFormat>
  <Paragraphs>178</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Contracting System Walkthrough (Few System Extracts) </vt:lpstr>
      <vt:lpstr>PowerPoint Presentation</vt:lpstr>
      <vt:lpstr>خصائص برنامج المستخلصات من 4S</vt:lpstr>
      <vt:lpstr>خصائص برنامج المستخلصات من  4S</vt:lpstr>
      <vt:lpstr>1- البيانات الأساسية لبرنامج المستخلصات</vt:lpstr>
      <vt:lpstr>1- البيانات الأساسية لبرنامج المستخلصات تعريف الموردين</vt:lpstr>
      <vt:lpstr>1- البيانات الأساسية لبرنامج المستخلصات تعريف المقاولين </vt:lpstr>
      <vt:lpstr>1- البيانات الأساسية لبرنامج المستخلصات تعريف الأصناف</vt:lpstr>
      <vt:lpstr>1- البيانات الأساسية لبرنامج المستخلصات تعريف بنود المرحلة</vt:lpstr>
      <vt:lpstr>1- البيانات الأساسية لبرنامج المستخلصات تعريف بنود الأعمال للمرحلة</vt:lpstr>
      <vt:lpstr>1- البيانات الأساسية لبرنامج المستخلصات تعريف خامات بنود الأعمال</vt:lpstr>
      <vt:lpstr>1- البيانات الأساسية لبرنامج المستخلصات تعريف المصروفات</vt:lpstr>
      <vt:lpstr>1- البيانات الأساسية لبرنامج المستخلصات ربط المصروف بالمقاول</vt:lpstr>
      <vt:lpstr>2- حركات برنامج المستخلصات </vt:lpstr>
      <vt:lpstr>2- حركات برنامج المستخلصات عقد مقاول</vt:lpstr>
      <vt:lpstr>2- حركات برنامج المستخلصات مستخلص مقاول</vt:lpstr>
      <vt:lpstr>2- حركات برنامج المستخلصات اصناف مستخلص</vt:lpstr>
      <vt:lpstr>2- حركات برنامج المستخلصات تخفيض مستخلص</vt:lpstr>
      <vt:lpstr>3- تقارير </vt:lpstr>
      <vt:lpstr>3- تقارير                                          كشف حساب مقاول  </vt:lpstr>
      <vt:lpstr>3- تقارير                              ارصدة المقاولين بالحركة </vt:lpstr>
      <vt:lpstr>3- تقارير                                    حافظة حركات المستخلصات </vt:lpstr>
      <vt:lpstr>أمثلة من عملائنا لبرنامج المقاولات</vt:lpstr>
      <vt:lpstr>أمثلة من عملائنا لبرنامج المقاولات</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Profile</dc:title>
  <dc:creator>Adham Bahgat</dc:creator>
  <cp:lastModifiedBy>lenovo</cp:lastModifiedBy>
  <cp:revision>146</cp:revision>
  <dcterms:created xsi:type="dcterms:W3CDTF">2023-07-10T11:59:00Z</dcterms:created>
  <dcterms:modified xsi:type="dcterms:W3CDTF">2026-04-14T10:43:24Z</dcterms:modified>
</cp:coreProperties>
</file>