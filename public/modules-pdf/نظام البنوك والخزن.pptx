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0"/>
  </p:notesMasterIdLst>
  <p:sldIdLst>
    <p:sldId id="358" r:id="rId2"/>
    <p:sldId id="374" r:id="rId3"/>
    <p:sldId id="375" r:id="rId4"/>
    <p:sldId id="377" r:id="rId5"/>
    <p:sldId id="378" r:id="rId6"/>
    <p:sldId id="379" r:id="rId7"/>
    <p:sldId id="380" r:id="rId8"/>
    <p:sldId id="381" r:id="rId9"/>
    <p:sldId id="382" r:id="rId10"/>
    <p:sldId id="385" r:id="rId11"/>
    <p:sldId id="384" r:id="rId12"/>
    <p:sldId id="383" r:id="rId13"/>
    <p:sldId id="390" r:id="rId14"/>
    <p:sldId id="389" r:id="rId15"/>
    <p:sldId id="388" r:id="rId16"/>
    <p:sldId id="387" r:id="rId17"/>
    <p:sldId id="386" r:id="rId18"/>
    <p:sldId id="391" r:id="rId19"/>
    <p:sldId id="395" r:id="rId20"/>
    <p:sldId id="393" r:id="rId21"/>
    <p:sldId id="392" r:id="rId22"/>
    <p:sldId id="408" r:id="rId23"/>
    <p:sldId id="407" r:id="rId24"/>
    <p:sldId id="406" r:id="rId25"/>
    <p:sldId id="412" r:id="rId26"/>
    <p:sldId id="413" r:id="rId27"/>
    <p:sldId id="414" r:id="rId28"/>
    <p:sldId id="3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CB7D9-828F-43E3-B0E0-19DED2CF2DCE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9200F-3EED-4C40-A17D-330F1CA55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3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5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8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7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8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6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2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3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7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1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8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5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351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jpe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jpeg"/><Relationship Id="rId12" Type="http://schemas.openxmlformats.org/officeDocument/2006/relationships/image" Target="../media/image44.png"/><Relationship Id="rId17" Type="http://schemas.openxmlformats.org/officeDocument/2006/relationships/image" Target="../media/image49.jpg"/><Relationship Id="rId25" Type="http://schemas.openxmlformats.org/officeDocument/2006/relationships/image" Target="../media/image57.png"/><Relationship Id="rId2" Type="http://schemas.openxmlformats.org/officeDocument/2006/relationships/image" Target="../media/image34.jpe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jpeg"/><Relationship Id="rId11" Type="http://schemas.openxmlformats.org/officeDocument/2006/relationships/image" Target="../media/image43.png"/><Relationship Id="rId24" Type="http://schemas.openxmlformats.org/officeDocument/2006/relationships/image" Target="../media/image56.jpeg"/><Relationship Id="rId5" Type="http://schemas.openxmlformats.org/officeDocument/2006/relationships/image" Target="../media/image37.jpg"/><Relationship Id="rId15" Type="http://schemas.openxmlformats.org/officeDocument/2006/relationships/image" Target="../media/image47.jp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jpg"/><Relationship Id="rId9" Type="http://schemas.openxmlformats.org/officeDocument/2006/relationships/image" Target="../media/image41.jpeg"/><Relationship Id="rId14" Type="http://schemas.openxmlformats.org/officeDocument/2006/relationships/image" Target="../media/image46.jpg"/><Relationship Id="rId22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jpeg"/><Relationship Id="rId3" Type="http://schemas.openxmlformats.org/officeDocument/2006/relationships/image" Target="../media/image60.png"/><Relationship Id="rId7" Type="http://schemas.openxmlformats.org/officeDocument/2006/relationships/image" Target="../media/image64.jpg"/><Relationship Id="rId12" Type="http://schemas.openxmlformats.org/officeDocument/2006/relationships/image" Target="../media/image69.png"/><Relationship Id="rId17" Type="http://schemas.openxmlformats.org/officeDocument/2006/relationships/image" Target="../media/image74.jpeg"/><Relationship Id="rId2" Type="http://schemas.openxmlformats.org/officeDocument/2006/relationships/image" Target="../media/image59.jpeg"/><Relationship Id="rId16" Type="http://schemas.openxmlformats.org/officeDocument/2006/relationships/image" Target="../media/image73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jpe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jfif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jpeg"/><Relationship Id="rId1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Banks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للبنوك 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/>
              <a:t>, </a:t>
            </a:r>
            <a:r>
              <a:rPr lang="en-US" sz="180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3200" b="1" dirty="0" smtClean="0">
                <a:solidFill>
                  <a:schemeClr val="bg1"/>
                </a:solidFill>
                <a:latin typeface="+mn-lt"/>
              </a:rPr>
              <a:t>خصائص برنامج البنوك 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624" y="1819141"/>
            <a:ext cx="9131120" cy="32937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415" y="4912291"/>
            <a:ext cx="8577329" cy="128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خصائص </a:t>
            </a:r>
            <a:r>
              <a:rPr lang="ar-EG" sz="36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برنامج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البنوك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025" y="1803042"/>
            <a:ext cx="8075054" cy="40439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093" y="5885857"/>
            <a:ext cx="6876557" cy="3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</a:t>
            </a:r>
            <a:r>
              <a:rPr lang="ar-EG" sz="40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البيانات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الاساسية</a:t>
            </a:r>
            <a:r>
              <a:rPr lang="ar-EG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1" y="1885657"/>
            <a:ext cx="10689464" cy="4842456"/>
          </a:xfrm>
          <a:prstGeom prst="rect">
            <a:avLst/>
          </a:prstGeom>
        </p:spPr>
      </p:pic>
      <p:sp>
        <p:nvSpPr>
          <p:cNvPr id="14" name="Flowchart: Terminator 13"/>
          <p:cNvSpPr/>
          <p:nvPr/>
        </p:nvSpPr>
        <p:spPr>
          <a:xfrm>
            <a:off x="1850261" y="227366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ربط التقارير بالموظفين</a:t>
            </a:r>
            <a:endParaRPr lang="en-US" sz="2000" dirty="0"/>
          </a:p>
        </p:txBody>
      </p:sp>
      <p:sp>
        <p:nvSpPr>
          <p:cNvPr id="16" name="Flowchart: Terminator 15"/>
          <p:cNvSpPr/>
          <p:nvPr/>
        </p:nvSpPr>
        <p:spPr>
          <a:xfrm>
            <a:off x="3318452" y="3421516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تعريف انواع المصروفات </a:t>
            </a:r>
            <a:endParaRPr lang="en-US" sz="2000" dirty="0"/>
          </a:p>
        </p:txBody>
      </p:sp>
      <p:sp>
        <p:nvSpPr>
          <p:cNvPr id="18" name="Flowchart: Terminator 17"/>
          <p:cNvSpPr/>
          <p:nvPr/>
        </p:nvSpPr>
        <p:spPr>
          <a:xfrm>
            <a:off x="1850261" y="4570474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العملات </a:t>
            </a:r>
            <a:endParaRPr lang="en-US" sz="2000" dirty="0"/>
          </a:p>
        </p:txBody>
      </p:sp>
      <p:sp>
        <p:nvSpPr>
          <p:cNvPr id="20" name="Flowchart: Terminator 19"/>
          <p:cNvSpPr/>
          <p:nvPr/>
        </p:nvSpPr>
        <p:spPr>
          <a:xfrm>
            <a:off x="7687686" y="227366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تعريف اجزاء الاكواد </a:t>
            </a:r>
            <a:endParaRPr lang="en-US" sz="2000" dirty="0"/>
          </a:p>
        </p:txBody>
      </p:sp>
      <p:sp>
        <p:nvSpPr>
          <p:cNvPr id="21" name="Flowchart: Terminator 20"/>
          <p:cNvSpPr/>
          <p:nvPr/>
        </p:nvSpPr>
        <p:spPr>
          <a:xfrm>
            <a:off x="6186143" y="346631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التعريفات </a:t>
            </a:r>
            <a:endParaRPr lang="en-US" sz="2000" dirty="0"/>
          </a:p>
        </p:txBody>
      </p:sp>
      <p:sp>
        <p:nvSpPr>
          <p:cNvPr id="22" name="Flowchart: Terminator 21"/>
          <p:cNvSpPr/>
          <p:nvPr/>
        </p:nvSpPr>
        <p:spPr>
          <a:xfrm>
            <a:off x="7687686" y="465896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المصروفات المتعددة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تعريف البنوك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496282" y="1691619"/>
            <a:ext cx="515155" cy="265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35" y="1559963"/>
            <a:ext cx="10482359" cy="30711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35" y="4631112"/>
            <a:ext cx="10482359" cy="2210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</a:rPr>
              <a:t>ربط التقارير بالموظفين </a:t>
            </a:r>
            <a:endParaRPr lang="en-US" sz="2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86" y="1782017"/>
            <a:ext cx="10601108" cy="4533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تعريف انواع المصروفات </a:t>
            </a:r>
            <a:endParaRPr lang="en-US" sz="2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15" y="1858896"/>
            <a:ext cx="11397169" cy="3266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الحركات المالية </a:t>
            </a:r>
            <a:endParaRPr lang="en-US" sz="2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5" y="1839482"/>
            <a:ext cx="11384924" cy="4842456"/>
          </a:xfrm>
          <a:prstGeom prst="rect">
            <a:avLst/>
          </a:prstGeom>
        </p:spPr>
      </p:pic>
      <p:sp>
        <p:nvSpPr>
          <p:cNvPr id="20" name="Flowchart: Terminator 19"/>
          <p:cNvSpPr/>
          <p:nvPr/>
        </p:nvSpPr>
        <p:spPr>
          <a:xfrm>
            <a:off x="2036007" y="2338617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ربط الحركات بالفواتير</a:t>
            </a:r>
            <a:endParaRPr lang="en-US" sz="2000" dirty="0"/>
          </a:p>
        </p:txBody>
      </p:sp>
      <p:sp>
        <p:nvSpPr>
          <p:cNvPr id="21" name="Flowchart: Terminator 20"/>
          <p:cNvSpPr/>
          <p:nvPr/>
        </p:nvSpPr>
        <p:spPr>
          <a:xfrm>
            <a:off x="3404314" y="426071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تسوية العملة </a:t>
            </a:r>
            <a:endParaRPr lang="en-US" sz="2000" dirty="0"/>
          </a:p>
        </p:txBody>
      </p:sp>
      <p:sp>
        <p:nvSpPr>
          <p:cNvPr id="22" name="Flowchart: Terminator 21"/>
          <p:cNvSpPr/>
          <p:nvPr/>
        </p:nvSpPr>
        <p:spPr>
          <a:xfrm>
            <a:off x="6559635" y="413035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اختيار حافظة </a:t>
            </a:r>
            <a:endParaRPr lang="en-US" sz="2000" dirty="0"/>
          </a:p>
        </p:txBody>
      </p:sp>
      <p:sp>
        <p:nvSpPr>
          <p:cNvPr id="23" name="Flowchart: Terminator 22"/>
          <p:cNvSpPr/>
          <p:nvPr/>
        </p:nvSpPr>
        <p:spPr>
          <a:xfrm>
            <a:off x="8128856" y="2338617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اختيار الحركة المالية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اختيار الحركة المالية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37" y="1737545"/>
            <a:ext cx="2952293" cy="4635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78075" y="3842753"/>
            <a:ext cx="1263272" cy="355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21640" y="4364950"/>
            <a:ext cx="1519707" cy="33485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استلام نقدية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2" y="1575955"/>
            <a:ext cx="10106207" cy="28400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81" y="4415972"/>
            <a:ext cx="10106208" cy="2227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      صرف النقدية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18" y="1807776"/>
            <a:ext cx="9054516" cy="47281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3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تحويلات بنكية واردة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29" y="1806417"/>
            <a:ext cx="10057399" cy="32451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28" y="5051582"/>
            <a:ext cx="10057399" cy="1519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تسوية فرق عملة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7" y="1731757"/>
            <a:ext cx="9672033" cy="2878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8" y="4610637"/>
            <a:ext cx="9672032" cy="208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التقارير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3" y="1712890"/>
            <a:ext cx="11178861" cy="5015223"/>
          </a:xfrm>
          <a:prstGeom prst="rect">
            <a:avLst/>
          </a:prstGeom>
        </p:spPr>
      </p:pic>
      <p:sp>
        <p:nvSpPr>
          <p:cNvPr id="27" name="Flowchart: Terminator 26"/>
          <p:cNvSpPr/>
          <p:nvPr/>
        </p:nvSpPr>
        <p:spPr>
          <a:xfrm>
            <a:off x="6153953" y="2393317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كشوف الحساب </a:t>
            </a:r>
            <a:endParaRPr lang="en-US" sz="2000" dirty="0"/>
          </a:p>
        </p:txBody>
      </p:sp>
      <p:sp>
        <p:nvSpPr>
          <p:cNvPr id="33" name="Flowchart: Terminator 32"/>
          <p:cNvSpPr/>
          <p:nvPr/>
        </p:nvSpPr>
        <p:spPr>
          <a:xfrm>
            <a:off x="8405610" y="188623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سداد فواتير الموردين</a:t>
            </a:r>
            <a:endParaRPr lang="en-US" sz="2000" dirty="0"/>
          </a:p>
        </p:txBody>
      </p:sp>
      <p:sp>
        <p:nvSpPr>
          <p:cNvPr id="34" name="Flowchart: Terminator 33"/>
          <p:cNvSpPr/>
          <p:nvPr/>
        </p:nvSpPr>
        <p:spPr>
          <a:xfrm>
            <a:off x="8435662" y="2816815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طباعة الشيكات </a:t>
            </a:r>
            <a:endParaRPr lang="en-US" sz="2000" dirty="0"/>
          </a:p>
        </p:txBody>
      </p:sp>
      <p:sp>
        <p:nvSpPr>
          <p:cNvPr id="35" name="Flowchart: Terminator 34"/>
          <p:cNvSpPr/>
          <p:nvPr/>
        </p:nvSpPr>
        <p:spPr>
          <a:xfrm>
            <a:off x="6177566" y="3416704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طباعة الحافظات المالية</a:t>
            </a:r>
            <a:endParaRPr lang="en-US" sz="2000" dirty="0"/>
          </a:p>
        </p:txBody>
      </p:sp>
      <p:sp>
        <p:nvSpPr>
          <p:cNvPr id="36" name="Flowchart: Terminator 35"/>
          <p:cNvSpPr/>
          <p:nvPr/>
        </p:nvSpPr>
        <p:spPr>
          <a:xfrm>
            <a:off x="8465714" y="3896629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استعلام عن اوراق مالية </a:t>
            </a:r>
            <a:endParaRPr lang="en-US" sz="2000" dirty="0"/>
          </a:p>
        </p:txBody>
      </p:sp>
      <p:sp>
        <p:nvSpPr>
          <p:cNvPr id="37" name="Flowchart: Terminator 36"/>
          <p:cNvSpPr/>
          <p:nvPr/>
        </p:nvSpPr>
        <p:spPr>
          <a:xfrm>
            <a:off x="6211914" y="4477058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نموذج 41</a:t>
            </a:r>
            <a:endParaRPr lang="en-US" sz="2000" dirty="0"/>
          </a:p>
        </p:txBody>
      </p:sp>
      <p:sp>
        <p:nvSpPr>
          <p:cNvPr id="38" name="Flowchart: Terminator 37"/>
          <p:cNvSpPr/>
          <p:nvPr/>
        </p:nvSpPr>
        <p:spPr>
          <a:xfrm>
            <a:off x="8489322" y="490638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تقارير ارصدة </a:t>
            </a:r>
            <a:endParaRPr lang="en-US" sz="2000" dirty="0"/>
          </a:p>
        </p:txBody>
      </p:sp>
      <p:sp>
        <p:nvSpPr>
          <p:cNvPr id="39" name="Flowchart: Terminator 38"/>
          <p:cNvSpPr/>
          <p:nvPr/>
        </p:nvSpPr>
        <p:spPr>
          <a:xfrm>
            <a:off x="1384477" y="188623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/>
              <a:t>تقرير الموفقات </a:t>
            </a:r>
            <a:endParaRPr lang="en-US" dirty="0"/>
          </a:p>
        </p:txBody>
      </p:sp>
      <p:sp>
        <p:nvSpPr>
          <p:cNvPr id="40" name="Flowchart: Terminator 39"/>
          <p:cNvSpPr/>
          <p:nvPr/>
        </p:nvSpPr>
        <p:spPr>
          <a:xfrm>
            <a:off x="3612521" y="2387828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مالية </a:t>
            </a:r>
            <a:endParaRPr lang="en-US" sz="2000" dirty="0"/>
          </a:p>
        </p:txBody>
      </p:sp>
      <p:sp>
        <p:nvSpPr>
          <p:cNvPr id="41" name="Flowchart: Terminator 40"/>
          <p:cNvSpPr/>
          <p:nvPr/>
        </p:nvSpPr>
        <p:spPr>
          <a:xfrm>
            <a:off x="1360864" y="2946071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سداد فواتير العملاء</a:t>
            </a:r>
            <a:endParaRPr lang="en-US" sz="2000" dirty="0"/>
          </a:p>
        </p:txBody>
      </p:sp>
      <p:sp>
        <p:nvSpPr>
          <p:cNvPr id="42" name="Flowchart: Terminator 41"/>
          <p:cNvSpPr/>
          <p:nvPr/>
        </p:nvSpPr>
        <p:spPr>
          <a:xfrm>
            <a:off x="3563152" y="3416704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 اوراق قبض حان وقت استحقاقها</a:t>
            </a:r>
          </a:p>
        </p:txBody>
      </p:sp>
      <p:sp>
        <p:nvSpPr>
          <p:cNvPr id="43" name="Flowchart: Terminator 42"/>
          <p:cNvSpPr/>
          <p:nvPr/>
        </p:nvSpPr>
        <p:spPr>
          <a:xfrm>
            <a:off x="1305056" y="3987364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اوراق دفع حان وقت استحقاقها</a:t>
            </a:r>
            <a:endParaRPr lang="en-US" sz="2000" dirty="0"/>
          </a:p>
        </p:txBody>
      </p:sp>
      <p:sp>
        <p:nvSpPr>
          <p:cNvPr id="44" name="Flowchart: Terminator 43"/>
          <p:cNvSpPr/>
          <p:nvPr/>
        </p:nvSpPr>
        <p:spPr>
          <a:xfrm>
            <a:off x="3743459" y="4477058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حافظة الحركات المالية </a:t>
            </a:r>
            <a:endParaRPr lang="en-US" sz="2000" dirty="0"/>
          </a:p>
        </p:txBody>
      </p:sp>
      <p:sp>
        <p:nvSpPr>
          <p:cNvPr id="45" name="Flowchart: Terminator 44"/>
          <p:cNvSpPr/>
          <p:nvPr/>
        </p:nvSpPr>
        <p:spPr>
          <a:xfrm>
            <a:off x="1370528" y="4902210"/>
            <a:ext cx="2228044" cy="759854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موقف مالى اسبوعى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85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كشوف الحساب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3" name="Snip Diagonal Corner Rectangle 2"/>
          <p:cNvSpPr/>
          <p:nvPr/>
        </p:nvSpPr>
        <p:spPr>
          <a:xfrm>
            <a:off x="9936051" y="2260795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خزنة </a:t>
            </a:r>
            <a:endParaRPr lang="en-US" sz="2000" dirty="0"/>
          </a:p>
        </p:txBody>
      </p:sp>
      <p:sp>
        <p:nvSpPr>
          <p:cNvPr id="18" name="Snip Diagonal Corner Rectangle 17"/>
          <p:cNvSpPr/>
          <p:nvPr/>
        </p:nvSpPr>
        <p:spPr>
          <a:xfrm>
            <a:off x="7548232" y="2642314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جهة </a:t>
            </a:r>
            <a:endParaRPr lang="en-US" sz="2000" dirty="0"/>
          </a:p>
        </p:txBody>
      </p:sp>
      <p:sp>
        <p:nvSpPr>
          <p:cNvPr id="25" name="Snip Diagonal Corner Rectangle 24"/>
          <p:cNvSpPr/>
          <p:nvPr/>
        </p:nvSpPr>
        <p:spPr>
          <a:xfrm>
            <a:off x="5160414" y="2260795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كشف حساب مورد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nip Diagonal Corner Rectangle 25"/>
          <p:cNvSpPr/>
          <p:nvPr/>
        </p:nvSpPr>
        <p:spPr>
          <a:xfrm>
            <a:off x="2676401" y="2714423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عميل </a:t>
            </a:r>
            <a:endParaRPr lang="en-US" sz="2000" dirty="0"/>
          </a:p>
        </p:txBody>
      </p:sp>
      <p:sp>
        <p:nvSpPr>
          <p:cNvPr id="27" name="Snip Diagonal Corner Rectangle 26"/>
          <p:cNvSpPr/>
          <p:nvPr/>
        </p:nvSpPr>
        <p:spPr>
          <a:xfrm>
            <a:off x="192388" y="2260794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بنك </a:t>
            </a:r>
            <a:endParaRPr lang="en-US" sz="2000" dirty="0"/>
          </a:p>
        </p:txBody>
      </p:sp>
      <p:sp>
        <p:nvSpPr>
          <p:cNvPr id="28" name="Snip Diagonal Corner Rectangle 27"/>
          <p:cNvSpPr/>
          <p:nvPr/>
        </p:nvSpPr>
        <p:spPr>
          <a:xfrm>
            <a:off x="9936051" y="4454401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كشف حساب بنك  توقعى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nip Diagonal Corner Rectangle 28"/>
          <p:cNvSpPr/>
          <p:nvPr/>
        </p:nvSpPr>
        <p:spPr>
          <a:xfrm>
            <a:off x="7548231" y="5136982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خزنة مقاول </a:t>
            </a:r>
            <a:endParaRPr lang="en-US" sz="2000" dirty="0"/>
          </a:p>
        </p:txBody>
      </p:sp>
      <p:sp>
        <p:nvSpPr>
          <p:cNvPr id="30" name="Snip Diagonal Corner Rectangle 29"/>
          <p:cNvSpPr/>
          <p:nvPr/>
        </p:nvSpPr>
        <p:spPr>
          <a:xfrm>
            <a:off x="5160414" y="4454400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فيزا </a:t>
            </a:r>
            <a:endParaRPr lang="en-US" sz="2000" dirty="0"/>
          </a:p>
        </p:txBody>
      </p:sp>
      <p:sp>
        <p:nvSpPr>
          <p:cNvPr id="31" name="Snip Diagonal Corner Rectangle 30"/>
          <p:cNvSpPr/>
          <p:nvPr/>
        </p:nvSpPr>
        <p:spPr>
          <a:xfrm>
            <a:off x="2796256" y="5136981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مقاول </a:t>
            </a:r>
            <a:endParaRPr lang="en-US" sz="2000" dirty="0"/>
          </a:p>
        </p:txBody>
      </p:sp>
      <p:sp>
        <p:nvSpPr>
          <p:cNvPr id="32" name="Snip Diagonal Corner Rectangle 31"/>
          <p:cNvSpPr/>
          <p:nvPr/>
        </p:nvSpPr>
        <p:spPr>
          <a:xfrm>
            <a:off x="192388" y="4454399"/>
            <a:ext cx="2112135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تسهيل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كشف حساب بنك توقعى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97" y="1681816"/>
            <a:ext cx="9387168" cy="24909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98" y="4172755"/>
            <a:ext cx="9387168" cy="22741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9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كشف حساب خزنة مقارن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757" y="1712154"/>
            <a:ext cx="10050279" cy="2524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756" y="4237148"/>
            <a:ext cx="10050280" cy="22280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759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طباعة الحافظات المالية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94" y="1743756"/>
            <a:ext cx="9034620" cy="2818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94" y="4561895"/>
            <a:ext cx="9034620" cy="159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9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الارصدة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2" name="Snip Diagonal Corner Rectangle 11"/>
          <p:cNvSpPr/>
          <p:nvPr/>
        </p:nvSpPr>
        <p:spPr>
          <a:xfrm>
            <a:off x="10451785" y="1834363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كشف حساب عميل </a:t>
            </a:r>
            <a:endParaRPr lang="en-US" sz="2000" dirty="0"/>
          </a:p>
        </p:txBody>
      </p:sp>
      <p:sp>
        <p:nvSpPr>
          <p:cNvPr id="16" name="Snip Diagonal Corner Rectangle 15"/>
          <p:cNvSpPr/>
          <p:nvPr/>
        </p:nvSpPr>
        <p:spPr>
          <a:xfrm>
            <a:off x="3659014" y="1814605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البنوك </a:t>
            </a:r>
            <a:endParaRPr lang="en-US" sz="2000" dirty="0"/>
          </a:p>
        </p:txBody>
      </p:sp>
      <p:sp>
        <p:nvSpPr>
          <p:cNvPr id="18" name="Snip Diagonal Corner Rectangle 17"/>
          <p:cNvSpPr/>
          <p:nvPr/>
        </p:nvSpPr>
        <p:spPr>
          <a:xfrm>
            <a:off x="5448267" y="2586440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الخزن</a:t>
            </a:r>
            <a:endParaRPr lang="en-US" sz="2000" dirty="0"/>
          </a:p>
        </p:txBody>
      </p:sp>
      <p:sp>
        <p:nvSpPr>
          <p:cNvPr id="20" name="Snip Diagonal Corner Rectangle 19"/>
          <p:cNvSpPr/>
          <p:nvPr/>
        </p:nvSpPr>
        <p:spPr>
          <a:xfrm>
            <a:off x="7064769" y="1732355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عملاء</a:t>
            </a:r>
            <a:endParaRPr lang="en-US" sz="2000" dirty="0"/>
          </a:p>
        </p:txBody>
      </p:sp>
      <p:sp>
        <p:nvSpPr>
          <p:cNvPr id="21" name="Snip Diagonal Corner Rectangle 20"/>
          <p:cNvSpPr/>
          <p:nvPr/>
        </p:nvSpPr>
        <p:spPr>
          <a:xfrm>
            <a:off x="8760870" y="2586440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موردين</a:t>
            </a:r>
            <a:endParaRPr lang="en-US" sz="2000" dirty="0"/>
          </a:p>
        </p:txBody>
      </p:sp>
      <p:sp>
        <p:nvSpPr>
          <p:cNvPr id="22" name="Snip Diagonal Corner Rectangle 21"/>
          <p:cNvSpPr/>
          <p:nvPr/>
        </p:nvSpPr>
        <p:spPr>
          <a:xfrm>
            <a:off x="1983364" y="2917212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مقاولين </a:t>
            </a:r>
            <a:endParaRPr lang="en-US" sz="2000" dirty="0"/>
          </a:p>
        </p:txBody>
      </p:sp>
      <p:sp>
        <p:nvSpPr>
          <p:cNvPr id="23" name="Snip Diagonal Corner Rectangle 22"/>
          <p:cNvSpPr/>
          <p:nvPr/>
        </p:nvSpPr>
        <p:spPr>
          <a:xfrm>
            <a:off x="10160428" y="5158669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جهات 2</a:t>
            </a:r>
            <a:endParaRPr lang="en-US" sz="2000" dirty="0"/>
          </a:p>
        </p:txBody>
      </p:sp>
      <p:sp>
        <p:nvSpPr>
          <p:cNvPr id="24" name="Snip Diagonal Corner Rectangle 23"/>
          <p:cNvSpPr/>
          <p:nvPr/>
        </p:nvSpPr>
        <p:spPr>
          <a:xfrm>
            <a:off x="321036" y="1994011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بنك 2</a:t>
            </a:r>
            <a:endParaRPr lang="en-US" sz="2000" dirty="0"/>
          </a:p>
        </p:txBody>
      </p:sp>
      <p:sp>
        <p:nvSpPr>
          <p:cNvPr id="25" name="Snip Diagonal Corner Rectangle 24"/>
          <p:cNvSpPr/>
          <p:nvPr/>
        </p:nvSpPr>
        <p:spPr>
          <a:xfrm>
            <a:off x="8238817" y="4722220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عملاء2</a:t>
            </a:r>
            <a:endParaRPr lang="en-US" sz="2000" dirty="0"/>
          </a:p>
        </p:txBody>
      </p:sp>
      <p:sp>
        <p:nvSpPr>
          <p:cNvPr id="26" name="Snip Diagonal Corner Rectangle 25"/>
          <p:cNvSpPr/>
          <p:nvPr/>
        </p:nvSpPr>
        <p:spPr>
          <a:xfrm>
            <a:off x="6317206" y="5415536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مقاولين 2</a:t>
            </a:r>
            <a:endParaRPr lang="en-US" sz="2000" dirty="0"/>
          </a:p>
        </p:txBody>
      </p:sp>
      <p:sp>
        <p:nvSpPr>
          <p:cNvPr id="27" name="Snip Diagonal Corner Rectangle 26"/>
          <p:cNvSpPr/>
          <p:nvPr/>
        </p:nvSpPr>
        <p:spPr>
          <a:xfrm>
            <a:off x="10470524" y="1834366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 ارصدة جهات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Snip Diagonal Corner Rectangle 27"/>
          <p:cNvSpPr/>
          <p:nvPr/>
        </p:nvSpPr>
        <p:spPr>
          <a:xfrm>
            <a:off x="4331311" y="4722219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ارصدة موردين 2</a:t>
            </a:r>
            <a:endParaRPr lang="en-US" sz="2000" dirty="0"/>
          </a:p>
        </p:txBody>
      </p:sp>
      <p:sp>
        <p:nvSpPr>
          <p:cNvPr id="29" name="Snip Diagonal Corner Rectangle 28"/>
          <p:cNvSpPr/>
          <p:nvPr/>
        </p:nvSpPr>
        <p:spPr>
          <a:xfrm>
            <a:off x="2507519" y="5415535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التدفق النقدى </a:t>
            </a:r>
            <a:endParaRPr lang="en-US" sz="2000" dirty="0"/>
          </a:p>
        </p:txBody>
      </p:sp>
      <p:sp>
        <p:nvSpPr>
          <p:cNvPr id="30" name="Snip Diagonal Corner Rectangle 29"/>
          <p:cNvSpPr/>
          <p:nvPr/>
        </p:nvSpPr>
        <p:spPr>
          <a:xfrm>
            <a:off x="521624" y="4722219"/>
            <a:ext cx="1403539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تقرير ارصدة الخزن 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61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ارصدة البنوك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75955"/>
            <a:ext cx="9957538" cy="29270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503461"/>
            <a:ext cx="9957538" cy="1987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109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411" y="0"/>
            <a:ext cx="5005589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كشف حساب مورد تفصيلي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9" y="1820663"/>
            <a:ext cx="10424104" cy="4507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734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تحليل الاوراق المالية 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Snip Diagonal Corner Rectangle 13"/>
          <p:cNvSpPr/>
          <p:nvPr/>
        </p:nvSpPr>
        <p:spPr>
          <a:xfrm>
            <a:off x="8540059" y="2244142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قبض معدل </a:t>
            </a:r>
            <a:endParaRPr lang="en-US" sz="2000" dirty="0"/>
          </a:p>
        </p:txBody>
      </p:sp>
      <p:sp>
        <p:nvSpPr>
          <p:cNvPr id="16" name="Snip Diagonal Corner Rectangle 15"/>
          <p:cNvSpPr/>
          <p:nvPr/>
        </p:nvSpPr>
        <p:spPr>
          <a:xfrm>
            <a:off x="4888118" y="3031874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دفع معدل </a:t>
            </a:r>
            <a:endParaRPr lang="en-US" sz="2000" dirty="0"/>
          </a:p>
        </p:txBody>
      </p:sp>
      <p:sp>
        <p:nvSpPr>
          <p:cNvPr id="18" name="Snip Diagonal Corner Rectangle 17"/>
          <p:cNvSpPr/>
          <p:nvPr/>
        </p:nvSpPr>
        <p:spPr>
          <a:xfrm>
            <a:off x="1197494" y="2244143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قبض</a:t>
            </a:r>
            <a:endParaRPr lang="en-US" sz="2000" dirty="0"/>
          </a:p>
        </p:txBody>
      </p:sp>
      <p:sp>
        <p:nvSpPr>
          <p:cNvPr id="20" name="Snip Diagonal Corner Rectangle 19"/>
          <p:cNvSpPr/>
          <p:nvPr/>
        </p:nvSpPr>
        <p:spPr>
          <a:xfrm>
            <a:off x="8540059" y="4487301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دفع</a:t>
            </a:r>
            <a:endParaRPr lang="en-US" sz="2000" dirty="0"/>
          </a:p>
        </p:txBody>
      </p:sp>
      <p:sp>
        <p:nvSpPr>
          <p:cNvPr id="21" name="Snip Diagonal Corner Rectangle 20"/>
          <p:cNvSpPr/>
          <p:nvPr/>
        </p:nvSpPr>
        <p:spPr>
          <a:xfrm>
            <a:off x="4888118" y="5079730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قبض مختصر </a:t>
            </a:r>
            <a:endParaRPr lang="en-US" sz="2000" dirty="0"/>
          </a:p>
        </p:txBody>
      </p:sp>
      <p:sp>
        <p:nvSpPr>
          <p:cNvPr id="24" name="Snip Diagonal Corner Rectangle 23"/>
          <p:cNvSpPr/>
          <p:nvPr/>
        </p:nvSpPr>
        <p:spPr>
          <a:xfrm>
            <a:off x="1173907" y="4551071"/>
            <a:ext cx="2381178" cy="1184857"/>
          </a:xfrm>
          <a:prstGeom prst="snip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تحليل اوراق قبض مختصر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761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تحليل اوراق القبض معدل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12" y="4370276"/>
            <a:ext cx="9732774" cy="234185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12" y="1712890"/>
            <a:ext cx="9732774" cy="264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0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تحليل اوراق الدفع معدل 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7" y="4802422"/>
            <a:ext cx="9916732" cy="20311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8" y="1699993"/>
            <a:ext cx="9916732" cy="314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7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تقرير موقف مالى اسبوعى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594" y="1676685"/>
            <a:ext cx="9806811" cy="48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3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9" y="4332239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68" y="5120233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427677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45375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025" y="6015715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377921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903379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376378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8367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915702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4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1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2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5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5244</TotalTime>
  <Words>258</Words>
  <Application>Microsoft Office PowerPoint</Application>
  <PresentationFormat>Widescreen</PresentationFormat>
  <Paragraphs>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Corbel</vt:lpstr>
      <vt:lpstr>Montserrat Black</vt:lpstr>
      <vt:lpstr>Times New Roman</vt:lpstr>
      <vt:lpstr>Office Theme</vt:lpstr>
      <vt:lpstr>Banks System Walkthrough </vt:lpstr>
      <vt:lpstr>خصائص برنامج البنوك </vt:lpstr>
      <vt:lpstr>خصائص برنامج البنوك  </vt:lpstr>
      <vt:lpstr>    البيانات الاساسية </vt:lpstr>
      <vt:lpstr>تعريف البنوك</vt:lpstr>
      <vt:lpstr>ربط التقارير بالموظفين </vt:lpstr>
      <vt:lpstr>تعريف انواع المصروفات </vt:lpstr>
      <vt:lpstr>الحركات المالية </vt:lpstr>
      <vt:lpstr>اختيار الحركة المالية </vt:lpstr>
      <vt:lpstr>استلام نقدية </vt:lpstr>
      <vt:lpstr>         صرف النقدية </vt:lpstr>
      <vt:lpstr>تحويلات بنكية واردة</vt:lpstr>
      <vt:lpstr>تسوية فرق عملة </vt:lpstr>
      <vt:lpstr>التقارير</vt:lpstr>
      <vt:lpstr>كشوف الحساب </vt:lpstr>
      <vt:lpstr>كشف حساب بنك توقعى </vt:lpstr>
      <vt:lpstr>كشف حساب خزنة مقارن</vt:lpstr>
      <vt:lpstr>طباعة الحافظات المالية </vt:lpstr>
      <vt:lpstr>تقارير الارصدة </vt:lpstr>
      <vt:lpstr>تقارير ارصدة البنوك </vt:lpstr>
      <vt:lpstr>تقرير كشف حساب مورد تفصيلي </vt:lpstr>
      <vt:lpstr>تحليل الاوراق المالية </vt:lpstr>
      <vt:lpstr>تحليل اوراق القبض معدل</vt:lpstr>
      <vt:lpstr>تحليل اوراق الدفع معدل </vt:lpstr>
      <vt:lpstr>تقرير موقف مالى اسبوعى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221</cp:revision>
  <dcterms:created xsi:type="dcterms:W3CDTF">2023-07-10T11:59:00Z</dcterms:created>
  <dcterms:modified xsi:type="dcterms:W3CDTF">2026-04-14T10:44:01Z</dcterms:modified>
</cp:coreProperties>
</file>