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26" r:id="rId3"/>
    <p:sldId id="377" r:id="rId4"/>
    <p:sldId id="355" r:id="rId5"/>
    <p:sldId id="361" r:id="rId6"/>
    <p:sldId id="362" r:id="rId7"/>
    <p:sldId id="363" r:id="rId8"/>
    <p:sldId id="375" r:id="rId9"/>
    <p:sldId id="376" r:id="rId10"/>
    <p:sldId id="378" r:id="rId11"/>
    <p:sldId id="370" r:id="rId12"/>
    <p:sldId id="379" r:id="rId13"/>
    <p:sldId id="3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ED44EC-1A01-ABB5-EFFB-DB27E484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534AEB1-8620-0ACC-257F-797DAE0A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68F41E-A921-5F51-E73E-F5664F0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9D1526-A853-BC3A-5A89-C35D474C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59CAF6-944B-D7B5-D951-EDAB090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026CA1-7721-428F-200E-94DA932B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45358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033821F-A462-B2FD-DC6B-D98F54F1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0A6907-A5F5-D930-5D41-5F623C0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255E8D-E2E6-83F2-2FF8-B9ED679A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3E98712-BD0B-29F3-FEC3-6EFF90D4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38B249-BA77-A00C-5C06-BD28B68E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0B4BFC-9E5C-E585-6A72-33955E45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383919-24D7-2823-92E8-CD2BEA99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240178-215C-25DE-A12C-4389E9CA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4C5EBDA-0D7E-2512-FFC4-44E42DE1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0A86D4-D600-FF8D-7190-2D9E5D58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863AD1-92AA-490D-54A1-EC5BEBA68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F583411-8210-917C-C7C4-46882981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E533D6D-0184-D4C2-AB9F-5E5E9C04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370299-A6D4-8D00-BDBC-DB322CA6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C4056FA-EDAF-B0BB-EF8C-CC663C5E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F7E13F-3858-05D3-DAED-DA588813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9A8DD13-5A92-32A8-5298-BF9234A6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496866D-1936-5DF3-927C-12D6C5A64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5619F5E-990E-407E-F0C3-067B6799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B8514DA-A2F0-F6C2-DCE3-302891516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E449795-2AF9-123B-2A1E-DD315B3A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6261F7B-0C88-664E-B398-F230FAC8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FEF4B68-8C9C-3232-C775-CA0A4B21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5819E6-7206-174B-F6FC-37448200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CDC2E8-62C5-DD06-459F-BABF6CB3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14DED7F-6122-AB14-9857-0F6141ED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AE75C9D-C418-4E6F-FBAF-FDDE9220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0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31D4F83-DAD7-FEC7-652E-2B817A53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AE02390-9766-F3B7-2B38-5BA8D32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D6B2E95-40A1-2509-9EE8-F3362EFF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9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2F654E-D48D-03EC-F174-EE05C553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B68A96-8D3F-CCBA-897A-70CE76A6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1BABF03-B1CF-BF75-A4FC-95C93BCD2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E7E1D1-85A7-2E3A-E206-E97B6170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6212C0-A41D-4186-0B06-9D4AB04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D301B8-71B7-215C-7465-267F4DBE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3869C0-A901-75F3-4FEE-43F017F3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32706BD-ED55-7767-C72C-5F2FF4065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4A71B3-61F7-6013-69E4-577E1E03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DBA3EB4-8415-CF73-79EB-3E8E6DF7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72BE67-9388-F50B-444B-7699816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0352D74-9A9B-0F53-CEBF-3FEAA80B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53B6E4-D076-D212-90F0-BE82462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4ED9DB8-AC0E-90C7-D96E-8FA65FC9B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BF4D24B-7204-DE68-06B1-5804A4DB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1FA536-C6CA-F2B0-DED6-84F01F17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0C4B2D-287B-1A9E-3320-7DC09EE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9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71FE684-BCCC-5900-57B6-D3D7C54FB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579590F-0EE4-8274-86D6-95A5F2936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7D94D6-AEE0-583A-CCAD-ADC1BB72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4DF07A-389E-D9FD-98E8-288ADA0E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9F6DC5-247B-93EC-0EFB-827C6FF0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0750C7D-AB7B-D44F-E7E3-CF4A7245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97"/>
            <a:ext cx="10515600" cy="31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FA1CDF3-FAD1-B31E-2938-0728618FF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010"/>
            <a:ext cx="10515600" cy="4645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937F55-4AA0-29D8-2438-C2AFA8FDE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6A7A83-A7E1-40F3-CC93-736E011A1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87A676-C818-496C-D2FD-F2155129E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571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f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Manufacturing system Walkthrough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4S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ar-EG" dirty="0" smtClean="0"/>
              <a:t>للتصنيع والانتاج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خصائص برنامج الانتاج من </a:t>
            </a:r>
            <a:r>
              <a:rPr lang="en-US" b="1" dirty="0" smtClean="0">
                <a:solidFill>
                  <a:schemeClr val="bg1"/>
                </a:solidFill>
              </a:rPr>
              <a:t>s</a:t>
            </a:r>
            <a:r>
              <a:rPr lang="ar-SA" b="1" dirty="0" smtClean="0">
                <a:solidFill>
                  <a:schemeClr val="bg1"/>
                </a:solidFill>
              </a:rPr>
              <a:t>4</a:t>
            </a:r>
            <a:endParaRPr lang="en-US" kern="1200" dirty="0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924820"/>
            <a:ext cx="10515600" cy="46459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تعريف أكثر من تركيبة لنفس المنتج </a:t>
            </a:r>
            <a:r>
              <a:rPr lang="en-US" dirty="0" smtClean="0">
                <a:cs typeface="+mj-cs"/>
              </a:rPr>
              <a:t>Bill of Material.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تعريف ومتابعه  مـراكـز التشغيـل و المـاكينــات و العمـالـة.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تعريف ومتابعه  مـراحـل الإنتـاج المختلفـة.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عمـل أوامـر الإنتـاج لمجمـوعـات مختلفـة مـن المنتجـات.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متـابعـة تنفيـذ المـراحـل الإنتـاجيـة لأوامـر الإنتـاج.</a:t>
            </a:r>
          </a:p>
          <a:p>
            <a:pPr algn="r" rtl="1">
              <a:lnSpc>
                <a:spcPct val="150000"/>
              </a:lnSpc>
            </a:pPr>
            <a:r>
              <a:rPr lang="ar-EG" dirty="0" smtClean="0">
                <a:cs typeface="+mj-cs"/>
              </a:rPr>
              <a:t>ربـط كـامل بيـن الإنتـاج و المخـازن سـواء صـرف مكـونـات علـى أوامـر الإنتـاج أو تسليـم المنتجـات النهـائيـة أو المجمعـات المكـونـة للمنتج إلـي المخـازن الخـاصـة بهـا. </a:t>
            </a:r>
            <a:endParaRPr lang="ar-EG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8598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ar-SA" b="1" dirty="0">
                <a:solidFill>
                  <a:schemeClr val="bg1"/>
                </a:solidFill>
              </a:rPr>
              <a:t>مميزات برنامج الإنتاج</a:t>
            </a:r>
            <a:endParaRPr lang="en-US" kern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670" y="1737299"/>
            <a:ext cx="111402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SA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مميـزات خـاصـة بشجـرة المنتج:-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285750" marR="0" lvl="0" indent="-285750" algn="justLow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2800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يمكـن تسجيـل أكثـر مـن شجـرة منتـج للمنتج الـواحـد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285750" marR="0" lvl="0" indent="-285750" algn="justLow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ar-SA" sz="2800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يمكـن إدخـال نسبـة فـاقـد التشغيـل لكـل مكـونـات شجـرة المنتج كمـا يقـوم النظـام بحسـاب الكميـات المطلـوبـة للصـرف مـن المخـازن علـي أسـاس هـذه النسبـة </a:t>
            </a:r>
            <a:endParaRPr lang="ar-EG" sz="2800" dirty="0" smtClean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238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justLow">
              <a:lnSpc>
                <a:spcPct val="150000"/>
              </a:lnSpc>
              <a:spcBef>
                <a:spcPts val="0"/>
              </a:spcBef>
              <a:tabLst>
                <a:tab pos="228600" algn="l"/>
              </a:tabLst>
            </a:pPr>
            <a:r>
              <a:rPr lang="ar-SA" b="1" dirty="0">
                <a:solidFill>
                  <a:schemeClr val="bg1"/>
                </a:solidFill>
              </a:rPr>
              <a:t>مميـزات خـاصـة بمـراكـز التشغيـل و المـاكينـات والعمـالـة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670" y="1737299"/>
            <a:ext cx="111402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SA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1- يمكـن تقسيـم مـراكـز التشغيـل إلـي </a:t>
            </a:r>
            <a:r>
              <a:rPr lang="ar-SA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:-</a:t>
            </a:r>
            <a:endParaRPr lang="ar-EG" sz="24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20378" y="2533873"/>
            <a:ext cx="31810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algn="ctr" rtl="1">
              <a:spcBef>
                <a:spcPts val="0"/>
              </a:spcBef>
              <a:spcAft>
                <a:spcPts val="0"/>
              </a:spcAft>
            </a:pPr>
            <a:r>
              <a:rPr lang="ar-SA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مـراكـز </a:t>
            </a:r>
            <a:r>
              <a:rPr lang="ar-SA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تشغيـل </a:t>
            </a:r>
            <a:r>
              <a:rPr lang="ar-SA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أسـاسيـة</a:t>
            </a:r>
            <a:endParaRPr lang="en-US" sz="1100" b="1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775138" y="2533873"/>
            <a:ext cx="31810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algn="ctr" rtl="1">
              <a:spcBef>
                <a:spcPts val="0"/>
              </a:spcBef>
              <a:spcAft>
                <a:spcPts val="0"/>
              </a:spcAft>
            </a:pPr>
            <a:r>
              <a:rPr lang="ar-SA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مـراكـز </a:t>
            </a:r>
            <a:r>
              <a:rPr lang="ar-SA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تشغيـل </a:t>
            </a:r>
            <a:r>
              <a:rPr lang="ar-SA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فـرعيـة</a:t>
            </a:r>
            <a:endParaRPr lang="en-US" sz="1100" b="1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5394" y="4447253"/>
            <a:ext cx="111402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2400" b="1" dirty="0" smtClean="0">
                <a:cs typeface="+mj-cs"/>
              </a:rPr>
              <a:t>2</a:t>
            </a:r>
            <a:r>
              <a:rPr lang="ar-SA" sz="2400" b="1" dirty="0" smtClean="0">
                <a:cs typeface="+mj-cs"/>
              </a:rPr>
              <a:t>- </a:t>
            </a:r>
            <a:r>
              <a:rPr lang="ar-SA" sz="2400" b="1" dirty="0">
                <a:cs typeface="+mj-cs"/>
              </a:rPr>
              <a:t>يمكـن تسجيل نسبة التحميـل لكـل مـركـز تشغيـل و ذلـك لإمكـانيـة حسـاب الطاقات عند التشغيل بأقل مـن الطــاقــة القصـوى.</a:t>
            </a:r>
            <a:endParaRPr lang="en-US" sz="2400" dirty="0">
              <a:cs typeface="+mj-cs"/>
            </a:endParaRPr>
          </a:p>
          <a:p>
            <a:pPr algn="r" rtl="1"/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raditional Arabic"/>
            </a:endParaRPr>
          </a:p>
        </p:txBody>
      </p:sp>
      <p:pic>
        <p:nvPicPr>
          <p:cNvPr id="25" name="Picture 24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6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b="1" dirty="0">
                <a:solidFill>
                  <a:schemeClr val="bg1"/>
                </a:solidFill>
              </a:rPr>
              <a:t>مميـزات مـراحـل التشغيل </a:t>
            </a:r>
            <a:endParaRPr lang="en-US" b="1" kern="1200" dirty="0">
              <a:solidFill>
                <a:schemeClr val="bg1"/>
              </a:solidFill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991672" y="1654362"/>
            <a:ext cx="10362127" cy="44373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يمكن </a:t>
            </a:r>
            <a:r>
              <a:rPr lang="ar-EG" sz="1600" dirty="0">
                <a:cs typeface="+mj-cs"/>
              </a:rPr>
              <a:t>تسجيـل </a:t>
            </a:r>
            <a:r>
              <a:rPr lang="en-US" sz="1600" dirty="0">
                <a:cs typeface="+mj-cs"/>
              </a:rPr>
              <a:t>Tasks </a:t>
            </a:r>
            <a:r>
              <a:rPr lang="ar-EG" sz="1600" dirty="0">
                <a:cs typeface="+mj-cs"/>
              </a:rPr>
              <a:t>للمراحل الإنتـاجيـــة و ذلـك  لاستخدام البيـانــات المسجلـة بهـا فـي عمــل المسـارات الإنتـاجيـة و ذلـك لتسهيـل و اختصـار وقـت إدخـال البيـانــات فـي حـالــة تكـرار أي عمليــة </a:t>
            </a:r>
            <a:r>
              <a:rPr lang="ar-EG" sz="1600" dirty="0" smtClean="0">
                <a:cs typeface="+mj-cs"/>
              </a:rPr>
              <a:t>إنتـاجيـة.</a:t>
            </a:r>
          </a:p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يمكـن </a:t>
            </a:r>
            <a:r>
              <a:rPr lang="ar-EG" sz="1600" dirty="0">
                <a:cs typeface="+mj-cs"/>
              </a:rPr>
              <a:t>عمـل أكثـر مــن مسـار للمنتـج الــواحـد.</a:t>
            </a:r>
          </a:p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يمكــن </a:t>
            </a:r>
            <a:r>
              <a:rPr lang="ar-EG" sz="1600" dirty="0">
                <a:cs typeface="+mj-cs"/>
              </a:rPr>
              <a:t>تسجيـل </a:t>
            </a:r>
            <a:r>
              <a:rPr lang="en-US" sz="1600" b="1" dirty="0" smtClean="0">
                <a:cs typeface="+mj-cs"/>
              </a:rPr>
              <a:t>Overlap Flag &amp;Overlap </a:t>
            </a:r>
            <a:r>
              <a:rPr lang="ar-EG" sz="1600" b="1" dirty="0" smtClean="0">
                <a:cs typeface="+mj-cs"/>
              </a:rPr>
              <a:t> </a:t>
            </a:r>
            <a:r>
              <a:rPr lang="ar-EG" sz="1600" dirty="0" smtClean="0">
                <a:cs typeface="+mj-cs"/>
              </a:rPr>
              <a:t>و </a:t>
            </a:r>
            <a:r>
              <a:rPr lang="ar-EG" sz="1600" dirty="0">
                <a:cs typeface="+mj-cs"/>
              </a:rPr>
              <a:t>ذلـــك لحســاب زمـن بــدايـة  و نهـايـة أوامـر الإنتـاج فـي حالـة تـداخـل أزمنـة مـراحل التشغيـل مـع تحـديـد نـوع هـذا التـداخـل (دقـائق أو نسبة)</a:t>
            </a:r>
          </a:p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يمكـن </a:t>
            </a:r>
            <a:r>
              <a:rPr lang="ar-EG" sz="1600" dirty="0">
                <a:cs typeface="+mj-cs"/>
              </a:rPr>
              <a:t>ربـط أي مكـون في شجرة المنتـج بأي عمليـة إنتـاجيـة بحيث يمكـن صـرف هذا المكـون علـي هـذه العمليـة فقـط أو صـرف كـل المكـونـات دفعـة واحـدة و ذلـك حسـب اختيـار </a:t>
            </a:r>
            <a:r>
              <a:rPr lang="ar-EG" sz="1600" dirty="0" smtClean="0">
                <a:cs typeface="+mj-cs"/>
              </a:rPr>
              <a:t>المستخدم</a:t>
            </a:r>
          </a:p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تـوجـد </a:t>
            </a:r>
            <a:r>
              <a:rPr lang="ar-EG" sz="1600" dirty="0">
                <a:cs typeface="+mj-cs"/>
              </a:rPr>
              <a:t>تقـاريـر خـاصـة بالـربـط بيـن شجـرة المنتـج و عمليـات التشغيـل لتسهيـل صـرف الخـامـات علـي كـل عمليـة </a:t>
            </a:r>
            <a:r>
              <a:rPr lang="ar-EG" sz="1600" dirty="0" smtClean="0">
                <a:cs typeface="+mj-cs"/>
              </a:rPr>
              <a:t>.</a:t>
            </a:r>
            <a:endParaRPr lang="ar-EG" sz="1600" dirty="0">
              <a:cs typeface="+mj-cs"/>
            </a:endParaRPr>
          </a:p>
          <a:p>
            <a:pPr algn="r" rtl="1">
              <a:lnSpc>
                <a:spcPct val="170000"/>
              </a:lnSpc>
            </a:pPr>
            <a:r>
              <a:rPr lang="ar-EG" sz="1600" dirty="0" smtClean="0">
                <a:cs typeface="+mj-cs"/>
              </a:rPr>
              <a:t>تـوجـد </a:t>
            </a:r>
            <a:r>
              <a:rPr lang="ar-EG" sz="1600" dirty="0">
                <a:cs typeface="+mj-cs"/>
              </a:rPr>
              <a:t>تقاريـر متـابعـة كـاملـة للعمليـات الإنتـاجيـة الفعليـة مـع مقـارنـات بينهـا و بيـن المعيـارية  مـن حيـث الكميـات المطلـوبـة و أزمنـة العمليـات و صـرف الخـامـات مـن المخامات</a:t>
            </a:r>
          </a:p>
          <a:p>
            <a:pPr algn="r" rtl="1">
              <a:lnSpc>
                <a:spcPct val="150000"/>
              </a:lnSpc>
            </a:pPr>
            <a:endParaRPr lang="ar-EG" sz="1200" b="1" dirty="0">
              <a:cs typeface="+mj-cs"/>
            </a:endParaRPr>
          </a:p>
        </p:txBody>
      </p:sp>
      <p:pic>
        <p:nvPicPr>
          <p:cNvPr id="14" name="Picture 13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/>
              <a:t>مميـزات أوامـر الإنتـاج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b="1" dirty="0">
                <a:solidFill>
                  <a:schemeClr val="bg1"/>
                </a:solidFill>
              </a:rPr>
              <a:t>مميـزات أوامـر الإنتـاج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1827227"/>
            <a:ext cx="10515600" cy="464595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يمكـن </a:t>
            </a:r>
            <a:r>
              <a:rPr lang="ar-EG" sz="1800" dirty="0">
                <a:cs typeface="+mj-cs"/>
              </a:rPr>
              <a:t>عمـل أكثـر مـن نـوع لأوامـر الإنتـاج و ذلـك لتصنيـف الأوامـر حسـب مـا يـراه المستخـدم.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إمكـانيـة </a:t>
            </a:r>
            <a:r>
              <a:rPr lang="ar-EG" sz="1800" dirty="0">
                <a:cs typeface="+mj-cs"/>
              </a:rPr>
              <a:t>التعـديـل فـي شجـرة المنتـج و العمليـات الإنتـاجية علـي مستـوى أمـر الإنتـاج بـدون التغيير فـي شجـرة المنتج و العمليـات الإنتـاجيـة الأصليـة (الأساسية).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يمكـن </a:t>
            </a:r>
            <a:r>
              <a:rPr lang="ar-EG" sz="1800" dirty="0">
                <a:cs typeface="+mj-cs"/>
              </a:rPr>
              <a:t>حسـاب زمـن انتهاء أمـر الإنتـاج المعيـاري بمعلـوميـة زمـن بـدايـة الأمـر أو العكـس.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يتـم </a:t>
            </a:r>
            <a:r>
              <a:rPr lang="ar-EG" sz="1800" dirty="0">
                <a:cs typeface="+mj-cs"/>
              </a:rPr>
              <a:t>تسجيـل تفـاصيـل الإنتـاج اليـومـي بـدقـة لكـل عمليـة إنتاجية.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تـوجـد </a:t>
            </a:r>
            <a:r>
              <a:rPr lang="ar-EG" sz="1800" dirty="0">
                <a:cs typeface="+mj-cs"/>
              </a:rPr>
              <a:t>مـرونـة عـاليـة فـي النظـام لنقـل المنتـج مـن أي عمليـة إنتـاجيـة إلـي أخـرى سـواء كـانـت سـابقة أو تـاليـة لهـا و ذلـك عنـد عمـل إعـادة تشغيـل للمنتج علـي عمليـة إنتـاجية أخـرى كمـا يمكـن تخـريـد أي كميـة تـالفـة مـن الإنتـاج و نقلهـا إلـي مخـزن الخـردة مباشـرة. </a:t>
            </a:r>
          </a:p>
        </p:txBody>
      </p:sp>
      <p:pic>
        <p:nvPicPr>
          <p:cNvPr id="12" name="Picture 11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7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تعـريف العمـالـة (كـود – تكلفـة فـي السـاعـة) والإدخال في شـاشـة </a:t>
            </a:r>
            <a:r>
              <a:rPr lang="en-US" dirty="0"/>
              <a:t>Employee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إعداد المهام (</a:t>
            </a:r>
            <a:r>
              <a:rPr lang="en-US" dirty="0"/>
              <a:t>Tasks) </a:t>
            </a:r>
            <a:r>
              <a:rPr lang="ar-EG" dirty="0"/>
              <a:t>المكلف بها كل مركز تشغيل في الـوحـدة الإنتـاجيـة ثـم إدخالها في الشاشة الخاصة بها  </a:t>
            </a:r>
          </a:p>
          <a:p>
            <a:pPr algn="ctr"/>
            <a:r>
              <a:rPr lang="ar-EG" dirty="0"/>
              <a:t>•	إعـداد مسـارات (</a:t>
            </a:r>
            <a:r>
              <a:rPr lang="en-US" dirty="0"/>
              <a:t>Routing) </a:t>
            </a:r>
            <a:r>
              <a:rPr lang="ar-EG" dirty="0"/>
              <a:t>العمليـات الإنتـاجية الخـاصـة بالمنتج مـوضحـا بهـا رقـم العملية و مـركـز التشغيـل و عـدد المـاكينـات و العمـالـة و زمـن التشغيـل و زمـن التجهيـز ثـم إدخـالهـا.</a:t>
            </a:r>
          </a:p>
          <a:p>
            <a:pPr algn="ctr"/>
            <a:r>
              <a:rPr lang="ar-EG" dirty="0"/>
              <a:t>•	عمـل أوامـر الإنتـاج (</a:t>
            </a:r>
            <a:r>
              <a:rPr lang="en-US" dirty="0"/>
              <a:t>Production Order) </a:t>
            </a:r>
            <a:r>
              <a:rPr lang="ar-EG" dirty="0"/>
              <a:t>بالكميـات المطلـوبـة مـن المنتج و يتـم إدخـال ميعـاد بـدايـة الإنتـاج و يقـوم البرنـامـج بحسـاب زمـن الانتهاء مـن أمـر الإنتـاج و ذلـك في شاشة ال </a:t>
            </a:r>
            <a:r>
              <a:rPr lang="en-US" dirty="0"/>
              <a:t>Production Order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عمـل إذن صـرف الخـامـات  </a:t>
            </a:r>
            <a:r>
              <a:rPr lang="en-US" dirty="0"/>
              <a:t>Material Issue </a:t>
            </a:r>
            <a:r>
              <a:rPr lang="ar-EG" dirty="0"/>
              <a:t>مـن المخـازن بالكميـات المطلوبـة و ذلـك مـن خـلال شجـرة المنتـج و ذلـك من شـاشة </a:t>
            </a:r>
            <a:r>
              <a:rPr lang="en-US" dirty="0"/>
              <a:t>Issued Material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إدخـال بيـانـات الإنتـاج الفعليـة في شـاشـة </a:t>
            </a:r>
            <a:r>
              <a:rPr lang="en-US" dirty="0"/>
              <a:t>Operation Reporting </a:t>
            </a:r>
            <a:r>
              <a:rPr lang="ar-EG" dirty="0"/>
              <a:t>مـن واقـع الإنتـاج مثـل زمـن بـدايـة و نهـايـة أمـر الإنتـاج أو نهـايـة اليـوم و كميـات الإنتـاج (السليم/المرفوض) مـع بيـان نـوع المـرفـوض مـن حيـث مـرفـوض نهـائـي أو مـرفـوض و يمكـن عمل عمليـة إعـادة تشغيـل لـه و ذلـك بواسطة شاشة </a:t>
            </a:r>
            <a:r>
              <a:rPr lang="en-US" dirty="0"/>
              <a:t>Scrap </a:t>
            </a:r>
          </a:p>
          <a:p>
            <a:pPr algn="ctr"/>
            <a:r>
              <a:rPr lang="ar-EG" dirty="0"/>
              <a:t>ثم تعـريف (عـدد المـاكينـات المستخـدمـة/عـدد العمـالـة) الفعليـة في كـل مـن شـاشـة الـ (</a:t>
            </a:r>
            <a:r>
              <a:rPr lang="en-US" dirty="0"/>
              <a:t>Employee / Machine)</a:t>
            </a:r>
          </a:p>
          <a:p>
            <a:pPr algn="ctr"/>
            <a:r>
              <a:rPr lang="en-US" dirty="0" smtClean="0"/>
              <a:t>•	</a:t>
            </a:r>
            <a:r>
              <a:rPr lang="ar-EG" dirty="0" smtClean="0"/>
              <a:t>فـي حـالـة حـدوث تـوقف فـي الإنتـاج قبـل إكمـال الكميـة المطلـوبـة يمكـن إعـادة الخـامـات المتبقيـة إلـي المخازن مـرة أخـرى في شـاشـة الـ  </a:t>
            </a:r>
            <a:r>
              <a:rPr lang="en-US" dirty="0" smtClean="0"/>
              <a:t>Returned Material </a:t>
            </a:r>
          </a:p>
          <a:p>
            <a:pPr algn="ctr"/>
            <a:r>
              <a:rPr lang="en-US" dirty="0" smtClean="0"/>
              <a:t>•</a:t>
            </a:r>
            <a:r>
              <a:rPr lang="en-US" dirty="0"/>
              <a:t>	</a:t>
            </a:r>
            <a:r>
              <a:rPr lang="ar-EG" dirty="0"/>
              <a:t>عنـد الانتهاء مـن أمـر الإنتـاج نسجـل الـزمـن الفعلـي لنهـايته في شـاشة </a:t>
            </a:r>
            <a:r>
              <a:rPr lang="en-US" dirty="0"/>
              <a:t>Completed Order </a:t>
            </a:r>
            <a:r>
              <a:rPr lang="ar-EG" dirty="0"/>
              <a:t>و بـذلك نستطيـع عمـل </a:t>
            </a:r>
            <a:r>
              <a:rPr lang="en-US" dirty="0"/>
              <a:t>Completed </a:t>
            </a:r>
            <a:r>
              <a:rPr lang="ar-EG" dirty="0"/>
              <a:t>لأمـر الإنتـاج ثـم عمـل </a:t>
            </a:r>
            <a:r>
              <a:rPr lang="en-US" dirty="0"/>
              <a:t>Closure </a:t>
            </a:r>
            <a:r>
              <a:rPr lang="ar-EG" dirty="0"/>
              <a:t>مـن شـاشـة الـ </a:t>
            </a:r>
            <a:r>
              <a:rPr lang="en-US" dirty="0"/>
              <a:t>Actual Cost Calculation </a:t>
            </a:r>
            <a:r>
              <a:rPr lang="ar-EG" dirty="0"/>
              <a:t>وبعـد ذلـك يمكـن حساب التكلفـة الفعليـة لأمـر الإنتـاج و عمـل مقـارنـة بيـن التكلفـة القيـاسيـة و التكلفـة الفعليـة لـلإنتـاج.</a:t>
            </a:r>
          </a:p>
          <a:p>
            <a:pPr algn="ctr"/>
            <a:endParaRPr lang="ar-EG" dirty="0"/>
          </a:p>
          <a:p>
            <a:pPr algn="ctr"/>
            <a:r>
              <a:rPr lang="ar-EG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b="1" dirty="0">
                <a:solidFill>
                  <a:schemeClr val="bg1"/>
                </a:solidFill>
              </a:rPr>
              <a:t>ملخص </a:t>
            </a:r>
            <a:r>
              <a:rPr lang="ar-EG" b="1" dirty="0" smtClean="0">
                <a:solidFill>
                  <a:schemeClr val="bg1"/>
                </a:solidFill>
              </a:rPr>
              <a:t>دورة </a:t>
            </a:r>
            <a:r>
              <a:rPr lang="ar-EG" b="1" dirty="0">
                <a:solidFill>
                  <a:schemeClr val="bg1"/>
                </a:solidFill>
              </a:rPr>
              <a:t>الإنتاج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359763" y="1672673"/>
            <a:ext cx="10019763" cy="464595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ادخـال </a:t>
            </a:r>
            <a:r>
              <a:rPr lang="ar-EG" sz="1800" dirty="0">
                <a:cs typeface="+mj-cs"/>
              </a:rPr>
              <a:t>بيـانـات الأصنـاف و المنتجـات مثـل </a:t>
            </a:r>
            <a:r>
              <a:rPr lang="ar-EG" sz="1800" dirty="0" smtClean="0">
                <a:cs typeface="+mj-cs"/>
              </a:rPr>
              <a:t>:-( </a:t>
            </a:r>
            <a:r>
              <a:rPr lang="ar-EG" sz="1800" dirty="0">
                <a:cs typeface="+mj-cs"/>
              </a:rPr>
              <a:t>الاسـم – الكـود – الخـامـة – الـوحـدة – الـرصيد بالمخـازن – كـود المخـزن – السعـر </a:t>
            </a:r>
            <a:r>
              <a:rPr lang="ar-EG" sz="1800" dirty="0" smtClean="0">
                <a:cs typeface="+mj-cs"/>
              </a:rPr>
              <a:t>) و </a:t>
            </a:r>
            <a:r>
              <a:rPr lang="ar-EG" sz="1800" dirty="0">
                <a:cs typeface="+mj-cs"/>
              </a:rPr>
              <a:t>ذلـك في برنامج المخازن شاشة بيانات الأصناف 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إعـداد </a:t>
            </a:r>
            <a:r>
              <a:rPr lang="ar-EG" sz="1800" dirty="0">
                <a:cs typeface="+mj-cs"/>
              </a:rPr>
              <a:t>شجـرة المنتج </a:t>
            </a:r>
            <a:r>
              <a:rPr lang="ar-EG" sz="1800" dirty="0" smtClean="0">
                <a:cs typeface="+mj-cs"/>
              </a:rPr>
              <a:t> </a:t>
            </a:r>
            <a:r>
              <a:rPr lang="en-US" sz="1800" b="1" dirty="0" smtClean="0">
                <a:cs typeface="+mj-cs"/>
              </a:rPr>
              <a:t>Bill </a:t>
            </a:r>
            <a:r>
              <a:rPr lang="en-US" sz="1800" b="1" dirty="0">
                <a:cs typeface="+mj-cs"/>
              </a:rPr>
              <a:t>of Material </a:t>
            </a:r>
            <a:r>
              <a:rPr lang="ar-EG" sz="1800" b="1" dirty="0" smtClean="0">
                <a:cs typeface="+mj-cs"/>
              </a:rPr>
              <a:t> </a:t>
            </a:r>
            <a:r>
              <a:rPr lang="ar-EG" sz="1800" dirty="0" smtClean="0">
                <a:cs typeface="+mj-cs"/>
              </a:rPr>
              <a:t>و </a:t>
            </a:r>
            <a:r>
              <a:rPr lang="ar-EG" sz="1800" dirty="0">
                <a:cs typeface="+mj-cs"/>
              </a:rPr>
              <a:t>إدخالها فـي الشـاشة الخاصة بها في البـرنـامج مـوضحـا بهـا الكميـات الـلازمـة مـن الخـامـات التي تدخـل فـي عمليـة </a:t>
            </a:r>
            <a:r>
              <a:rPr lang="ar-EG" sz="1800" dirty="0" smtClean="0">
                <a:cs typeface="+mj-cs"/>
              </a:rPr>
              <a:t>الإنتـاج.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إعـداد </a:t>
            </a:r>
            <a:r>
              <a:rPr lang="ar-EG" sz="1800" dirty="0">
                <a:cs typeface="+mj-cs"/>
              </a:rPr>
              <a:t>مـراكـز التشغيـل </a:t>
            </a:r>
            <a:r>
              <a:rPr lang="en-US" sz="1800" dirty="0" smtClean="0">
                <a:cs typeface="+mj-cs"/>
              </a:rPr>
              <a:t> (Work </a:t>
            </a:r>
            <a:r>
              <a:rPr lang="en-US" sz="1800" dirty="0">
                <a:cs typeface="+mj-cs"/>
              </a:rPr>
              <a:t>Center) </a:t>
            </a:r>
            <a:r>
              <a:rPr lang="ar-EG" sz="1800" dirty="0">
                <a:cs typeface="+mj-cs"/>
              </a:rPr>
              <a:t>المـوجـودة فـي الـوحـدة الإنتـاجيـة مـع بيـان نـوعهـا مـن حيـث مـراكـز تشغيـل أسـاسيـة أو فـرعيـة أو تشغيـل عنـد مقـاولـي البـاطـن.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بيـان </a:t>
            </a:r>
            <a:r>
              <a:rPr lang="ar-EG" sz="1800" dirty="0">
                <a:cs typeface="+mj-cs"/>
              </a:rPr>
              <a:t>نـوع العمـل سـواء كـان يعتمـد بصـورة أسـاسيـة علـى استخدام مـاكينـات أو استخدام عمـالـة فقـط مـع تعـريف (المـاكينـات – العمـالـة - زمـن التشغيـل - عـدد سـاعـات التشغيـل فـي الـورديـة - عـدد الـورديـات فـي اليـوم – عـدد سـاعـات التشغيـل المتـاحـة فـي اليوم) ثم إدخـالها في الشـاشة الخـاصـة بال </a:t>
            </a:r>
            <a:r>
              <a:rPr lang="en-US" sz="1800" b="1" dirty="0">
                <a:cs typeface="+mj-cs"/>
              </a:rPr>
              <a:t>Work Center </a:t>
            </a:r>
          </a:p>
          <a:p>
            <a:pPr algn="r" rtl="1">
              <a:lnSpc>
                <a:spcPct val="150000"/>
              </a:lnSpc>
            </a:pPr>
            <a:r>
              <a:rPr lang="ar-EG" sz="1800" dirty="0" smtClean="0">
                <a:cs typeface="+mj-cs"/>
              </a:rPr>
              <a:t>تعـريف </a:t>
            </a:r>
            <a:r>
              <a:rPr lang="ar-EG" sz="1800" dirty="0">
                <a:cs typeface="+mj-cs"/>
              </a:rPr>
              <a:t>المـاكينـات (كـود – تكلفـة فـي السـاعـة) ثم إدخـالهـا في شاشة الـ </a:t>
            </a:r>
            <a:r>
              <a:rPr lang="en-US" sz="1800" b="1" dirty="0">
                <a:cs typeface="+mj-cs"/>
              </a:rPr>
              <a:t>Machine</a:t>
            </a:r>
            <a:r>
              <a:rPr lang="en-US" sz="1800" dirty="0">
                <a:cs typeface="+mj-cs"/>
              </a:rPr>
              <a:t> </a:t>
            </a:r>
            <a:endParaRPr lang="ar-EG" sz="800" dirty="0">
              <a:cs typeface="+mj-cs"/>
            </a:endParaRPr>
          </a:p>
          <a:p>
            <a:pPr algn="r" rtl="1">
              <a:lnSpc>
                <a:spcPct val="150000"/>
              </a:lnSpc>
            </a:pPr>
            <a:endParaRPr lang="ar-EG" sz="700" dirty="0">
              <a:cs typeface="+mj-cs"/>
            </a:endParaRPr>
          </a:p>
        </p:txBody>
      </p:sp>
      <p:pic>
        <p:nvPicPr>
          <p:cNvPr id="14" name="Picture 13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9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تعـريف العمـالـة (كـود – تكلفـة فـي السـاعـة) والإدخال في شـاشـة </a:t>
            </a:r>
            <a:r>
              <a:rPr lang="en-US" dirty="0"/>
              <a:t>Employee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إعداد المهام (</a:t>
            </a:r>
            <a:r>
              <a:rPr lang="en-US" dirty="0"/>
              <a:t>Tasks) </a:t>
            </a:r>
            <a:r>
              <a:rPr lang="ar-EG" dirty="0"/>
              <a:t>المكلف بها كل مركز تشغيل في الـوحـدة الإنتـاجيـة ثـم إدخالها في الشاشة الخاصة بها  </a:t>
            </a:r>
          </a:p>
          <a:p>
            <a:pPr algn="ctr"/>
            <a:r>
              <a:rPr lang="ar-EG" dirty="0"/>
              <a:t>•	إعـداد مسـارات (</a:t>
            </a:r>
            <a:r>
              <a:rPr lang="en-US" dirty="0"/>
              <a:t>Routing) </a:t>
            </a:r>
            <a:r>
              <a:rPr lang="ar-EG" dirty="0"/>
              <a:t>العمليـات الإنتـاجية الخـاصـة بالمنتج مـوضحـا بهـا رقـم العملية و مـركـز التشغيـل و عـدد المـاكينـات و العمـالـة و زمـن التشغيـل و زمـن التجهيـز ثـم إدخـالهـا.</a:t>
            </a:r>
          </a:p>
          <a:p>
            <a:pPr algn="ctr"/>
            <a:r>
              <a:rPr lang="ar-EG" dirty="0"/>
              <a:t>•	عمـل أوامـر الإنتـاج (</a:t>
            </a:r>
            <a:r>
              <a:rPr lang="en-US" dirty="0"/>
              <a:t>Production Order) </a:t>
            </a:r>
            <a:r>
              <a:rPr lang="ar-EG" dirty="0"/>
              <a:t>بالكميـات المطلـوبـة مـن المنتج و يتـم إدخـال ميعـاد بـدايـة الإنتـاج و يقـوم البرنـامـج بحسـاب زمـن الانتهاء مـن أمـر الإنتـاج و ذلـك في شاشة ال </a:t>
            </a:r>
            <a:r>
              <a:rPr lang="en-US" dirty="0"/>
              <a:t>Production Order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عمـل إذن صـرف الخـامـات  </a:t>
            </a:r>
            <a:r>
              <a:rPr lang="en-US" dirty="0"/>
              <a:t>Material Issue </a:t>
            </a:r>
            <a:r>
              <a:rPr lang="ar-EG" dirty="0"/>
              <a:t>مـن المخـازن بالكميـات المطلوبـة و ذلـك مـن خـلال شجـرة المنتـج و ذلـك من شـاشة </a:t>
            </a:r>
            <a:r>
              <a:rPr lang="en-US" dirty="0"/>
              <a:t>Issued Material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إدخـال بيـانـات الإنتـاج الفعليـة في شـاشـة </a:t>
            </a:r>
            <a:r>
              <a:rPr lang="en-US" dirty="0"/>
              <a:t>Operation Reporting </a:t>
            </a:r>
            <a:r>
              <a:rPr lang="ar-EG" dirty="0"/>
              <a:t>مـن واقـع الإنتـاج مثـل زمـن بـدايـة و نهـايـة أمـر الإنتـاج أو نهـايـة اليـوم و كميـات الإنتـاج (السليم/المرفوض) مـع بيـان نـوع المـرفـوض مـن حيـث مـرفـوض نهـائـي أو مـرفـوض و يمكـن عمل عمليـة إعـادة تشغيـل لـه و ذلـك بواسطة شاشة </a:t>
            </a:r>
            <a:r>
              <a:rPr lang="en-US" dirty="0"/>
              <a:t>Scrap </a:t>
            </a:r>
          </a:p>
          <a:p>
            <a:pPr algn="ctr"/>
            <a:r>
              <a:rPr lang="ar-EG" dirty="0"/>
              <a:t>ثم تعـريف (عـدد المـاكينـات المستخـدمـة/عـدد العمـالـة) الفعليـة في كـل مـن شـاشـة الـ (</a:t>
            </a:r>
            <a:r>
              <a:rPr lang="en-US" dirty="0"/>
              <a:t>Employee / Machine)</a:t>
            </a:r>
          </a:p>
          <a:p>
            <a:pPr algn="ctr"/>
            <a:r>
              <a:rPr lang="en-US" dirty="0" smtClean="0"/>
              <a:t>•	</a:t>
            </a:r>
            <a:r>
              <a:rPr lang="ar-EG" dirty="0" smtClean="0"/>
              <a:t>فـي حـالـة حـدوث تـوقف فـي الإنتـاج قبـل إكمـال الكميـة المطلـوبـة يمكـن إعـادة الخـامـات المتبقيـة إلـي المخازن مـرة أخـرى في شـاشـة الـ  </a:t>
            </a:r>
            <a:r>
              <a:rPr lang="en-US" dirty="0" smtClean="0"/>
              <a:t>Returned Material </a:t>
            </a:r>
          </a:p>
          <a:p>
            <a:pPr algn="ctr"/>
            <a:r>
              <a:rPr lang="en-US" dirty="0" smtClean="0"/>
              <a:t>•</a:t>
            </a:r>
            <a:r>
              <a:rPr lang="en-US" dirty="0"/>
              <a:t>	</a:t>
            </a:r>
            <a:r>
              <a:rPr lang="ar-EG" dirty="0"/>
              <a:t>عنـد الانتهاء مـن أمـر الإنتـاج نسجـل الـزمـن الفعلـي لنهـايته في شـاشة </a:t>
            </a:r>
            <a:r>
              <a:rPr lang="en-US" dirty="0"/>
              <a:t>Completed Order </a:t>
            </a:r>
            <a:r>
              <a:rPr lang="ar-EG" dirty="0"/>
              <a:t>و بـذلك نستطيـع عمـل </a:t>
            </a:r>
            <a:r>
              <a:rPr lang="en-US" dirty="0"/>
              <a:t>Completed </a:t>
            </a:r>
            <a:r>
              <a:rPr lang="ar-EG" dirty="0"/>
              <a:t>لأمـر الإنتـاج ثـم عمـل </a:t>
            </a:r>
            <a:r>
              <a:rPr lang="en-US" dirty="0"/>
              <a:t>Closure </a:t>
            </a:r>
            <a:r>
              <a:rPr lang="ar-EG" dirty="0"/>
              <a:t>مـن شـاشـة الـ </a:t>
            </a:r>
            <a:r>
              <a:rPr lang="en-US" dirty="0"/>
              <a:t>Actual Cost Calculation </a:t>
            </a:r>
            <a:r>
              <a:rPr lang="ar-EG" dirty="0"/>
              <a:t>وبعـد ذلـك يمكـن حساب التكلفـة الفعليـة لأمـر الإنتـاج و عمـل مقـارنـة بيـن التكلفـة القيـاسيـة و التكلفـة الفعليـة لـلإنتـاج.</a:t>
            </a:r>
          </a:p>
          <a:p>
            <a:pPr algn="ctr"/>
            <a:endParaRPr lang="ar-EG" dirty="0"/>
          </a:p>
          <a:p>
            <a:pPr algn="ctr"/>
            <a:r>
              <a:rPr lang="ar-EG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b="1" dirty="0" smtClean="0">
                <a:solidFill>
                  <a:schemeClr val="bg1"/>
                </a:solidFill>
              </a:rPr>
              <a:t>تابع ملخص دورة </a:t>
            </a:r>
            <a:r>
              <a:rPr lang="ar-EG" b="1" dirty="0">
                <a:solidFill>
                  <a:schemeClr val="bg1"/>
                </a:solidFill>
              </a:rPr>
              <a:t>الإنتاج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58992" y="1585035"/>
            <a:ext cx="947885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تعـريف </a:t>
            </a:r>
            <a:r>
              <a:rPr lang="ar-EG" dirty="0">
                <a:cs typeface="+mj-cs"/>
              </a:rPr>
              <a:t>العمـالـة (كـود – تكلفـة فـي السـاعـة) والإدخال في شـاشـة </a:t>
            </a:r>
            <a:r>
              <a:rPr lang="en-US" b="1" dirty="0">
                <a:cs typeface="+mj-cs"/>
              </a:rPr>
              <a:t>Employee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إعداد </a:t>
            </a:r>
            <a:r>
              <a:rPr lang="ar-EG" dirty="0">
                <a:cs typeface="+mj-cs"/>
              </a:rPr>
              <a:t>المهام </a:t>
            </a:r>
            <a:r>
              <a:rPr lang="ar-EG" dirty="0" smtClean="0">
                <a:cs typeface="+mj-cs"/>
              </a:rPr>
              <a:t>(</a:t>
            </a:r>
            <a:r>
              <a:rPr lang="en-US" dirty="0" smtClean="0">
                <a:cs typeface="+mj-cs"/>
              </a:rPr>
              <a:t> (</a:t>
            </a:r>
            <a:r>
              <a:rPr lang="en-US" b="1" dirty="0" smtClean="0">
                <a:cs typeface="+mj-cs"/>
              </a:rPr>
              <a:t>Tasks</a:t>
            </a:r>
            <a:r>
              <a:rPr lang="en-US" dirty="0">
                <a:cs typeface="+mj-cs"/>
              </a:rPr>
              <a:t>) </a:t>
            </a:r>
            <a:r>
              <a:rPr lang="ar-EG" dirty="0">
                <a:cs typeface="+mj-cs"/>
              </a:rPr>
              <a:t>المكلف بها كل مركز تشغيل في الـوحـدة الإنتـاجيـة ثـم إدخالها في الشاشة الخاصة بها 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إعـداد </a:t>
            </a:r>
            <a:r>
              <a:rPr lang="ar-EG" dirty="0">
                <a:cs typeface="+mj-cs"/>
              </a:rPr>
              <a:t>مسـارات </a:t>
            </a:r>
            <a:r>
              <a:rPr lang="en-US" dirty="0" smtClean="0">
                <a:cs typeface="+mj-cs"/>
              </a:rPr>
              <a:t> (Routing</a:t>
            </a:r>
            <a:r>
              <a:rPr lang="en-US" dirty="0">
                <a:cs typeface="+mj-cs"/>
              </a:rPr>
              <a:t>) </a:t>
            </a:r>
            <a:r>
              <a:rPr lang="ar-EG" dirty="0">
                <a:cs typeface="+mj-cs"/>
              </a:rPr>
              <a:t>العمليـات الإنتـاجية الخـاصـة بالمنتج مـوضحـا بهـا رقـم العملية و مـركـز التشغيـل و عـدد المـاكينـات و العمـالـة و زمـن التشغيـل و زمـن التجهيـز ثـم إدخـالهـا.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عمـل </a:t>
            </a:r>
            <a:r>
              <a:rPr lang="ar-EG" dirty="0">
                <a:cs typeface="+mj-cs"/>
              </a:rPr>
              <a:t>أوامـر الإنتـاج (</a:t>
            </a:r>
            <a:r>
              <a:rPr lang="en-US" dirty="0">
                <a:cs typeface="+mj-cs"/>
              </a:rPr>
              <a:t>Production Order) </a:t>
            </a:r>
            <a:r>
              <a:rPr lang="ar-EG" dirty="0">
                <a:cs typeface="+mj-cs"/>
              </a:rPr>
              <a:t>بالكميـات المطلـوبـة مـن المنتج و يتـم إدخـال ميعـاد بـدايـة الإنتـاج و يقـوم البرنـامـج بحسـاب زمـن الانتهاء مـن أمـر الإنتـاج و ذلـك في شاشة ال </a:t>
            </a:r>
            <a:r>
              <a:rPr lang="en-US" dirty="0">
                <a:cs typeface="+mj-cs"/>
              </a:rPr>
              <a:t>Production Order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يتـم </a:t>
            </a:r>
            <a:r>
              <a:rPr lang="ar-EG" dirty="0">
                <a:cs typeface="+mj-cs"/>
              </a:rPr>
              <a:t>عمـل إذن صـرف الخـامـات  </a:t>
            </a:r>
            <a:r>
              <a:rPr lang="en-US" dirty="0">
                <a:cs typeface="+mj-cs"/>
              </a:rPr>
              <a:t>Material Issue </a:t>
            </a:r>
            <a:r>
              <a:rPr lang="ar-EG" dirty="0">
                <a:cs typeface="+mj-cs"/>
              </a:rPr>
              <a:t>مـن المخـازن بالكميـات المطلوبـة و ذلـك مـن خـلال شجـرة المنتـج و ذلـك من شـاشة </a:t>
            </a:r>
            <a:r>
              <a:rPr lang="en-US" dirty="0">
                <a:cs typeface="+mj-cs"/>
              </a:rPr>
              <a:t>Issued Material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يتـم </a:t>
            </a:r>
            <a:r>
              <a:rPr lang="ar-EG" dirty="0">
                <a:cs typeface="+mj-cs"/>
              </a:rPr>
              <a:t>إدخـال بيـانـات الإنتـاج الفعليـة في شـاشـة </a:t>
            </a:r>
            <a:r>
              <a:rPr lang="en-US" dirty="0">
                <a:cs typeface="+mj-cs"/>
              </a:rPr>
              <a:t>Operation Reporting </a:t>
            </a:r>
            <a:r>
              <a:rPr lang="ar-EG" dirty="0">
                <a:cs typeface="+mj-cs"/>
              </a:rPr>
              <a:t>مـن واقـع الإنتـاج مثـل زمـن بـدايـة و نهـايـة أمـر الإنتـاج أو نهـايـة اليـوم و كميـات الإنتـاج (السليم/المرفوض) مـع بيـان نـوع المـرفـوض مـن حيـث مـرفـوض نهـائـي أو مـرفـوض و يمكـن عمل عمليـة إعـادة تشغيـل لـه و ذلـك بواسطة شاشة </a:t>
            </a:r>
            <a:r>
              <a:rPr lang="en-US" dirty="0">
                <a:cs typeface="+mj-cs"/>
              </a:rPr>
              <a:t>Scrap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cs typeface="+mj-cs"/>
              </a:rPr>
              <a:t>ثم تعـريف (عـدد المـاكينـات المستخـدمـة/عـدد العمـالـة) الفعليـة في كـل مـن شـاشـة الـ (</a:t>
            </a:r>
            <a:r>
              <a:rPr lang="en-US" dirty="0">
                <a:cs typeface="+mj-cs"/>
              </a:rPr>
              <a:t>Employee / Machine</a:t>
            </a:r>
            <a:r>
              <a:rPr lang="en-US" dirty="0" smtClean="0">
                <a:cs typeface="+mj-cs"/>
              </a:rPr>
              <a:t>)</a:t>
            </a:r>
            <a:endParaRPr lang="ar-EG" dirty="0">
              <a:cs typeface="+mj-cs"/>
            </a:endParaRPr>
          </a:p>
          <a:p>
            <a:pPr algn="r" rtl="1">
              <a:lnSpc>
                <a:spcPct val="150000"/>
              </a:lnSpc>
            </a:pPr>
            <a:endParaRPr lang="ar-EG" sz="800" dirty="0"/>
          </a:p>
          <a:p>
            <a:pPr algn="r" rtl="1">
              <a:lnSpc>
                <a:spcPct val="150000"/>
              </a:lnSpc>
            </a:pPr>
            <a:r>
              <a:rPr lang="ar-EG" sz="800" dirty="0"/>
              <a:t> </a:t>
            </a:r>
          </a:p>
        </p:txBody>
      </p:sp>
      <p:pic>
        <p:nvPicPr>
          <p:cNvPr id="9" name="Picture 8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1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="" xmlns:a16="http://schemas.microsoft.com/office/drawing/2014/main" id="{BACC6370-2D7E-4714-9D71-7542949D7D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dirty="0"/>
              <a:t>تعـريف العمـالـة (كـود – تكلفـة فـي السـاعـة) والإدخال في شـاشـة </a:t>
            </a:r>
            <a:r>
              <a:rPr lang="en-US" dirty="0"/>
              <a:t>Employee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إعداد المهام (</a:t>
            </a:r>
            <a:r>
              <a:rPr lang="en-US" dirty="0"/>
              <a:t>Tasks) </a:t>
            </a:r>
            <a:r>
              <a:rPr lang="ar-EG" dirty="0"/>
              <a:t>المكلف بها كل مركز تشغيل في الـوحـدة الإنتـاجيـة ثـم إدخالها في الشاشة الخاصة بها  </a:t>
            </a:r>
          </a:p>
          <a:p>
            <a:pPr algn="ctr"/>
            <a:r>
              <a:rPr lang="ar-EG" dirty="0"/>
              <a:t>•	إعـداد مسـارات (</a:t>
            </a:r>
            <a:r>
              <a:rPr lang="en-US" dirty="0"/>
              <a:t>Routing) </a:t>
            </a:r>
            <a:r>
              <a:rPr lang="ar-EG" dirty="0"/>
              <a:t>العمليـات الإنتـاجية الخـاصـة بالمنتج مـوضحـا بهـا رقـم العملية و مـركـز التشغيـل و عـدد المـاكينـات و العمـالـة و زمـن التشغيـل و زمـن التجهيـز ثـم إدخـالهـا.</a:t>
            </a:r>
          </a:p>
          <a:p>
            <a:pPr algn="ctr"/>
            <a:r>
              <a:rPr lang="ar-EG" dirty="0"/>
              <a:t>•	عمـل أوامـر الإنتـاج (</a:t>
            </a:r>
            <a:r>
              <a:rPr lang="en-US" dirty="0"/>
              <a:t>Production Order) </a:t>
            </a:r>
            <a:r>
              <a:rPr lang="ar-EG" dirty="0"/>
              <a:t>بالكميـات المطلـوبـة مـن المنتج و يتـم إدخـال ميعـاد بـدايـة الإنتـاج و يقـوم البرنـامـج بحسـاب زمـن الانتهاء مـن أمـر الإنتـاج و ذلـك في شاشة ال </a:t>
            </a:r>
            <a:r>
              <a:rPr lang="en-US" dirty="0"/>
              <a:t>Production Order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عمـل إذن صـرف الخـامـات  </a:t>
            </a:r>
            <a:r>
              <a:rPr lang="en-US" dirty="0"/>
              <a:t>Material Issue </a:t>
            </a:r>
            <a:r>
              <a:rPr lang="ar-EG" dirty="0"/>
              <a:t>مـن المخـازن بالكميـات المطلوبـة و ذلـك مـن خـلال شجـرة المنتـج و ذلـك من شـاشة </a:t>
            </a:r>
            <a:r>
              <a:rPr lang="en-US" dirty="0"/>
              <a:t>Issued Material </a:t>
            </a:r>
          </a:p>
          <a:p>
            <a:pPr algn="ctr"/>
            <a:r>
              <a:rPr lang="en-US" dirty="0"/>
              <a:t>•	</a:t>
            </a:r>
            <a:r>
              <a:rPr lang="ar-EG" dirty="0"/>
              <a:t>يتـم إدخـال بيـانـات الإنتـاج الفعليـة في شـاشـة </a:t>
            </a:r>
            <a:r>
              <a:rPr lang="en-US" dirty="0"/>
              <a:t>Operation Reporting </a:t>
            </a:r>
            <a:r>
              <a:rPr lang="ar-EG" dirty="0"/>
              <a:t>مـن واقـع الإنتـاج مثـل زمـن بـدايـة و نهـايـة أمـر الإنتـاج أو نهـايـة اليـوم و كميـات الإنتـاج (السليم/المرفوض) مـع بيـان نـوع المـرفـوض مـن حيـث مـرفـوض نهـائـي أو مـرفـوض و يمكـن عمل عمليـة إعـادة تشغيـل لـه و ذلـك بواسطة شاشة </a:t>
            </a:r>
            <a:r>
              <a:rPr lang="en-US" dirty="0"/>
              <a:t>Scrap </a:t>
            </a:r>
          </a:p>
          <a:p>
            <a:pPr algn="ctr"/>
            <a:r>
              <a:rPr lang="ar-EG" dirty="0"/>
              <a:t>ثم تعـريف (عـدد المـاكينـات المستخـدمـة/عـدد العمـالـة) الفعليـة في كـل مـن شـاشـة الـ (</a:t>
            </a:r>
            <a:r>
              <a:rPr lang="en-US" dirty="0"/>
              <a:t>Employee / Machine)</a:t>
            </a:r>
          </a:p>
          <a:p>
            <a:pPr algn="ctr"/>
            <a:r>
              <a:rPr lang="en-US" dirty="0" smtClean="0"/>
              <a:t>•	</a:t>
            </a:r>
            <a:r>
              <a:rPr lang="ar-EG" dirty="0" smtClean="0"/>
              <a:t>فـي حـالـة حـدوث تـوقف فـي الإنتـاج قبـل إكمـال الكميـة المطلـوبـة يمكـن إعـادة الخـامـات المتبقيـة إلـي المخازن مـرة أخـرى في شـاشـة الـ  </a:t>
            </a:r>
            <a:r>
              <a:rPr lang="en-US" dirty="0" smtClean="0"/>
              <a:t>Returned Material </a:t>
            </a:r>
          </a:p>
          <a:p>
            <a:pPr algn="ctr"/>
            <a:r>
              <a:rPr lang="en-US" dirty="0" smtClean="0"/>
              <a:t>•</a:t>
            </a:r>
            <a:r>
              <a:rPr lang="en-US" dirty="0"/>
              <a:t>	</a:t>
            </a:r>
            <a:r>
              <a:rPr lang="ar-EG" dirty="0"/>
              <a:t>عنـد الانتهاء مـن أمـر الإنتـاج نسجـل الـزمـن الفعلـي لنهـايته في شـاشة </a:t>
            </a:r>
            <a:r>
              <a:rPr lang="en-US" dirty="0"/>
              <a:t>Completed Order </a:t>
            </a:r>
            <a:r>
              <a:rPr lang="ar-EG" dirty="0"/>
              <a:t>و بـذلك نستطيـع عمـل </a:t>
            </a:r>
            <a:r>
              <a:rPr lang="en-US" dirty="0"/>
              <a:t>Completed </a:t>
            </a:r>
            <a:r>
              <a:rPr lang="ar-EG" dirty="0"/>
              <a:t>لأمـر الإنتـاج ثـم عمـل </a:t>
            </a:r>
            <a:r>
              <a:rPr lang="en-US" dirty="0"/>
              <a:t>Closure </a:t>
            </a:r>
            <a:r>
              <a:rPr lang="ar-EG" dirty="0"/>
              <a:t>مـن شـاشـة الـ </a:t>
            </a:r>
            <a:r>
              <a:rPr lang="en-US" dirty="0"/>
              <a:t>Actual Cost Calculation </a:t>
            </a:r>
            <a:r>
              <a:rPr lang="ar-EG" dirty="0"/>
              <a:t>وبعـد ذلـك يمكـن حساب التكلفـة الفعليـة لأمـر الإنتـاج و عمـل مقـارنـة بيـن التكلفـة القيـاسيـة و التكلفـة الفعليـة لـلإنتـاج.</a:t>
            </a:r>
          </a:p>
          <a:p>
            <a:pPr algn="ctr"/>
            <a:endParaRPr lang="ar-EG" dirty="0"/>
          </a:p>
          <a:p>
            <a:pPr algn="ctr"/>
            <a:r>
              <a:rPr lang="ar-EG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68B3F68-107C-434F-AA38-110D5EA91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AAD0DBB9-1A4B-4391-81D4-CB19F9AB91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063BBA22-50EA-4C4D-BE05-F1CE4E63AA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895" y="348865"/>
            <a:ext cx="10657631" cy="87772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EG" b="1" dirty="0" smtClean="0">
                <a:solidFill>
                  <a:schemeClr val="bg1"/>
                </a:solidFill>
              </a:rPr>
              <a:t>تابع ملخص دورة </a:t>
            </a:r>
            <a:r>
              <a:rPr lang="ar-EG" b="1" dirty="0">
                <a:solidFill>
                  <a:schemeClr val="bg1"/>
                </a:solidFill>
              </a:rPr>
              <a:t>الإنتاج</a:t>
            </a:r>
            <a:endParaRPr lang="en-US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58993" y="2319131"/>
            <a:ext cx="9478850" cy="2516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فـي </a:t>
            </a:r>
            <a:r>
              <a:rPr lang="ar-EG" dirty="0">
                <a:cs typeface="+mj-cs"/>
              </a:rPr>
              <a:t>حـالـة حـدوث تـوقف فـي الإنتـاج قبـل إكمـال الكميـة المطلـوبـة يمكـن إعـادة الخـامـات المتبقيـة إلـي المخازن مـرة أخـرى في شـاشـة الـ  </a:t>
            </a:r>
            <a:r>
              <a:rPr lang="en-US" dirty="0">
                <a:cs typeface="+mj-cs"/>
              </a:rPr>
              <a:t>Returned Material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 smtClean="0">
                <a:cs typeface="+mj-cs"/>
              </a:rPr>
              <a:t>عنـد </a:t>
            </a:r>
            <a:r>
              <a:rPr lang="ar-EG" dirty="0">
                <a:cs typeface="+mj-cs"/>
              </a:rPr>
              <a:t>الانتهاء مـن أمـر الإنتـاج نسجـل الـزمـن الفعلـي لنهـايته في شـاشة </a:t>
            </a:r>
            <a:r>
              <a:rPr lang="en-US" dirty="0">
                <a:cs typeface="+mj-cs"/>
              </a:rPr>
              <a:t>Completed Order </a:t>
            </a:r>
            <a:r>
              <a:rPr lang="ar-EG" dirty="0" smtClean="0">
                <a:cs typeface="+mj-cs"/>
              </a:rPr>
              <a:t> و </a:t>
            </a:r>
            <a:r>
              <a:rPr lang="ar-EG" dirty="0">
                <a:cs typeface="+mj-cs"/>
              </a:rPr>
              <a:t>بـذلك نستطيـع عمـل </a:t>
            </a:r>
            <a:r>
              <a:rPr lang="en-US" dirty="0">
                <a:cs typeface="+mj-cs"/>
              </a:rPr>
              <a:t>Completed </a:t>
            </a:r>
            <a:r>
              <a:rPr lang="ar-EG" dirty="0">
                <a:cs typeface="+mj-cs"/>
              </a:rPr>
              <a:t>لأمـر الإنتـاج ثـم عمـل </a:t>
            </a:r>
            <a:r>
              <a:rPr lang="en-US" dirty="0">
                <a:cs typeface="+mj-cs"/>
              </a:rPr>
              <a:t>Closure </a:t>
            </a:r>
            <a:r>
              <a:rPr lang="ar-EG" dirty="0">
                <a:cs typeface="+mj-cs"/>
              </a:rPr>
              <a:t>مـن شـاشـة الـ </a:t>
            </a:r>
            <a:r>
              <a:rPr lang="en-US" dirty="0">
                <a:cs typeface="+mj-cs"/>
              </a:rPr>
              <a:t>Actual Cost Calculation </a:t>
            </a:r>
            <a:r>
              <a:rPr lang="ar-EG" dirty="0">
                <a:cs typeface="+mj-cs"/>
              </a:rPr>
              <a:t>وبعـد ذلـك يمكـن حساب التكلفـة الفعليـة لأمـر الإنتـاج و عمـل مقـارنـة بيـن التكلفـة القيـاسيـة و التكلفـة الفعليـة لـلإنتـاج.</a:t>
            </a:r>
          </a:p>
          <a:p>
            <a:pPr algn="r" rtl="1">
              <a:lnSpc>
                <a:spcPct val="150000"/>
              </a:lnSpc>
            </a:pPr>
            <a:endParaRPr lang="ar-EG" sz="800" dirty="0"/>
          </a:p>
          <a:p>
            <a:pPr algn="r" rtl="1">
              <a:lnSpc>
                <a:spcPct val="150000"/>
              </a:lnSpc>
            </a:pPr>
            <a:r>
              <a:rPr lang="ar-EG" sz="800" dirty="0"/>
              <a:t> </a:t>
            </a:r>
          </a:p>
        </p:txBody>
      </p:sp>
      <p:pic>
        <p:nvPicPr>
          <p:cNvPr id="9" name="Picture 8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8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4822" y="1"/>
            <a:ext cx="2794578" cy="136071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000" b="1" dirty="0">
                <a:cs typeface="+mj-cs"/>
              </a:rPr>
              <a:t>الدورة المستندية لمصانع الإنتاج والتصنيع</a:t>
            </a:r>
            <a:endParaRPr lang="en-US" sz="2000" b="1" dirty="0"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30348" y="1264940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طلب الشراء</a:t>
            </a:r>
            <a:endParaRPr lang="en-US" b="1" dirty="0"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30351" y="2067562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عرض الأسعار</a:t>
            </a:r>
            <a:endParaRPr lang="en-US" b="1" dirty="0"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30352" y="2870184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امر الشراء</a:t>
            </a:r>
            <a:endParaRPr lang="en-US" b="1" dirty="0"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30353" y="3671414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فاتورة </a:t>
            </a:r>
            <a:r>
              <a:rPr lang="ar-EG" b="1" dirty="0" smtClean="0">
                <a:cs typeface="+mj-cs"/>
              </a:rPr>
              <a:t>مورد</a:t>
            </a:r>
            <a:endParaRPr lang="en-US" b="1" dirty="0"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30353" y="4474036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اذن فحص</a:t>
            </a:r>
            <a:endParaRPr lang="en-US" b="1" dirty="0"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30362" y="5273874"/>
            <a:ext cx="2112135" cy="716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b="1" dirty="0">
                <a:cs typeface="+mj-cs"/>
              </a:rPr>
              <a:t>مرتجع من </a:t>
            </a:r>
            <a:r>
              <a:rPr lang="ar-SA" b="1" dirty="0" smtClean="0">
                <a:cs typeface="+mj-cs"/>
              </a:rPr>
              <a:t>الاستقبال</a:t>
            </a:r>
          </a:p>
          <a:p>
            <a:pPr algn="ctr"/>
            <a:r>
              <a:rPr lang="en-US" b="1" dirty="0" smtClean="0">
                <a:cs typeface="+mj-cs"/>
              </a:rPr>
              <a:t> </a:t>
            </a:r>
            <a:r>
              <a:rPr lang="ar-SA" b="1" dirty="0" smtClean="0">
                <a:cs typeface="+mj-cs"/>
              </a:rPr>
              <a:t>الى المورد</a:t>
            </a:r>
            <a:endParaRPr lang="en-US" b="1" dirty="0">
              <a:cs typeface="+mj-cs"/>
            </a:endParaRPr>
          </a:p>
        </p:txBody>
      </p:sp>
      <p:cxnSp>
        <p:nvCxnSpPr>
          <p:cNvPr id="13" name="Straight Arrow Connector 12"/>
          <p:cNvCxnSpPr>
            <a:endCxn id="5" idx="0"/>
          </p:cNvCxnSpPr>
          <p:nvPr/>
        </p:nvCxnSpPr>
        <p:spPr>
          <a:xfrm>
            <a:off x="10584791" y="953107"/>
            <a:ext cx="1625" cy="31183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0586421" y="3371015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0586421" y="4181183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0586421" y="4996034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0586417" y="2566307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586414" y="1760548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9935" y="2641229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cs typeface="+mj-cs"/>
              </a:rPr>
              <a:t>أمر بيع</a:t>
            </a:r>
            <a:endParaRPr lang="en-US" b="1" dirty="0">
              <a:cs typeface="+mj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9938" y="3443851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cs typeface="+mj-cs"/>
              </a:rPr>
              <a:t>فاتورة بيع</a:t>
            </a:r>
            <a:endParaRPr lang="en-US" b="1" dirty="0">
              <a:cs typeface="+mj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9939" y="4246473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cs typeface="+mj-cs"/>
              </a:rPr>
              <a:t>اذن صرف</a:t>
            </a:r>
            <a:endParaRPr lang="en-US" b="1" dirty="0"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9940" y="5047703"/>
            <a:ext cx="2112135" cy="489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b="1" dirty="0" smtClean="0">
                <a:cs typeface="+mj-cs"/>
              </a:rPr>
              <a:t>مرتجعات</a:t>
            </a:r>
            <a:endParaRPr lang="en-US" b="1" dirty="0">
              <a:cs typeface="+mj-cs"/>
            </a:endParaRPr>
          </a:p>
        </p:txBody>
      </p:sp>
      <p:cxnSp>
        <p:nvCxnSpPr>
          <p:cNvPr id="31" name="Straight Arrow Connector 30"/>
          <p:cNvCxnSpPr>
            <a:endCxn id="26" idx="0"/>
          </p:cNvCxnSpPr>
          <p:nvPr/>
        </p:nvCxnSpPr>
        <p:spPr>
          <a:xfrm flipH="1">
            <a:off x="1426003" y="2329396"/>
            <a:ext cx="1" cy="311833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426008" y="4747304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426004" y="3942596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426001" y="3136837"/>
            <a:ext cx="1" cy="27432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93005" y="953107"/>
            <a:ext cx="4018206" cy="20871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693005" y="953107"/>
            <a:ext cx="4018206" cy="3509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قسم الجودة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328515" y="547422"/>
            <a:ext cx="2512551" cy="56142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9328515" y="422031"/>
            <a:ext cx="2512551" cy="531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</a:rPr>
              <a:t>قسم المشتريات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69725" y="1673935"/>
            <a:ext cx="2512551" cy="531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قسم المبيعات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80466" y="2214511"/>
            <a:ext cx="2512551" cy="35632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3926107" y="1497323"/>
            <a:ext cx="1622743" cy="4255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قبول الصنف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848181" y="1497323"/>
            <a:ext cx="1623995" cy="42552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رفض الصنف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cxnSp>
        <p:nvCxnSpPr>
          <p:cNvPr id="59" name="Elbow Connector 58"/>
          <p:cNvCxnSpPr/>
          <p:nvPr/>
        </p:nvCxnSpPr>
        <p:spPr>
          <a:xfrm rot="10800000">
            <a:off x="7695622" y="1103691"/>
            <a:ext cx="1819142" cy="3590147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/>
          <p:cNvCxnSpPr>
            <a:stCxn id="53" idx="3"/>
            <a:endCxn id="10" idx="1"/>
          </p:cNvCxnSpPr>
          <p:nvPr/>
        </p:nvCxnSpPr>
        <p:spPr>
          <a:xfrm>
            <a:off x="7472176" y="1710087"/>
            <a:ext cx="2058186" cy="392224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693005" y="3295759"/>
            <a:ext cx="4018206" cy="2364672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3693005" y="3295758"/>
            <a:ext cx="4018206" cy="3509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قسم المخازن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771500" y="3839974"/>
            <a:ext cx="1910533" cy="425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اضافة مواد تعبئة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726756" y="3839974"/>
            <a:ext cx="1910533" cy="425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اضافة مواد خام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870026" y="2268783"/>
            <a:ext cx="1623995" cy="42552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رفض منتج تام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3926106" y="2263836"/>
            <a:ext cx="1622743" cy="4255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قبول منتج تام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cxnSp>
        <p:nvCxnSpPr>
          <p:cNvPr id="87" name="Elbow Connector 86"/>
          <p:cNvCxnSpPr>
            <a:stCxn id="52" idx="1"/>
          </p:cNvCxnSpPr>
          <p:nvPr/>
        </p:nvCxnSpPr>
        <p:spPr>
          <a:xfrm rot="10800000" flipV="1">
            <a:off x="3263705" y="1710087"/>
            <a:ext cx="662402" cy="1733764"/>
          </a:xfrm>
          <a:prstGeom prst="bentConnector2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endCxn id="63" idx="1"/>
          </p:cNvCxnSpPr>
          <p:nvPr/>
        </p:nvCxnSpPr>
        <p:spPr>
          <a:xfrm>
            <a:off x="3272293" y="3421605"/>
            <a:ext cx="420712" cy="0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5726756" y="4523106"/>
            <a:ext cx="1910533" cy="425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600" b="1" dirty="0" smtClean="0">
                <a:solidFill>
                  <a:schemeClr val="tx1"/>
                </a:solidFill>
                <a:cs typeface="+mj-cs"/>
              </a:rPr>
              <a:t>صرف مواد خام للتشغيل</a:t>
            </a:r>
            <a:endParaRPr lang="en-US" sz="16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771501" y="4505855"/>
            <a:ext cx="1910533" cy="425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600" b="1" dirty="0" smtClean="0">
                <a:solidFill>
                  <a:schemeClr val="tx1"/>
                </a:solidFill>
                <a:cs typeface="+mj-cs"/>
              </a:rPr>
              <a:t>صرف مواد تعبئة للتشغيل</a:t>
            </a:r>
            <a:endParaRPr lang="en-US" sz="16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71489" y="5111573"/>
            <a:ext cx="1910533" cy="42552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اضافة منتج تام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99" name="Rounded Rectangle 98"/>
          <p:cNvSpPr/>
          <p:nvPr/>
        </p:nvSpPr>
        <p:spPr>
          <a:xfrm>
            <a:off x="4644651" y="5805881"/>
            <a:ext cx="2074764" cy="911948"/>
          </a:xfrm>
          <a:prstGeom prst="roundRect">
            <a:avLst/>
          </a:prstGeom>
          <a:solidFill>
            <a:srgbClr val="FFFF0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EG" sz="2000" b="1" dirty="0" smtClean="0">
              <a:solidFill>
                <a:schemeClr val="tx1"/>
              </a:solidFill>
            </a:endParaRPr>
          </a:p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منتج تام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4644652" y="5777787"/>
            <a:ext cx="2074764" cy="3874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b="1" dirty="0" smtClean="0">
                <a:solidFill>
                  <a:schemeClr val="tx1"/>
                </a:solidFill>
                <a:cs typeface="+mj-cs"/>
              </a:rPr>
              <a:t>أمر شغل</a:t>
            </a:r>
            <a:endParaRPr lang="en-US" sz="2000" b="1" dirty="0">
              <a:solidFill>
                <a:schemeClr val="tx1"/>
              </a:solidFill>
              <a:cs typeface="+mj-cs"/>
            </a:endParaRPr>
          </a:p>
        </p:txBody>
      </p:sp>
      <p:cxnSp>
        <p:nvCxnSpPr>
          <p:cNvPr id="117" name="Elbow Connector 116"/>
          <p:cNvCxnSpPr>
            <a:stCxn id="96" idx="1"/>
          </p:cNvCxnSpPr>
          <p:nvPr/>
        </p:nvCxnSpPr>
        <p:spPr>
          <a:xfrm rot="10800000" flipV="1">
            <a:off x="3272295" y="4718618"/>
            <a:ext cx="499206" cy="127217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3259380" y="5990797"/>
            <a:ext cx="13642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>
            <a:off x="7616741" y="4735870"/>
            <a:ext cx="564587" cy="1235659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H="1">
            <a:off x="6741265" y="5962036"/>
            <a:ext cx="1431040" cy="94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/>
          <p:cNvCxnSpPr>
            <a:stCxn id="99" idx="3"/>
          </p:cNvCxnSpPr>
          <p:nvPr/>
        </p:nvCxnSpPr>
        <p:spPr>
          <a:xfrm flipV="1">
            <a:off x="6719415" y="5270354"/>
            <a:ext cx="451947" cy="991501"/>
          </a:xfrm>
          <a:prstGeom prst="bentConnector2">
            <a:avLst/>
          </a:prstGeom>
          <a:ln w="698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/>
          <p:nvPr/>
        </p:nvCxnSpPr>
        <p:spPr>
          <a:xfrm flipH="1">
            <a:off x="6703871" y="5303788"/>
            <a:ext cx="470049" cy="0"/>
          </a:xfrm>
          <a:prstGeom prst="straightConnector1">
            <a:avLst/>
          </a:prstGeom>
          <a:ln w="698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Elbow Connector 146"/>
          <p:cNvCxnSpPr>
            <a:endCxn id="97" idx="1"/>
          </p:cNvCxnSpPr>
          <p:nvPr/>
        </p:nvCxnSpPr>
        <p:spPr>
          <a:xfrm rot="16200000" flipH="1">
            <a:off x="2160447" y="2713295"/>
            <a:ext cx="3384864" cy="1837220"/>
          </a:xfrm>
          <a:prstGeom prst="bentConnector2">
            <a:avLst/>
          </a:prstGeom>
          <a:ln w="698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 flipH="1" flipV="1">
            <a:off x="2482071" y="1957986"/>
            <a:ext cx="482906" cy="13031"/>
          </a:xfrm>
          <a:prstGeom prst="straightConnector1">
            <a:avLst/>
          </a:prstGeom>
          <a:ln w="698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81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79754-B273-0353-F74F-1781ECFF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z="2800" dirty="0"/>
              <a:t>أمثلة من عملائنا لبرنامج </a:t>
            </a:r>
            <a:r>
              <a:rPr lang="ar-EG" dirty="0" smtClean="0"/>
              <a:t>الانتاج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13068" y="3449634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بيب تكس للنسجيات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3025751" y="5257539"/>
            <a:ext cx="1875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عباية نوار</a:t>
            </a:r>
          </a:p>
          <a:p>
            <a:pPr algn="ctr"/>
            <a:r>
              <a:rPr lang="ar-EG" dirty="0" smtClean="0">
                <a:cs typeface="+mj-cs"/>
              </a:rPr>
              <a:t>للملابس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649345" y="759531"/>
            <a:ext cx="2297697" cy="39866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19827" y="759531"/>
            <a:ext cx="4792309" cy="19022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186851" y="759531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186850" y="4849975"/>
            <a:ext cx="4760191" cy="19022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462432" y="1340987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المصرية الايطالية لصناعة الاحذية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8972283" y="3449634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المصرية السورية</a:t>
            </a:r>
          </a:p>
          <a:p>
            <a:pPr algn="ctr"/>
            <a:r>
              <a:rPr lang="ar-EG" dirty="0" smtClean="0">
                <a:cs typeface="+mj-cs"/>
              </a:rPr>
              <a:t>للنسجيات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8969718" y="5477919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smtClean="0">
                <a:cs typeface="+mj-cs"/>
              </a:rPr>
              <a:t>مصنع نورتكس للغزل والنسيج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2814440" y="1396956"/>
            <a:ext cx="2297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الشركة الرباعية للنسجيات</a:t>
            </a:r>
          </a:p>
          <a:p>
            <a:pPr algn="ctr"/>
            <a:r>
              <a:rPr lang="ar-EG" dirty="0" smtClean="0">
                <a:cs typeface="+mj-cs"/>
              </a:rPr>
              <a:t>فورتكس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2814439" y="2739419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21576" y="2739419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3" y="818769"/>
            <a:ext cx="1997790" cy="18145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6" y="4409992"/>
            <a:ext cx="2135853" cy="21358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52" y="3165259"/>
            <a:ext cx="2140067" cy="1244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435" y="2392919"/>
            <a:ext cx="2184847" cy="21848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826" y="906068"/>
            <a:ext cx="1915621" cy="19156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548" y="5020543"/>
            <a:ext cx="1621493" cy="152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6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779754-B273-0353-F74F-1781ECFF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z="2800" dirty="0"/>
              <a:t>أمثلة من عملائنا لبرنامج </a:t>
            </a:r>
            <a:r>
              <a:rPr lang="ar-EG" dirty="0" smtClean="0"/>
              <a:t>الانتاج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13068" y="3449634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كيما للاسمدة والمبيدات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117" y="2680320"/>
            <a:ext cx="2041478" cy="204147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84" y="1113918"/>
            <a:ext cx="1939974" cy="168554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46" y="4721798"/>
            <a:ext cx="1931156" cy="167276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702" y="2988707"/>
            <a:ext cx="1918060" cy="201954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xmlns="" id="{CD69FE92-7F4C-16EC-DCBD-572CF12BC7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432" y="4879586"/>
            <a:ext cx="2104513" cy="188889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3A2CAE78-DFE9-2816-FE22-536A17EF9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85" y="1065313"/>
            <a:ext cx="2422489" cy="10174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3025751" y="5257539"/>
            <a:ext cx="1875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همام </a:t>
            </a:r>
          </a:p>
          <a:p>
            <a:pPr algn="ctr"/>
            <a:r>
              <a:rPr lang="ar-EG" dirty="0" smtClean="0">
                <a:cs typeface="+mj-cs"/>
              </a:rPr>
              <a:t>نظم معدات تهوية وتبريد صناعية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649345" y="759531"/>
            <a:ext cx="2297697" cy="39866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319827" y="759531"/>
            <a:ext cx="4792309" cy="19022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6186851" y="759531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6186850" y="4849975"/>
            <a:ext cx="4760191" cy="19022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6516967" y="1593114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بريما للسيراميك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8972283" y="3449634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فينوس للسيراميك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8969718" y="5477919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ميديفكس لصناعة الادوية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71C9513-EEA1-9541-27C9-69629806FB14}"/>
              </a:ext>
            </a:extLst>
          </p:cNvPr>
          <p:cNvSpPr txBox="1"/>
          <p:nvPr/>
        </p:nvSpPr>
        <p:spPr>
          <a:xfrm>
            <a:off x="3066263" y="1396956"/>
            <a:ext cx="165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1800" dirty="0" smtClean="0">
                <a:cs typeface="+mj-cs"/>
              </a:rPr>
              <a:t>مصنع بيوتك لصناعة الأدوية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2814439" y="2739419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321576" y="2739419"/>
            <a:ext cx="2297697" cy="40134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3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2779</TotalTime>
  <Words>1009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Traditional Arabic</vt:lpstr>
      <vt:lpstr>Office Theme</vt:lpstr>
      <vt:lpstr>Manufacturing system Walkthrough</vt:lpstr>
      <vt:lpstr>خصائص برنامج الانتاج من s4</vt:lpstr>
      <vt:lpstr>مميزات برنامج الإنتاج</vt:lpstr>
      <vt:lpstr>مميـزات خـاصـة بمـراكـز التشغيـل و المـاكينـات والعمـالـة</vt:lpstr>
      <vt:lpstr>مميـزات مـراحـل التشغيل </vt:lpstr>
      <vt:lpstr>مميـزات أوامـر الإنتـاج</vt:lpstr>
      <vt:lpstr>ملخص دورة الإنتاج</vt:lpstr>
      <vt:lpstr>تابع ملخص دورة الإنتاج</vt:lpstr>
      <vt:lpstr>تابع ملخص دورة الإنتاج</vt:lpstr>
      <vt:lpstr>PowerPoint Presentation</vt:lpstr>
      <vt:lpstr>أمثلة من عملائنا لبرنامج الانتاج</vt:lpstr>
      <vt:lpstr>أمثلة من عملائنا لبرنامج الانتاج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138</cp:revision>
  <dcterms:created xsi:type="dcterms:W3CDTF">2023-07-10T11:59:00Z</dcterms:created>
  <dcterms:modified xsi:type="dcterms:W3CDTF">2026-04-14T10:41:50Z</dcterms:modified>
</cp:coreProperties>
</file>