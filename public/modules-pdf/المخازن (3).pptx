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0"/>
  </p:notesMasterIdLst>
  <p:sldIdLst>
    <p:sldId id="358" r:id="rId2"/>
    <p:sldId id="374" r:id="rId3"/>
    <p:sldId id="419" r:id="rId4"/>
    <p:sldId id="414" r:id="rId5"/>
    <p:sldId id="377" r:id="rId6"/>
    <p:sldId id="378" r:id="rId7"/>
    <p:sldId id="379" r:id="rId8"/>
    <p:sldId id="418" r:id="rId9"/>
    <p:sldId id="384" r:id="rId10"/>
    <p:sldId id="381" r:id="rId11"/>
    <p:sldId id="382" r:id="rId12"/>
    <p:sldId id="385" r:id="rId13"/>
    <p:sldId id="383" r:id="rId14"/>
    <p:sldId id="390" r:id="rId15"/>
    <p:sldId id="389" r:id="rId16"/>
    <p:sldId id="388" r:id="rId17"/>
    <p:sldId id="387" r:id="rId18"/>
    <p:sldId id="386" r:id="rId19"/>
    <p:sldId id="391" r:id="rId20"/>
    <p:sldId id="395" r:id="rId21"/>
    <p:sldId id="394" r:id="rId22"/>
    <p:sldId id="393" r:id="rId23"/>
    <p:sldId id="392" r:id="rId24"/>
    <p:sldId id="403" r:id="rId25"/>
    <p:sldId id="402" r:id="rId26"/>
    <p:sldId id="416" r:id="rId27"/>
    <p:sldId id="417" r:id="rId28"/>
    <p:sldId id="3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56170-D361-4610-81A1-F90D7311F33E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ECEBD-5B6D-4A44-A5FD-423B7467C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7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2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9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9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3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5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4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35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4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7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6457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jpe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jpeg"/><Relationship Id="rId12" Type="http://schemas.openxmlformats.org/officeDocument/2006/relationships/image" Target="../media/image35.png"/><Relationship Id="rId17" Type="http://schemas.openxmlformats.org/officeDocument/2006/relationships/image" Target="../media/image40.jpg"/><Relationship Id="rId25" Type="http://schemas.openxmlformats.org/officeDocument/2006/relationships/image" Target="../media/image48.png"/><Relationship Id="rId2" Type="http://schemas.openxmlformats.org/officeDocument/2006/relationships/image" Target="../media/image25.jpe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jpeg"/><Relationship Id="rId11" Type="http://schemas.openxmlformats.org/officeDocument/2006/relationships/image" Target="../media/image34.png"/><Relationship Id="rId24" Type="http://schemas.openxmlformats.org/officeDocument/2006/relationships/image" Target="../media/image47.jpeg"/><Relationship Id="rId5" Type="http://schemas.openxmlformats.org/officeDocument/2006/relationships/image" Target="../media/image28.jpg"/><Relationship Id="rId15" Type="http://schemas.openxmlformats.org/officeDocument/2006/relationships/image" Target="../media/image38.jpg"/><Relationship Id="rId23" Type="http://schemas.openxmlformats.org/officeDocument/2006/relationships/image" Target="../media/image46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jpg"/><Relationship Id="rId9" Type="http://schemas.openxmlformats.org/officeDocument/2006/relationships/image" Target="../media/image32.jpeg"/><Relationship Id="rId14" Type="http://schemas.openxmlformats.org/officeDocument/2006/relationships/image" Target="../media/image37.jpg"/><Relationship Id="rId22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jpeg"/><Relationship Id="rId3" Type="http://schemas.openxmlformats.org/officeDocument/2006/relationships/image" Target="../media/image51.png"/><Relationship Id="rId7" Type="http://schemas.openxmlformats.org/officeDocument/2006/relationships/image" Target="../media/image55.jpg"/><Relationship Id="rId12" Type="http://schemas.openxmlformats.org/officeDocument/2006/relationships/image" Target="../media/image60.png"/><Relationship Id="rId17" Type="http://schemas.openxmlformats.org/officeDocument/2006/relationships/image" Target="../media/image65.jpeg"/><Relationship Id="rId2" Type="http://schemas.openxmlformats.org/officeDocument/2006/relationships/image" Target="../media/image50.jpeg"/><Relationship Id="rId16" Type="http://schemas.openxmlformats.org/officeDocument/2006/relationships/image" Target="../media/image64.jf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jpe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jfif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jpeg"/><Relationship Id="rId1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 Warehouse System </a:t>
            </a:r>
            <a:r>
              <a:rPr lang="en-US" sz="4800" dirty="0">
                <a:solidFill>
                  <a:srgbClr val="FFFFFF"/>
                </a:solidFill>
                <a:latin typeface="+mn-lt"/>
              </a:rPr>
              <a:t>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 smtClean="0"/>
              <a:t>للمخازن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63" y="16220"/>
            <a:ext cx="4748011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smtClean="0">
                <a:solidFill>
                  <a:schemeClr val="bg1"/>
                </a:solidFill>
                <a:latin typeface="+mn-lt"/>
              </a:rPr>
              <a:t>  </a:t>
            </a:r>
            <a:r>
              <a:rPr lang="ar-EG" sz="3200" b="1" dirty="0" smtClean="0">
                <a:solidFill>
                  <a:schemeClr val="bg1"/>
                </a:solidFill>
                <a:latin typeface="+mn-lt"/>
              </a:rPr>
              <a:t>خصائص برنامج المخازن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38286" y="1646708"/>
            <a:ext cx="7618364" cy="5176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 توصيف الشكل الشجرى للأكواد (اصناف – عملاء – موردين -...)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توصيف الدورة المستندية  وترتيب المستندات و طريقة إعتماد كل مستند على المستندات الأخرى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إستخدام مجموعات أصناف مختلفة فى المستند (او تحديد مجموعة محددة)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التعامل بعدة وحدات فى المستندات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تعريف المصروفات المتعددة فى المستندات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تسجيل مرفقات المستند (ملفات صورة – عقد - ...)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إنشاء مستند او عدة مستندات من مستند أخر وفقاً للمواصفات التى يحددها العميل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تسجيل بيانات الشحن و النقل فى المستندات المخزنية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صلاحيات للمستخدمين على مستوى البيانات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تعريف و إختبارحدود التخزين للأصناف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تعريف اطقم للأصناف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تعريق اصناف خدمات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إستخدام الباركود فى التعامل مع الأصناف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142" y="15992"/>
            <a:ext cx="5031346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sz="3200" b="1" dirty="0" smtClean="0">
                <a:solidFill>
                  <a:schemeClr val="bg1"/>
                </a:solidFill>
                <a:latin typeface="+mn-lt"/>
              </a:rPr>
              <a:t> خصائص برنامج المخازن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31334" y="1697431"/>
            <a:ext cx="7821769" cy="4970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 smtClean="0">
                <a:latin typeface="Calibri" panose="020F0502020204030204" pitchFamily="34" charset="0"/>
                <a:ea typeface="Calibri" panose="020F0502020204030204" pitchFamily="34" charset="0"/>
              </a:rPr>
              <a:t>- </a:t>
            </a: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تعريف أسعار متعددة للصنف (مستهلك – جملة - فرع)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حساب متوسط التكلفة على عدة مستويات(على مستوى الشركة – على مستوى الفرع – على مستوى المخزن)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تعريف بدائل للأصناف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التعريف التلقائى للأصول كأصناف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حجز الأصناف و متابعة الأرصدة المحجوزة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تغيير الأكواد بأكواد أخرى (صنف – عميل – مورد - ...)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تقارير فحص تعديلات المستخدمين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auditing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إمكانية التعريف التلقائى للأصناف عند تسجيل مستند الإضافة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تعريف الموازنات و إستخراج تقارير برصيد الموازنة و المتبقى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تجهيز تقارير الجرد و مقارنتها بالأرصدة الفعلية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</a:rPr>
              <a:t>- مجموعة من التقارير التى  تغطى كل الإحتياجات فى مجال إدارة المخازن و المستودعات مع إمكانية تصديرها إلى إكسيل اوطباعتها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pdf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96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8394" y="0"/>
            <a:ext cx="2983606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البيانات الاساسية :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64406" y="437882"/>
            <a:ext cx="7534140" cy="83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4106" y="502502"/>
            <a:ext cx="76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هى الخطوة الاولى للبرنامج المخازن حيث يقوم المستخدم بانشاء (اكواد المواردين - اكواد المخازن - اكواد البنوك - اكواد العملات )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Hexagon 5"/>
          <p:cNvSpPr/>
          <p:nvPr/>
        </p:nvSpPr>
        <p:spPr>
          <a:xfrm>
            <a:off x="9944106" y="178350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تغير كود الصنف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4" name="Hexagon 33"/>
          <p:cNvSpPr/>
          <p:nvPr/>
        </p:nvSpPr>
        <p:spPr>
          <a:xfrm>
            <a:off x="6423072" y="1820887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ربط العملاء بالابعاد المحاسبية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Hexagon 34"/>
          <p:cNvSpPr/>
          <p:nvPr/>
        </p:nvSpPr>
        <p:spPr>
          <a:xfrm>
            <a:off x="8209058" y="178350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نوع المصروف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Hexagon 37"/>
          <p:cNvSpPr/>
          <p:nvPr/>
        </p:nvSpPr>
        <p:spPr>
          <a:xfrm>
            <a:off x="2860938" y="1857192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تعريف شروط التجارة الخارجية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Hexagon 40"/>
          <p:cNvSpPr/>
          <p:nvPr/>
        </p:nvSpPr>
        <p:spPr>
          <a:xfrm>
            <a:off x="4595986" y="1850581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ربط المستخدمين بالمخازن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Hexagon 41"/>
          <p:cNvSpPr/>
          <p:nvPr/>
        </p:nvSpPr>
        <p:spPr>
          <a:xfrm>
            <a:off x="6349661" y="352853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التعريفات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Hexagon 42"/>
          <p:cNvSpPr/>
          <p:nvPr/>
        </p:nvSpPr>
        <p:spPr>
          <a:xfrm>
            <a:off x="2836167" y="5219608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المحافظة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Hexagon 46"/>
          <p:cNvSpPr/>
          <p:nvPr/>
        </p:nvSpPr>
        <p:spPr>
          <a:xfrm>
            <a:off x="1066403" y="1867373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طرف الدفع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Hexagon 47"/>
          <p:cNvSpPr/>
          <p:nvPr/>
        </p:nvSpPr>
        <p:spPr>
          <a:xfrm>
            <a:off x="6423072" y="518639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الارصدة الافتتاحية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Hexagon 48"/>
          <p:cNvSpPr/>
          <p:nvPr/>
        </p:nvSpPr>
        <p:spPr>
          <a:xfrm>
            <a:off x="1066403" y="518639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الحقول الاضافية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Hexagon 49"/>
          <p:cNvSpPr/>
          <p:nvPr/>
        </p:nvSpPr>
        <p:spPr>
          <a:xfrm>
            <a:off x="4667522" y="5219608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انواع اللجان والمواظفين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Hexagon 50"/>
          <p:cNvSpPr/>
          <p:nvPr/>
        </p:nvSpPr>
        <p:spPr>
          <a:xfrm>
            <a:off x="2891871" y="353840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العملات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Hexagon 51"/>
          <p:cNvSpPr/>
          <p:nvPr/>
        </p:nvSpPr>
        <p:spPr>
          <a:xfrm>
            <a:off x="4595986" y="353840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الصنف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Hexagon 52"/>
          <p:cNvSpPr/>
          <p:nvPr/>
        </p:nvSpPr>
        <p:spPr>
          <a:xfrm>
            <a:off x="8178622" y="518639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الدولة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Hexagon 53"/>
          <p:cNvSpPr/>
          <p:nvPr/>
        </p:nvSpPr>
        <p:spPr>
          <a:xfrm>
            <a:off x="9944106" y="5186390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ربط العملاء بمخازن الامانة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Hexagon 54"/>
          <p:cNvSpPr/>
          <p:nvPr/>
        </p:nvSpPr>
        <p:spPr>
          <a:xfrm>
            <a:off x="1106379" y="3512187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المصروفات المتعددة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Hexagon 55"/>
          <p:cNvSpPr/>
          <p:nvPr/>
        </p:nvSpPr>
        <p:spPr>
          <a:xfrm>
            <a:off x="9888828" y="3494661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وحدات القياس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Hexagon 56"/>
          <p:cNvSpPr/>
          <p:nvPr/>
        </p:nvSpPr>
        <p:spPr>
          <a:xfrm>
            <a:off x="8135153" y="3493678"/>
            <a:ext cx="1622738" cy="146819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اجزاء الاكواد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3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760" y="15992"/>
            <a:ext cx="28033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</a:t>
            </a:r>
            <a:r>
              <a:rPr lang="en-US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: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تعريف المخزن</a:t>
            </a:r>
            <a:r>
              <a:rPr lang="en-US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97056" y="498134"/>
            <a:ext cx="6980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يقوم المستخدم بتكويد المخزن وكتابة الاسم باللغة العربية والانجليزية وتعريف المخزن (رئيسى او فرعى).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17" y="4034706"/>
            <a:ext cx="10934163" cy="27367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16" y="1575955"/>
            <a:ext cx="10934164" cy="2458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445" y="39274"/>
            <a:ext cx="2519966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تعريف المورد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3487" y="579926"/>
            <a:ext cx="7482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 smtClean="0">
                <a:solidFill>
                  <a:schemeClr val="bg1"/>
                </a:solidFill>
              </a:rPr>
              <a:t>يقوم</a:t>
            </a:r>
            <a:r>
              <a:rPr lang="ar-EG" sz="2000" dirty="0" smtClean="0">
                <a:solidFill>
                  <a:schemeClr val="bg1"/>
                </a:solidFill>
              </a:rPr>
              <a:t> المستخدم بتكويد المورد وكتابة الاسم باللغة العربية والانجليزية</a:t>
            </a:r>
            <a:r>
              <a:rPr lang="ar-EG" dirty="0" smtClean="0">
                <a:solidFill>
                  <a:schemeClr val="bg1"/>
                </a:solidFill>
              </a:rPr>
              <a:t> 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54" y="1599238"/>
            <a:ext cx="11498688" cy="25091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54" y="4131154"/>
            <a:ext cx="11498688" cy="2346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4150" y="0"/>
            <a:ext cx="295785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تعريف الصنف 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116" y="560522"/>
            <a:ext cx="74826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>
                <a:solidFill>
                  <a:schemeClr val="bg1"/>
                </a:solidFill>
              </a:rPr>
              <a:t>يتم تعريف الاصناف </a:t>
            </a:r>
            <a:r>
              <a:rPr lang="ar-EG" sz="2000" dirty="0" smtClean="0">
                <a:solidFill>
                  <a:schemeClr val="bg1"/>
                </a:solidFill>
              </a:rPr>
              <a:t>المختلفة </a:t>
            </a:r>
            <a:r>
              <a:rPr lang="ar-EG" sz="2000" dirty="0">
                <a:solidFill>
                  <a:schemeClr val="bg1"/>
                </a:solidFill>
              </a:rPr>
              <a:t>داخل كل </a:t>
            </a:r>
            <a:r>
              <a:rPr lang="ar-EG" sz="2000" dirty="0" smtClean="0">
                <a:solidFill>
                  <a:schemeClr val="bg1"/>
                </a:solidFill>
              </a:rPr>
              <a:t>مجموعة </a:t>
            </a:r>
            <a:r>
              <a:rPr lang="ar-EG" dirty="0">
                <a:solidFill>
                  <a:schemeClr val="bg1"/>
                </a:solidFill>
              </a:rPr>
              <a:t>اصناف واختيار الوحدات لكل صنف منها وايضا تسجيل كميه هذا الصنف داخل كل مخزن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39" y="1686808"/>
            <a:ext cx="10985678" cy="50598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2400" b="1" dirty="0" smtClean="0">
                <a:solidFill>
                  <a:prstClr val="white"/>
                </a:solidFill>
                <a:latin typeface="Calibri" panose="020F0502020204030204"/>
              </a:rPr>
              <a:t>           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+mn-cs"/>
              </a:rPr>
              <a:t>الحركات المخزنية</a:t>
            </a:r>
            <a:endParaRPr lang="en-US" sz="3600" b="1" dirty="0">
              <a:solidFill>
                <a:prstClr val="white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6" name="Hexagon 5"/>
          <p:cNvSpPr/>
          <p:nvPr/>
        </p:nvSpPr>
        <p:spPr>
          <a:xfrm>
            <a:off x="9702364" y="2383944"/>
            <a:ext cx="1996225" cy="17128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جرد المخزن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Hexagon 11"/>
          <p:cNvSpPr/>
          <p:nvPr/>
        </p:nvSpPr>
        <p:spPr>
          <a:xfrm>
            <a:off x="834117" y="2383944"/>
            <a:ext cx="1996225" cy="17128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مصروفات الحركات المخزنية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Hexagon 13"/>
          <p:cNvSpPr/>
          <p:nvPr/>
        </p:nvSpPr>
        <p:spPr>
          <a:xfrm>
            <a:off x="3133281" y="3763851"/>
            <a:ext cx="1996225" cy="17128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موافقات الحركات المخزنية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Hexagon 15"/>
          <p:cNvSpPr/>
          <p:nvPr/>
        </p:nvSpPr>
        <p:spPr>
          <a:xfrm>
            <a:off x="5305932" y="2503842"/>
            <a:ext cx="1996225" cy="17128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الحركة المخزنية الجديدة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8" name="Hexagon 17"/>
          <p:cNvSpPr/>
          <p:nvPr/>
        </p:nvSpPr>
        <p:spPr>
          <a:xfrm>
            <a:off x="7478583" y="3763851"/>
            <a:ext cx="1996225" cy="17128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اختيار حركة مخزنية </a:t>
            </a:r>
          </a:p>
        </p:txBody>
      </p:sp>
    </p:spTree>
    <p:extLst>
      <p:ext uri="{BB962C8B-B14F-4D97-AF65-F5344CB8AC3E}">
        <p14:creationId xmlns:p14="http://schemas.microsoft.com/office/powerpoint/2010/main" val="113116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   اختيار حركة مخزنية  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4935" y="566782"/>
            <a:ext cx="7018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يقوم المستخدم بفتح قائمة الحركات المخزنية واختيار حركة مخزنية حيث تظهر الحركات بهذا الشكل الموضح.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35" y="1575955"/>
            <a:ext cx="9508329" cy="48295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318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    طلب شراء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96832" y="522122"/>
            <a:ext cx="5550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>
                <a:solidFill>
                  <a:schemeClr val="bg1"/>
                </a:solidFill>
              </a:rPr>
              <a:t>يقوم المستخدم بطلب الشراء من هذة </a:t>
            </a:r>
            <a:r>
              <a:rPr lang="ar-EG" sz="2000" dirty="0" smtClean="0">
                <a:solidFill>
                  <a:schemeClr val="bg1"/>
                </a:solidFill>
              </a:rPr>
              <a:t>الشاشة الموضحة فى الشكل التالى </a:t>
            </a:r>
            <a:r>
              <a:rPr lang="ar-E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42" y="1559963"/>
            <a:ext cx="10361493" cy="47940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2478" y="0"/>
            <a:ext cx="3949521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طلب اضافة مخزنى 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1375" y="587922"/>
            <a:ext cx="5743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يقوم المستخدم بطلب اذن اضافة مخزن من خلال هذة الشاشة 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34" y="1788678"/>
            <a:ext cx="9627081" cy="48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7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</a:b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اذن صرف خامات للتشغيل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</a:b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9104" y="587922"/>
            <a:ext cx="5282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يقوم المستخدم بطلب اذن صرف خامات للتشغيل من خلال هذة الشاشة </a:t>
            </a:r>
            <a:r>
              <a:rPr lang="ar-EG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6" y="1802753"/>
            <a:ext cx="10591568" cy="48279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53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التقارير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" name="Hexagon 1"/>
          <p:cNvSpPr/>
          <p:nvPr/>
        </p:nvSpPr>
        <p:spPr>
          <a:xfrm>
            <a:off x="9553172" y="1949724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الاصناف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Hexagon 22"/>
          <p:cNvSpPr/>
          <p:nvPr/>
        </p:nvSpPr>
        <p:spPr>
          <a:xfrm>
            <a:off x="7354507" y="4541352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ارصدة الحارات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Hexagon 23"/>
          <p:cNvSpPr/>
          <p:nvPr/>
        </p:nvSpPr>
        <p:spPr>
          <a:xfrm>
            <a:off x="671175" y="1949721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بيانات الاساسية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Hexagon 24"/>
          <p:cNvSpPr/>
          <p:nvPr/>
        </p:nvSpPr>
        <p:spPr>
          <a:xfrm>
            <a:off x="5155842" y="4541352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السيريال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6" name="Hexagon 25"/>
          <p:cNvSpPr/>
          <p:nvPr/>
        </p:nvSpPr>
        <p:spPr>
          <a:xfrm>
            <a:off x="2896270" y="1949720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اخرى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7" name="Hexagon 26"/>
          <p:cNvSpPr/>
          <p:nvPr/>
        </p:nvSpPr>
        <p:spPr>
          <a:xfrm>
            <a:off x="5155842" y="1949720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المواصفات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Hexagon 27"/>
          <p:cNvSpPr/>
          <p:nvPr/>
        </p:nvSpPr>
        <p:spPr>
          <a:xfrm>
            <a:off x="9561154" y="4541352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ارصدة المخازن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9" name="Hexagon 28"/>
          <p:cNvSpPr/>
          <p:nvPr/>
        </p:nvSpPr>
        <p:spPr>
          <a:xfrm>
            <a:off x="671175" y="4541354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جرد المخزن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0" name="Hexagon 29"/>
          <p:cNvSpPr/>
          <p:nvPr/>
        </p:nvSpPr>
        <p:spPr>
          <a:xfrm>
            <a:off x="2896270" y="4541353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الحركات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1" name="Hexagon 30"/>
          <p:cNvSpPr/>
          <p:nvPr/>
        </p:nvSpPr>
        <p:spPr>
          <a:xfrm>
            <a:off x="7354507" y="1949719"/>
            <a:ext cx="1880316" cy="160985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تقارير مستندات الاعتماد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الاصناف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637" y="1710597"/>
            <a:ext cx="534877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172" y="0"/>
            <a:ext cx="4554828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كارت الصنف كمية وقيمة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0" y="4069723"/>
            <a:ext cx="10058400" cy="252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39" y="1575955"/>
            <a:ext cx="10058401" cy="265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2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ارصدة المخازن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32" y="4752304"/>
            <a:ext cx="10639592" cy="18517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33" y="1706858"/>
            <a:ext cx="10639592" cy="30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538" y="0"/>
            <a:ext cx="4168462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جرد المخزن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69" y="1667418"/>
            <a:ext cx="10488053" cy="29486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68" y="4616552"/>
            <a:ext cx="10488053" cy="216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510" y="162097"/>
            <a:ext cx="4056848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مستندات الاعتماد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3" name="Hexagon 2"/>
          <p:cNvSpPr/>
          <p:nvPr/>
        </p:nvSpPr>
        <p:spPr>
          <a:xfrm>
            <a:off x="8229597" y="1868656"/>
            <a:ext cx="2163650" cy="1751526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مستندات استخدمت فى مستندات اخرى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6" name="Hexagon 15"/>
          <p:cNvSpPr/>
          <p:nvPr/>
        </p:nvSpPr>
        <p:spPr>
          <a:xfrm>
            <a:off x="1798753" y="4294403"/>
            <a:ext cx="2163650" cy="1751526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مستندات لم تستخدم فى مستندات اخرى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Hexagon 17"/>
          <p:cNvSpPr/>
          <p:nvPr/>
        </p:nvSpPr>
        <p:spPr>
          <a:xfrm>
            <a:off x="8229597" y="4363328"/>
            <a:ext cx="2163650" cy="1751526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مستندات لم تعتمد على شجرة الاعتماد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0" name="Hexagon 19"/>
          <p:cNvSpPr/>
          <p:nvPr/>
        </p:nvSpPr>
        <p:spPr>
          <a:xfrm>
            <a:off x="1798753" y="1841679"/>
            <a:ext cx="2163650" cy="1751526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مستندات تعتمد على مستندات اخرى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Hexagon 23"/>
          <p:cNvSpPr/>
          <p:nvPr/>
        </p:nvSpPr>
        <p:spPr>
          <a:xfrm>
            <a:off x="4984122" y="3125247"/>
            <a:ext cx="2163650" cy="1751526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شجرة الاعتماد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6220" y="442030"/>
            <a:ext cx="6387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هى اعتماد حركة مخزنية على حركة اخرى مثل (حركة صرف مخزنى تعتمد على حركة طلب صرف مخزنى ).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59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شجرة الاعتماد 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80" y="4450930"/>
            <a:ext cx="9410162" cy="23648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81" y="1759400"/>
            <a:ext cx="9410161" cy="269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9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الموافقات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92" y="1575955"/>
            <a:ext cx="10169154" cy="29058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91" y="4481848"/>
            <a:ext cx="10169155" cy="216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2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اخرى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108" y="1759233"/>
            <a:ext cx="4853584" cy="49149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10109" y="5225357"/>
            <a:ext cx="2215166" cy="1448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125274" y="1758742"/>
            <a:ext cx="2638417" cy="917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7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505" y="15992"/>
            <a:ext cx="5031346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البيانات الاساسية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5" y="4065621"/>
            <a:ext cx="10141545" cy="25167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07" y="1575955"/>
            <a:ext cx="10371235" cy="248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5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992" y="0"/>
            <a:ext cx="4323008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ارصدة المخازن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" name="Hexagon 1"/>
          <p:cNvSpPr/>
          <p:nvPr/>
        </p:nvSpPr>
        <p:spPr>
          <a:xfrm>
            <a:off x="9332888" y="2277595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ارصدة مخازن افتتاحى تفصيلى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Hexagon 9"/>
          <p:cNvSpPr/>
          <p:nvPr/>
        </p:nvSpPr>
        <p:spPr>
          <a:xfrm>
            <a:off x="7921242" y="4343314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ارصدة مخازن حالى تفصيلى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Hexagon 10"/>
          <p:cNvSpPr/>
          <p:nvPr/>
        </p:nvSpPr>
        <p:spPr>
          <a:xfrm>
            <a:off x="4662778" y="4307822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تقرير ارصدة الاصناف مختصر وحالى بالباركود والسيريال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Hexagon 11"/>
          <p:cNvSpPr/>
          <p:nvPr/>
        </p:nvSpPr>
        <p:spPr>
          <a:xfrm>
            <a:off x="1404314" y="4326256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تقرير ارصدة الاصناف بالباتس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Hexagon 13"/>
          <p:cNvSpPr/>
          <p:nvPr/>
        </p:nvSpPr>
        <p:spPr>
          <a:xfrm>
            <a:off x="-2" y="2316835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تقرير ارصدة المخازن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Hexagon 15"/>
          <p:cNvSpPr/>
          <p:nvPr/>
        </p:nvSpPr>
        <p:spPr>
          <a:xfrm>
            <a:off x="3012575" y="2277594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ارصدة الاصناف مختصر اقتتاحى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Hexagon 17"/>
          <p:cNvSpPr/>
          <p:nvPr/>
        </p:nvSpPr>
        <p:spPr>
          <a:xfrm>
            <a:off x="6428296" y="2277595"/>
            <a:ext cx="2266682" cy="19575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ارصدة الاصناف مختصر حالى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34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تقرير السيريال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" name="Hexagon 1"/>
          <p:cNvSpPr/>
          <p:nvPr/>
        </p:nvSpPr>
        <p:spPr>
          <a:xfrm>
            <a:off x="9511045" y="2811174"/>
            <a:ext cx="1970468" cy="172576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انشاء السيريال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Hexagon 22"/>
          <p:cNvSpPr/>
          <p:nvPr/>
        </p:nvSpPr>
        <p:spPr>
          <a:xfrm>
            <a:off x="3132785" y="4536943"/>
            <a:ext cx="1970468" cy="172576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ارصدة الاصناف بالسيريال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Hexagon 23"/>
          <p:cNvSpPr/>
          <p:nvPr/>
        </p:nvSpPr>
        <p:spPr>
          <a:xfrm>
            <a:off x="7421450" y="4312780"/>
            <a:ext cx="1970468" cy="172576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كارت الصنف بالسيريال معدل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Hexagon 24"/>
          <p:cNvSpPr/>
          <p:nvPr/>
        </p:nvSpPr>
        <p:spPr>
          <a:xfrm>
            <a:off x="1091485" y="2811174"/>
            <a:ext cx="1970468" cy="172576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كارت الصنف بالسيريال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6" name="Hexagon 25"/>
          <p:cNvSpPr/>
          <p:nvPr/>
        </p:nvSpPr>
        <p:spPr>
          <a:xfrm>
            <a:off x="5235261" y="2811175"/>
            <a:ext cx="1970468" cy="172576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انشاء السيريال معدل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80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تقارير الحركات 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Hexagon 2"/>
          <p:cNvSpPr/>
          <p:nvPr/>
        </p:nvSpPr>
        <p:spPr>
          <a:xfrm>
            <a:off x="9050629" y="2505170"/>
            <a:ext cx="2343955" cy="217652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حافظة الحركات المخزنية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Hexagon 22"/>
          <p:cNvSpPr/>
          <p:nvPr/>
        </p:nvSpPr>
        <p:spPr>
          <a:xfrm>
            <a:off x="3594815" y="2279560"/>
            <a:ext cx="2343955" cy="217652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عن المحجوز والمسلم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Hexagon 23"/>
          <p:cNvSpPr/>
          <p:nvPr/>
        </p:nvSpPr>
        <p:spPr>
          <a:xfrm>
            <a:off x="947401" y="3825024"/>
            <a:ext cx="2343955" cy="217652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المقبول والمرفوض من محضر الفحص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Hexagon 24"/>
          <p:cNvSpPr/>
          <p:nvPr/>
        </p:nvSpPr>
        <p:spPr>
          <a:xfrm>
            <a:off x="6322722" y="3825023"/>
            <a:ext cx="2343955" cy="217652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الحركة المخزنية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03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4401580"/>
            <a:ext cx="1134586" cy="79458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7" y="5260556"/>
            <a:ext cx="1019206" cy="1019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2986772"/>
            <a:ext cx="1019207" cy="10192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876322"/>
            <a:ext cx="1134588" cy="9803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6" y="1776012"/>
            <a:ext cx="1134586" cy="113458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52" y="5564580"/>
            <a:ext cx="1566074" cy="119836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3" y="1835375"/>
            <a:ext cx="1892855" cy="12107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4136090"/>
            <a:ext cx="983440" cy="9834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347" y="5258575"/>
            <a:ext cx="1087794" cy="108570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932" y="2924875"/>
            <a:ext cx="1143000" cy="11430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0854" y="3986969"/>
            <a:ext cx="1837385" cy="105075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7975" y="2993936"/>
            <a:ext cx="1807553" cy="88260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136169" y="1587375"/>
            <a:ext cx="2796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Real State &amp; Constriction</a:t>
            </a:r>
            <a:endParaRPr lang="en-US" sz="2000" b="1" dirty="0"/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45999" y="1585227"/>
            <a:ext cx="1186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Industrial</a:t>
            </a:r>
            <a:endParaRPr lang="en-US" sz="14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242" y="2181590"/>
            <a:ext cx="1275088" cy="110447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24" y="3681931"/>
            <a:ext cx="1272689" cy="13400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153" y="5144862"/>
            <a:ext cx="1274476" cy="127447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22" y="2240101"/>
            <a:ext cx="1244290" cy="10811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9862" y="3841175"/>
            <a:ext cx="1273265" cy="9330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61" y="5217928"/>
            <a:ext cx="1309298" cy="13034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3946" y="5206026"/>
            <a:ext cx="1264746" cy="126474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8210" y="3664429"/>
            <a:ext cx="1698749" cy="10252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685" y="2138301"/>
            <a:ext cx="1284701" cy="12847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2076" y="2011509"/>
            <a:ext cx="1556648" cy="15566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27" y="4932926"/>
            <a:ext cx="1555575" cy="1555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275" y="3666581"/>
            <a:ext cx="1474781" cy="9808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24386" y="2006738"/>
            <a:ext cx="6833149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5677" y="2016677"/>
            <a:ext cx="4791470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ue and white logo&#10;&#10;Description automatically generated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73" y="5950142"/>
            <a:ext cx="947826" cy="90785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1050" y="5040504"/>
            <a:ext cx="1309298" cy="13034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735" y="4987658"/>
            <a:ext cx="1264746" cy="126474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6" y="4960222"/>
            <a:ext cx="1555575" cy="155557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64" y="3666581"/>
            <a:ext cx="1474781" cy="9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6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59" y="4332239"/>
            <a:ext cx="1519978" cy="1073188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68" y="5120233"/>
            <a:ext cx="1780242" cy="90055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64" y="1886153"/>
            <a:ext cx="1520534" cy="149202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920" y="2375401"/>
            <a:ext cx="1757212" cy="1431024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87851" y="1666849"/>
            <a:ext cx="1652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Food </a:t>
            </a:r>
            <a:r>
              <a:rPr lang="en-US" sz="2000" b="1" dirty="0"/>
              <a:t>industry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9" y="3427677"/>
            <a:ext cx="1453083" cy="89540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64" y="3453751"/>
            <a:ext cx="1520534" cy="148756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550308" y="1651822"/>
            <a:ext cx="123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  <a:endParaRPr lang="en-US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025" y="6015715"/>
            <a:ext cx="1329043" cy="6676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984642" y="1662553"/>
            <a:ext cx="1839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Service projects</a:t>
            </a:r>
            <a:endParaRPr lang="en-US" sz="20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8" y="2031885"/>
            <a:ext cx="1576982" cy="118273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89" y="3377921"/>
            <a:ext cx="1652159" cy="165215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28" y="4903379"/>
            <a:ext cx="1143963" cy="1179712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609" y="6376378"/>
            <a:ext cx="1591791" cy="380663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490111" y="1660405"/>
            <a:ext cx="2185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Government sector</a:t>
            </a:r>
          </a:p>
        </p:txBody>
      </p:sp>
      <p:pic>
        <p:nvPicPr>
          <p:cNvPr id="75" name="Picture 74" descr="C:\Documents and Settings\mohamed\Desktop\New Folder\download (3)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160" y="3935802"/>
            <a:ext cx="1757121" cy="1274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49" descr="C:\Users\Mr.Rami\Downloads\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85386" y="2172674"/>
            <a:ext cx="772258" cy="1133353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5183679"/>
            <a:ext cx="1091821" cy="553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78" y="5374751"/>
            <a:ext cx="885413" cy="1105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2" y="5915702"/>
            <a:ext cx="1172190" cy="818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0555" y="2060515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216961" y="2060514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616323" y="2051931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874280" y="2051932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7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9738</TotalTime>
  <Words>638</Words>
  <Application>Microsoft Office PowerPoint</Application>
  <PresentationFormat>Widescreen</PresentationFormat>
  <Paragraphs>124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Corbel</vt:lpstr>
      <vt:lpstr>Montserrat Black</vt:lpstr>
      <vt:lpstr>Times New Roman</vt:lpstr>
      <vt:lpstr>Office Theme</vt:lpstr>
      <vt:lpstr> Warehouse System Walkthrough </vt:lpstr>
      <vt:lpstr>   خصائص برنامج المخازن</vt:lpstr>
      <vt:lpstr> خصائص برنامج المخازن</vt:lpstr>
      <vt:lpstr>   البيانات الاساسية :</vt:lpstr>
      <vt:lpstr>    : تعريف المخزن </vt:lpstr>
      <vt:lpstr>   تعريف المورد</vt:lpstr>
      <vt:lpstr>        تعريف الصنف  </vt:lpstr>
      <vt:lpstr>            الحركات المخزنية</vt:lpstr>
      <vt:lpstr>      اختيار حركة مخزنية   </vt:lpstr>
      <vt:lpstr>        طلب شراء</vt:lpstr>
      <vt:lpstr>      طلب اضافة مخزنى       </vt:lpstr>
      <vt:lpstr>       اذن صرف خامات للتشغيل  </vt:lpstr>
      <vt:lpstr>التقارير </vt:lpstr>
      <vt:lpstr>تقارير الاصناف</vt:lpstr>
      <vt:lpstr>كارت الصنف كمية وقيمة </vt:lpstr>
      <vt:lpstr>تقرير ارصدة المخازن</vt:lpstr>
      <vt:lpstr>تقرير جرد المخزن</vt:lpstr>
      <vt:lpstr>تقارير مستندات الاعتماد      </vt:lpstr>
      <vt:lpstr>شجرة الاعتماد  </vt:lpstr>
      <vt:lpstr>تقارير الموافقات</vt:lpstr>
      <vt:lpstr>تقارير اخرى </vt:lpstr>
      <vt:lpstr>تقارير البيانات الاساسية</vt:lpstr>
      <vt:lpstr>تقارير ارصدة المخازن</vt:lpstr>
      <vt:lpstr>تقرير السيريال</vt:lpstr>
      <vt:lpstr>تقارير الحركات </vt:lpstr>
      <vt:lpstr>عملائنا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221</cp:revision>
  <dcterms:created xsi:type="dcterms:W3CDTF">2023-07-10T11:59:00Z</dcterms:created>
  <dcterms:modified xsi:type="dcterms:W3CDTF">2026-04-14T10:43:05Z</dcterms:modified>
</cp:coreProperties>
</file>